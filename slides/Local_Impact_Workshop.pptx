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7.xml" ContentType="application/vnd.openxmlformats-officedocument.presentationml.notesSlide+xml"/>
  <Override PartName="/ppt/notesSlides/notesSlide29.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0.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8.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4"/>
  </p:sldMasterIdLst>
  <p:notesMasterIdLst>
    <p:notesMasterId r:id="rId5"/>
  </p:notesMasterIdLst>
  <p:sldIdLst>
    <p:sldId id="265" r:id="rId15"/>
    <p:sldId id="295" r:id="rId45"/>
    <p:sldId id="298" r:id="rId48"/>
    <p:sldId id="282" r:id="rId32"/>
    <p:sldId id="299" r:id="rId49"/>
    <p:sldId id="310" r:id="rId60"/>
    <p:sldId id="284" r:id="rId34"/>
    <p:sldId id="308" r:id="rId58"/>
    <p:sldId id="313" r:id="rId63"/>
    <p:sldId id="309" r:id="rId59"/>
    <p:sldId id="303" r:id="rId53"/>
    <p:sldId id="286" r:id="rId36"/>
    <p:sldId id="300" r:id="rId50"/>
    <p:sldId id="287" r:id="rId37"/>
    <p:sldId id="319" r:id="rId85"/>
    <p:sldId id="320" r:id="rId86"/>
    <p:sldId id="301" r:id="rId51"/>
    <p:sldId id="279" r:id="rId29"/>
    <p:sldId id="278" r:id="rId28"/>
  </p:sldIdLst>
  <p:sldSz cy="5143500" cx="9144000"/>
  <p:notesSz cx="6858000" cy="9144000"/>
  <p:embeddedFontLst>
    <p:embeddedFont>
      <p:font typeface="Google Sans SemiBold"/>
      <p:regular r:id="rId69"/>
      <p:bold r:id="rId70"/>
      <p:italic r:id="rId71"/>
      <p:boldItalic r:id="rId72"/>
    </p:embeddedFont>
    <p:embeddedFont>
      <p:font typeface="Roboto"/>
      <p:regular r:id="rId73"/>
      <p:bold r:id="rId74"/>
      <p:italic r:id="rId75"/>
      <p:boldItalic r:id="rId76"/>
    </p:embeddedFont>
    <p:embeddedFont>
      <p:font typeface="Google Sans"/>
      <p:regular r:id="rId77"/>
      <p:bold r:id="rId78"/>
      <p:italic r:id="rId79"/>
      <p:boldItalic r:id="rId80"/>
    </p:embeddedFont>
    <p:embeddedFont>
      <p:font typeface="Google Sans Medium"/>
      <p:regular r:id="rId81"/>
      <p:bold r:id="rId82"/>
      <p:italic r:id="rId83"/>
      <p:boldItalic r:id="rId8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A485A1E-F273-48A9-B2FF-19F534683799}">
  <a:tblStyle styleId="{6A485A1E-F273-48A9-B2FF-19F53468379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15" Type="http://schemas.openxmlformats.org/officeDocument/2006/relationships/slide" Target="slides/slide1.xml"/><Relationship Id="rId28" Type="http://schemas.openxmlformats.org/officeDocument/2006/relationships/slide" Target="slides/slide19.xml"/><Relationship Id="rId29" Type="http://schemas.openxmlformats.org/officeDocument/2006/relationships/slide" Target="slides/slide18.xml"/><Relationship Id="rId32" Type="http://schemas.openxmlformats.org/officeDocument/2006/relationships/slide" Target="slides/slide4.xml"/><Relationship Id="rId34" Type="http://schemas.openxmlformats.org/officeDocument/2006/relationships/slide" Target="slides/slide7.xml"/><Relationship Id="rId36" Type="http://schemas.openxmlformats.org/officeDocument/2006/relationships/slide" Target="slides/slide12.xml"/><Relationship Id="rId37" Type="http://schemas.openxmlformats.org/officeDocument/2006/relationships/slide" Target="slides/slide14.xml"/><Relationship Id="rId45" Type="http://schemas.openxmlformats.org/officeDocument/2006/relationships/slide" Target="slides/slide2.xml"/><Relationship Id="rId48" Type="http://schemas.openxmlformats.org/officeDocument/2006/relationships/slide" Target="slides/slide3.xml"/><Relationship Id="rId49" Type="http://schemas.openxmlformats.org/officeDocument/2006/relationships/slide" Target="slides/slide5.xml"/><Relationship Id="rId50" Type="http://schemas.openxmlformats.org/officeDocument/2006/relationships/slide" Target="slides/slide13.xml"/><Relationship Id="rId51" Type="http://schemas.openxmlformats.org/officeDocument/2006/relationships/slide" Target="slides/slide17.xml"/><Relationship Id="rId53" Type="http://schemas.openxmlformats.org/officeDocument/2006/relationships/slide" Target="slides/slide11.xml"/><Relationship Id="rId58" Type="http://schemas.openxmlformats.org/officeDocument/2006/relationships/slide" Target="slides/slide8.xml"/><Relationship Id="rId59" Type="http://schemas.openxmlformats.org/officeDocument/2006/relationships/slide" Target="slides/slide10.xml"/><Relationship Id="rId60" Type="http://schemas.openxmlformats.org/officeDocument/2006/relationships/slide" Target="slides/slide6.xml"/><Relationship Id="rId63" Type="http://schemas.openxmlformats.org/officeDocument/2006/relationships/slide" Target="slides/slide9.xml"/><Relationship Id="rId69" Type="http://schemas.openxmlformats.org/officeDocument/2006/relationships/font" Target="fonts/GoogleSansSemiBold-regular.fntdata"/><Relationship Id="rId70" Type="http://schemas.openxmlformats.org/officeDocument/2006/relationships/font" Target="fonts/GoogleSansSemiBold-bold.fntdata"/><Relationship Id="rId71" Type="http://schemas.openxmlformats.org/officeDocument/2006/relationships/font" Target="fonts/GoogleSansSemiBold-italic.fntdata"/><Relationship Id="rId72" Type="http://schemas.openxmlformats.org/officeDocument/2006/relationships/font" Target="fonts/GoogleSansSemiBold-boldItalic.fntdata"/><Relationship Id="rId73" Type="http://schemas.openxmlformats.org/officeDocument/2006/relationships/font" Target="fonts/Roboto-regular.fntdata"/><Relationship Id="rId74" Type="http://schemas.openxmlformats.org/officeDocument/2006/relationships/font" Target="fonts/Roboto-bold.fntdata"/><Relationship Id="rId75" Type="http://schemas.openxmlformats.org/officeDocument/2006/relationships/font" Target="fonts/Roboto-italic.fntdata"/><Relationship Id="rId76" Type="http://schemas.openxmlformats.org/officeDocument/2006/relationships/font" Target="fonts/Roboto-boldItalic.fntdata"/><Relationship Id="rId77" Type="http://schemas.openxmlformats.org/officeDocument/2006/relationships/font" Target="fonts/GoogleSans-regular.fntdata"/><Relationship Id="rId78" Type="http://schemas.openxmlformats.org/officeDocument/2006/relationships/font" Target="fonts/GoogleSans-bold.fntdata"/><Relationship Id="rId79" Type="http://schemas.openxmlformats.org/officeDocument/2006/relationships/font" Target="fonts/GoogleSans-italic.fntdata"/><Relationship Id="rId80" Type="http://schemas.openxmlformats.org/officeDocument/2006/relationships/font" Target="fonts/GoogleSans-boldItalic.fntdata"/><Relationship Id="rId81" Type="http://schemas.openxmlformats.org/officeDocument/2006/relationships/font" Target="fonts/GoogleSansMedium-regular.fntdata"/><Relationship Id="rId82" Type="http://schemas.openxmlformats.org/officeDocument/2006/relationships/font" Target="fonts/GoogleSansMedium-bold.fntdata"/><Relationship Id="rId83" Type="http://schemas.openxmlformats.org/officeDocument/2006/relationships/font" Target="fonts/GoogleSansMedium-italic.fntdata"/><Relationship Id="rId84" Type="http://schemas.openxmlformats.org/officeDocument/2006/relationships/font" Target="fonts/GoogleSansMedium-boldItalic.fntdata"/><Relationship Id="rId85" Type="http://schemas.openxmlformats.org/officeDocument/2006/relationships/slide" Target="slides/slide15.xml"/><Relationship Id="rId86"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2707bfd6bb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2707bfd6bb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LOCAL IMPACT SPONSOR WORKSHOP (Jenna), Saturday 3:00 PM</a:t>
            </a:r>
          </a:p>
          <a:p>
            <a:r>
              <a:t>Run time: about 35 to 45 minutes, including hands-on time.</a:t>
            </a:r>
          </a:p>
          <a:p/>
          <a:p>
            <a:r>
              <a:t>Welcome everyone. I'm Jenna Ritten: founding executive director of Compass Detroit, co-lead of GDG Detroit, and I lead developer advocacy for IBM's InnerSource ecosystem.</a:t>
            </a:r>
          </a:p>
          <a:p/>
          <a:p>
            <a:r>
              <a:t>Goal of this session: by the time you leave, every person in this room has</a:t>
            </a:r>
          </a:p>
          <a:p>
            <a:r>
              <a:t>1. A clear Local Impact problem and a person you're building for</a:t>
            </a:r>
          </a:p>
          <a:p>
            <a:r>
              <a:t>2. An IBM account, a team on the IBM platform, and a plan for which IBM tools to use</a:t>
            </a:r>
          </a:p>
          <a:p>
            <a:r>
              <a:t>3. Google Cloud credits claimed (they expire when the event ends)</a:t>
            </a:r>
          </a:p>
          <a:p>
            <a:r>
              <a:t>4. A team repo in the A2Tech360 GitHub org with Baz reviewing your pull requests</a:t>
            </a:r>
          </a:p>
          <a:p>
            <a:r>
              <a:t>5. A clear picture of how to submit and how you'll be judged</a:t>
            </a:r>
          </a:p>
          <a:p/>
          <a:p>
            <a:r>
              <a:t>Laptops open. We'll do the setup steps together.</a:t>
            </a:r>
          </a:p>
          <a:p/>
          <a:p>
            <a:r>
              <a:t>Everything in this deck lives in the starter kit: https://github.com/A2Tech360/a2tech360-hackathon</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GITHUB SETUP (hands-on, 3 minutes)</a:t>
            </a:r>
          </a:p>
          <a:p/>
          <a:p>
            <a:r>
              <a:t>Starter kit: https://github.com/A2Tech360/a2tech360-hackathon</a:t>
            </a:r>
          </a:p>
          <a:p>
            <a:r>
              <a:t>It has everything from this workshop: IBM, Google, and Baz guides, the Local Impact worksheet, the schedule, the submission checklist, the Official Rules and Hackathon Guide, and both slide decks.</a:t>
            </a:r>
          </a:p>
          <a:p/>
          <a:p>
            <a:r>
              <a:t>1. Open the starter kit and star it.</a:t>
            </a:r>
          </a:p>
          <a:p>
            <a:r>
              <a:t>2. Create your team's project repo in the A2Tech360 GitHub org (https://github.com/A2Tech360). Baz is already installed there, so it starts reviewing as soon as your repo exists.</a:t>
            </a:r>
          </a:p>
          <a:p>
            <a:r>
              <a:t>3. Create your team's project repo inside the A2Tech360 org. It must be public for Devpost. Add teammates as collaborators.</a:t>
            </a:r>
          </a:p>
          <a:p>
            <a:r>
              <a:t>4. Keep at least 40% of your code in Jac. Docs: https://jaclang.org</a:t>
            </a:r>
          </a:p>
          <a:p>
            <a:r>
              <a:t>5. Commit early and often. Judges check that code was written during hacking hours.</a:t>
            </a:r>
          </a:p>
          <a:p>
            <a:r>
              <a:t>6. Star https://github.com/jaseci-labs/jac (a Devpost requirement).</a:t>
            </a:r>
          </a:p>
          <a:p/>
          <a:p>
            <a:r>
              <a:t>Jac and Jaseci resources from the JacHacks team (docs, Jac-GPT, Jaseci Discord, JacHammer) are in the starter/ folder of the starter kit.</a:t>
            </a:r>
          </a:p>
          <a:p/>
          <a:p>
            <a:r>
              <a:t>Never commit API keys. Use a .env file and add it to .gitignore.</a:t>
            </a:r>
          </a:p>
          <a:p/>
          <a:p>
            <a:r>
              <a:t>Questions: Discord #ask-an-organizer, https://discord.gg/Av2JKhVyA</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BAZ AI CODE REVIEW (2 minutes)</a:t>
            </a:r>
          </a:p>
          <a:p/>
          <a:p>
            <a:r>
              <a:t>Baz is an AI code reviewer installed on the A2Tech360 GitHub org for this hackathon. Any pull request opened in an org repo gets an automatic review: likely bugs, risky changes, and suggestions, right in the PR.</a:t>
            </a:r>
          </a:p>
          <a:p/>
          <a:p>
            <a:r>
              <a:t>Workflow:</a:t>
            </a:r>
          </a:p>
          <a:p>
            <a:r>
              <a:t>1. Create a branch: git checkout -b feature/your-idea</a:t>
            </a:r>
          </a:p>
          <a:p>
            <a:r>
              <a:t>2. Commit and push your work: git push -u origin feature/your-idea</a:t>
            </a:r>
          </a:p>
          <a:p>
            <a:r>
              <a:t>3. Open a pull request into main</a:t>
            </a:r>
          </a:p>
          <a:p>
            <a:r>
              <a:t>4. Read Baz's comments, fix what matters, push again; Baz re-reviews</a:t>
            </a:r>
          </a:p>
          <a:p>
            <a:r>
              <a:t>5. Merge small PRs often so main is always demo-able</a:t>
            </a:r>
          </a:p>
          <a:p/>
          <a:p>
            <a:r>
              <a:t>Why it matters: fewer demo-breaking bugs at 11:59 AM Sunday, a clean commit and PR history (judges verify code was written during hacking hours), and better code quality counts toward technical execution.</a:t>
            </a:r>
          </a:p>
          <a:p/>
          <a:p>
            <a:r>
              <a:t>Baz is part of the Local Impact track's build requirements and available to every team.</a:t>
            </a:r>
          </a:p>
          <a:p/>
          <a:p>
            <a:r>
              <a:t>Guide: docs/baz-code-review.md. Baz docs: https://docs.baz.co</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1d9387049c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1d9387049c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Q&amp;A AND WRAP (remaining time)</a:t>
            </a:r>
          </a:p>
          <a:p/>
          <a:p>
            <a:r>
              <a:t>Recap of what everyone should have done:</a:t>
            </a:r>
          </a:p>
          <a:p>
            <a:r>
              <a:t>1. A Local Impact problem and a real person you're building for</a:t>
            </a:r>
          </a:p>
          <a:p>
            <a:r>
              <a:t>2. Registered at ibm.biz/a2tech360 and on a team</a:t>
            </a:r>
          </a:p>
          <a:p>
            <a:r>
              <a:t>3. Google Cloud credits claimed</a:t>
            </a:r>
          </a:p>
          <a:p>
            <a:r>
              <a:t>4. Team repo in the A2Tech360 org, with Baz reviewing PRs</a:t>
            </a:r>
          </a:p>
          <a:p/>
          <a:p>
            <a:r>
              <a:t>Help all weekend:</a:t>
            </a:r>
          </a:p>
          <a:p>
            <a:r>
              <a:t>- Discord #ask-an-organizer: https://discord.gg/Av2JKhVyA</a:t>
            </a:r>
          </a:p>
          <a:p>
            <a:r>
              <a:t>- Starter kit: https://github.com/A2Tech360/a2tech360-hackathon</a:t>
            </a:r>
          </a:p>
          <a:p>
            <a:r>
              <a:t>- Mentor check-in 5:00 PM today; final office hours 10:00 AM Sunday</a:t>
            </a:r>
          </a:p>
          <a:p/>
          <a:p>
            <a:r>
              <a:t>I'll walk the room now. Flag me down.</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1d9387049c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1d9387049c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MICHIGAN DEVFEST + AI HACKATHON 2026 (1 minute)</a:t>
            </a:r>
          </a:p>
          <a:p/>
          <a:p>
            <a:r>
              <a:t>If this weekend lights you up, keep going. Michigan DevFest + AI Hackathon 2026 is November 13 and 14 at Little Caesars HQ in Detroit: Michigan's largest independent developer conference, produced by Compass Detroit with GDG Detroit.</a:t>
            </a:r>
          </a:p>
          <a:p>
            <a:r>
              <a:t>- Friday: AI Hackathon</a:t>
            </a:r>
          </a:p>
          <a:p>
            <a:r>
              <a:t>- Saturday: DevFest sessions on AI/ML, cloud, web, mobile, design, security, career growth, and more</a:t>
            </a:r>
          </a:p>
          <a:p/>
          <a:p>
            <a:r>
              <a:t>Exclusive for this hackathon: super early bird pricing with code A2Tech360. It ends Sunday night, so grab it this weekend. Student tickets available.</a:t>
            </a:r>
          </a:p>
          <a:p>
            <a:r>
              <a:t>Discount link (code applied): https://gdg.community.dev/events/details/google-gdg-detroit-presents-michigan-devfest-ai-hackathon-2026/?code=A2Tech360</a:t>
            </a:r>
          </a:p>
          <a:p/>
          <a:p>
            <a:r>
              <a:t>Website: https://midevfest.com</a:t>
            </a:r>
          </a:p>
          <a:p>
            <a:r>
              <a:t>Tickets: https://bit.ly/midevfest26</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1d9387049c_0_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1d9387049c_0_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SECTION 01: THE LOCAL IMPACT TRACK</a:t>
            </a:r>
          </a:p>
          <a:p/>
          <a:p>
            <a:r>
              <a:t>The magnifying glass is the point of this section: before you write code, go find the real problem and the real person who has it.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1da0e6eabb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1da0e6eab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SECTION 02: IBM (10 minutes, hands-on)</a:t>
            </a:r>
          </a:p>
          <a:p/>
          <a:p>
            <a:r>
              <a:t>Four steps: register with IBMid, form your team on the IBM platform, pick your IBM tools, and use the Education tab to learn fast.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1da0e6eabb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1da0e6eabb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SECTION 03: GOOGLE CLOUD CREDITS (5 minutes, hands-on)</a:t>
            </a:r>
          </a:p>
          <a:p/>
          <a:p>
            <a:r>
              <a:t>Everyone does this right now. The vouchers expire when the event ends.</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1da0e6eabb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1da0e6eabb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SECTION 04: GITHUB + BAZ (5 minutes, hands-on)</a:t>
            </a:r>
          </a:p>
          <a:p/>
          <a:p>
            <a:r>
              <a:t>The starter kit, your team repo in the A2Tech360 org, and Baz reviewing every pull request.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1da0e6eabb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31da0e6eabb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AGENDA (30 seconds)</a:t>
            </a:r>
          </a:p>
          <a:p/>
          <a:p>
            <a:r>
              <a:t>1. Who Compass Detroit is (2 min)</a:t>
            </a:r>
          </a:p>
          <a:p>
            <a:r>
              <a:t>2. The Local Impact track and how judging works (8 min)</a:t>
            </a:r>
          </a:p>
          <a:p>
            <a:r>
              <a:t>3. IBM: register, form your team, pick your tools, and where to learn (10 min, hands-on)</a:t>
            </a:r>
          </a:p>
          <a:p>
            <a:r>
              <a:t>4. Google Cloud credits (5 min, hands-on; do this now, they expire after the event)</a:t>
            </a:r>
          </a:p>
          <a:p>
            <a:r>
              <a:t>5. GitHub setup and Baz AI code review (5 min, hands-on)</a:t>
            </a:r>
          </a:p>
          <a:p>
            <a:r>
              <a:t>6. How to submit and win (3 min)</a:t>
            </a:r>
          </a:p>
          <a:p>
            <a:r>
              <a:t>Then Q&amp;A and I'll walk the room.</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1da0e6eabb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31da0e6eabb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COMPASS DETROIT (2 minutes)</a:t>
            </a:r>
          </a:p>
          <a:p/>
          <a:p>
            <a:r>
              <a:t>Compass Detroit is a 501(c)(3) nonprofit I founded in 2018. We're a coalition that unites the professional and community organizations serving underrepresented communities in STEAM across Michigan.</a:t>
            </a:r>
          </a:p>
          <a:p/>
          <a:p>
            <a:r>
              <a:t>What we do:</a:t>
            </a:r>
          </a:p>
          <a:p>
            <a:r>
              <a:t>- Annual Innovation Summits for Black History Month, International Women's Day, Pride, and Latin Heritage Month</a:t>
            </a:r>
          </a:p>
          <a:p>
            <a:r>
              <a:t>- Michigan DevFest + AI Hackathon and Hack Michigan, produced with GDG Detroit</a:t>
            </a:r>
          </a:p>
          <a:p>
            <a:r>
              <a:t>- Scholarships that send community members to AfroTech, the NSBE Annual Convention, and STEM So(ul)cial</a:t>
            </a:r>
          </a:p>
          <a:p/>
          <a:p>
            <a:r>
              <a:t>Why we sponsor the Local Impact track: the best technology in this region gets built when the people who have the problem are in the room. That's the whole idea of this track.</a:t>
            </a:r>
          </a:p>
          <a:p/>
          <a:p>
            <a:r>
              <a:t>Get involved:</a:t>
            </a:r>
          </a:p>
          <a:p>
            <a:r>
              <a:t>- Membership: https://bit.ly/compass2026</a:t>
            </a:r>
          </a:p>
          <a:p>
            <a:r>
              <a:t>- Website: https://bit.ly/compass-detroit</a:t>
            </a:r>
          </a:p>
          <a:p>
            <a:r>
              <a:t>- Run a community org? whatupdoe@compass-detroit.com</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1da0e6eabb_1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31da0e6eabb_1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LOCAL IMPACT TRACK BRIEF (4 minutes)</a:t>
            </a:r>
          </a:p>
          <a:p/>
          <a:p>
            <a:r>
              <a:t>"Build something that makes life measurably better for people in Ann Arbor and Washtenaw County."</a:t>
            </a:r>
          </a:p>
          <a:p/>
          <a:p>
            <a:r>
              <a:t>a2Tech360 spends ten days celebrating what this region invents. This is the part where we invent something.</a:t>
            </a:r>
          </a:p>
          <a:p/>
          <a:p>
            <a:r>
              <a:t>Every problem worth solving here already belongs to somebody: riders waiting on a route that doesn't quite work, small businesses competing against everything online, nonprofits doing serious work on thin budgets, and students, newcomers, parents, makers, and longtime residents who could help each other if they knew how.</a:t>
            </a:r>
          </a:p>
          <a:p/>
          <a:p>
            <a:r>
              <a:t>The only requirement: a specific person in this county could use what you build on Monday morning.</a:t>
            </a:r>
          </a:p>
          <a:p/>
          <a:p>
            <a:r>
              <a:t>Directions, not a menu:</a:t>
            </a:r>
          </a:p>
          <a:p>
            <a:r>
              <a:t>- Getting around: transit, parking, biking, and the last mile</a:t>
            </a:r>
          </a:p>
          <a:p>
            <a:r>
              <a:t>- Main Street: helping local businesses reach the people already walking past them</a:t>
            </a:r>
          </a:p>
          <a:p>
            <a:r>
              <a:t>- Showing up: connecting volunteers, mentors, and donors to the organizations that need them</a:t>
            </a:r>
          </a:p>
          <a:p>
            <a:r>
              <a:t>- Access: food, housing, benefits, childcare, and the gap between a service existing and someone finding it</a:t>
            </a:r>
          </a:p>
          <a:p>
            <a:r>
              <a:t>- Civic clarity: making local data, meetings, permits, and decisions legible to normal humans</a:t>
            </a:r>
          </a:p>
          <a:p>
            <a:r>
              <a:t>- Belonging: helping people find each other and find what's happening</a:t>
            </a:r>
          </a:p>
          <a:p/>
          <a:p>
            <a:r>
              <a:t>The one rule: ground it in something real. Talk to someone who has the problem. Judges will ask who you built this for, and "everyone" is the wrong answer.</a:t>
            </a:r>
          </a:p>
          <a:p/>
          <a:p>
            <a:r>
              <a:t>Build requirements: Jaseci/Jac stack (at least 40% Jac), plus Google, IBM, or Baz tooling alongside it. Local Impact projects use Baz for code review.</a:t>
            </a:r>
          </a:p>
          <a:p/>
          <a:p>
            <a:r>
              <a:t>ACTIVITY (3 minutes): open tracks/local-impact.md in the starter kit and fill in the first three lines of the problem-discovery worksheet: Who, What we heard, The problem in their words. Mentors will come around.</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1da0e6eabb_1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31da0e6eabb_1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GOOGLE CLOUD CREDITS (hands-on, 5 minutes)</a:t>
            </a:r>
          </a:p>
          <a:p/>
          <a:p>
            <a:r>
              <a:t>Thanks to the Google Developer Groups North America team: $25 in Google Cloud credits per person, 250 vouchers. They must be claimed during the event and can't be saved for later. You need your phone for verification.</a:t>
            </a:r>
          </a:p>
          <a:p/>
          <a:p>
            <a:r>
              <a:t>Step 1: Join the Google Group (required before you can claim)</a:t>
            </a:r>
          </a:p>
          <a:p>
            <a:r>
              <a:t>- a2tech360-hackathon@googlegroups.com</a:t>
            </a:r>
          </a:p>
          <a:p>
            <a:r>
              <a:t>- https://groups.google.com/g/a2tech360-hackathon</a:t>
            </a:r>
          </a:p>
          <a:p>
            <a:r>
              <a:t>- Use a personal @gmail.com account, not school or work.</a:t>
            </a:r>
          </a:p>
          <a:p/>
          <a:p>
            <a:r>
              <a:t>Step 2: Claim at https://g.dev/credits/a2tech360-hackathon-2</a:t>
            </a:r>
          </a:p>
          <a:p>
            <a:r>
              <a:t>1. Scan the QR code or open the link.</a:t>
            </a:r>
          </a:p>
          <a:p>
            <a:r>
              <a:t>2. Sign in with your personal Gmail and join the Google Developer Program.</a:t>
            </a:r>
          </a:p>
          <a:p>
            <a:r>
              <a:t>3. Claim your badge and complete mobile verification.</a:t>
            </a:r>
          </a:p>
          <a:p>
            <a:r>
              <a:t>4. Wait 2 to 5 minutes for the billing account to be created.</a:t>
            </a:r>
          </a:p>
          <a:p>
            <a:r>
              <a:t>5. Open a new browser window signed in with the same Gmail.</a:t>
            </a:r>
          </a:p>
          <a:p>
            <a:r>
              <a:t>6. Create a new Google Cloud project.</a:t>
            </a:r>
          </a:p>
          <a:p>
            <a:r>
              <a:t>7. Confirm the project uses the credits billing account.</a:t>
            </a:r>
          </a:p>
          <a:p/>
          <a:p>
            <a:r>
              <a:t>Troubleshooting:</a:t>
            </a:r>
          </a:p>
          <a:p>
            <a:r>
              <a:t>- CRED-101 (Workspace account error): switch to a personal @gmail.com account.</a:t>
            </a:r>
          </a:p>
          <a:p>
            <a:r>
              <a:t>- CRED-103 (verification issues): refresh, retry the security challenge, or switch to mobile data.</a:t>
            </a:r>
          </a:p>
          <a:p/>
          <a:p>
            <a:r>
              <a:t>Video: https://www.youtube.com/watch?v=noshGMsPzEg</a:t>
            </a:r>
          </a:p>
          <a:p/>
          <a:p>
            <a:r>
              <a:t>Important: these credits are NOT compatible with Google AI Studio billing. Use Gemini through Vertex AI in your Cloud project. Competing for Best of Google? Name the Google services you used in your write-up.</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1da0e6eabb_1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31da0e6eabb_1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WHAT TO SUBMIT (3 minutes)</a:t>
            </a:r>
          </a:p>
          <a:p/>
          <a:p>
            <a:r>
              <a:t>Local Impact teams submit four things on the IBM hackathon platform:</a:t>
            </a:r>
          </a:p>
          <a:p>
            <a:r>
              <a:t>1. Written problem and solution statements. Who has the problem, what it is in their words, and what you built.</a:t>
            </a:r>
          </a:p>
          <a:p>
            <a:r>
              <a:t>2. A statement of how you used IBM and/or Google technologies. Be specific: which tool, and what it does in your app (for example, "Granite on watsonx.ai summarizes city council minutes" or "Gemini on Vertex AI classifies requests").</a:t>
            </a:r>
          </a:p>
          <a:p>
            <a:r>
              <a:t>3. The URL to your GitHub repo, preferably in the A2Tech360 GitHub org we provided (that's where Baz reviews your pull requests).</a:t>
            </a:r>
          </a:p>
          <a:p>
            <a:r>
              <a:t>4. The URL to a 1-minute video of your recorded demo. Record it before Sunday morning so a flaky demo can't sink you.</a:t>
            </a:r>
          </a:p>
          <a:p/>
          <a:p>
            <a:r>
              <a:t>The Team Lead submits these on the IBM platform: ibm.biz/a2tech360, "Complete the hackathon" page.</a:t>
            </a:r>
          </a:p>
          <a:p/>
          <a:p>
            <a:r>
              <a:t>Presentations are 5 minutes:</a:t>
            </a:r>
          </a:p>
          <a:p>
            <a:r>
              <a:t>- 3 to 4 minutes presenting: the person you built for, the problem, your solution, how IBM and/or Google power it, and why it matters for Michigan</a:t>
            </a:r>
          </a:p>
          <a:p>
            <a:r>
              <a:t>- 1 to 2 minutes of video demo</a:t>
            </a:r>
          </a:p>
          <a:p>
            <a:r>
              <a:t>At least one teammate must be present to present.</a:t>
            </a:r>
          </a:p>
          <a:p/>
          <a:p>
            <a:r>
              <a:t>ALL participants, whatever track, also submit on Devpost: https://jachacks-a2tech.devpost.com/</a:t>
            </a:r>
          </a:p>
          <a:p>
            <a:r>
              <a:t>- 9:00 AM Sunday: partial submission checkpoint (a draft is required to be judged)</a:t>
            </a:r>
          </a:p>
          <a:p>
            <a:r>
              <a:t>- 12:00 PM Sunday: final submissions, hard deadline</a:t>
            </a:r>
          </a:p>
          <a:p>
            <a:r>
              <a:t>- Devpost also asks for at least 40% Jac code, a JacHammer link, and a starred Jac repo (github.com/jaseci-labs/jac)</a:t>
            </a:r>
          </a:p>
          <a:p>
            <a:r>
              <a:t>Local Impact teams: the same written statements, repo URL, and video URL work for both. Submit both by Sunday noon.</a:t>
            </a:r>
          </a:p>
          <a:p/>
          <a:p>
            <a:r>
              <a:t>Presentation tips: lead with the person you built for, keep the video demo tight, say exactly which IBM and Google tools do what, and end with how it keeps value in Michigan.</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1da0e6eabb_1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31da0e6eabb_1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STEP 4: LEARN FAST (2 minutes)</a:t>
            </a:r>
          </a:p>
          <a:p/>
          <a:p>
            <a:r>
              <a:t>On ibm.biz/a2tech360, open the Education tab.</a:t>
            </a:r>
          </a:p>
          <a:p/>
          <a:p>
            <a:r>
              <a:t>Meet IBM Bob</a:t>
            </a:r>
          </a:p>
          <a:p>
            <a:r>
              <a:t>- "Meet Bob: An AI-Powered IDE for Modern Software Development" (video, about 9 minutes)</a:t>
            </a:r>
          </a:p>
          <a:p>
            <a:r>
              <a:t>- "Tech Talk and Demo: Build with Bob" (video, about 21 minutes)</a:t>
            </a:r>
          </a:p>
          <a:p>
            <a:r>
              <a:t>- IBM SkillsBuild: https://skillsbuild.org/adult-learners and Bob courses at https://skillsbuild.org/learning-catalog?q=Bob&amp;topic=ai</a:t>
            </a:r>
          </a:p>
          <a:p/>
          <a:p>
            <a:r>
              <a:t>Meet IBM watsonx.ai</a:t>
            </a:r>
          </a:p>
          <a:p>
            <a:r>
              <a:t>- Overview of watsonx.ai (about 6 minutes)</a:t>
            </a:r>
          </a:p>
          <a:p>
            <a:r>
              <a:t>- Overview of watsonx.ai Prompt Lab (about 3 minutes)</a:t>
            </a:r>
          </a:p>
          <a:p>
            <a:r>
              <a:t>- Lab: Implement a ReAct Design Pattern with IBM Granite (guided project, about 30 minutes). Great fit for the Agentic AI track too.</a:t>
            </a:r>
          </a:p>
          <a:p/>
          <a:p>
            <a:r>
              <a:t>Meet IBM watsonx Orchestrate</a:t>
            </a:r>
          </a:p>
          <a:p>
            <a:r>
              <a:t>- Get to know watsonx Orchestrate (article, about 6 minutes)</a:t>
            </a:r>
          </a:p>
          <a:p>
            <a:r>
              <a:t>- Beginner's guide to multi-agent orchestration (article, about 7 minutes)</a:t>
            </a:r>
          </a:p>
          <a:p>
            <a:r>
              <a:t>- Usher in the future of work with AI agents built for the enterprise (video, about 35 minutes)</a:t>
            </a:r>
          </a:p>
          <a:p>
            <a:r>
              <a:t>- Guide to building agents and tools in Python with the Orchestrate ADK (article, about 1 hour; optional)</a:t>
            </a:r>
          </a:p>
          <a:p/>
          <a:p>
            <a:r>
              <a:t>Suggestion: one teammate watches the Bob videos, one does the Prompt Lab overview, and you regroup in 20 minutes.</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31eafdcd185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5" name="Google Shape;715;g31eafdcd185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STEP 1: REGISTER WITH IBMid (hands-on, 3 minutes)</a:t>
            </a:r>
          </a:p>
          <a:p/>
          <a:p>
            <a:r>
              <a:t>Scan the QR code or go to https://ibm.biz/a2tech360</a:t>
            </a:r>
          </a:p>
          <a:p/>
          <a:p>
            <a:r>
              <a:t>1. Click "Register or sign in with IBMid." Use your existing IBMid tied to your university or company email, or create a new one.</a:t>
            </a:r>
          </a:p>
          <a:p>
            <a:r>
              <a:t>2. Once registered, you'll see the hackathon site with tabs: Details, My Team, Education, Team building instructions, Schedule, and Reports.</a:t>
            </a:r>
          </a:p>
          <a:p>
            <a:r>
              <a:t>3. When the hackathon is open, look for the "Complete the hackathon" page. It has step-by-step instructions for setting up the accounts you'll use, what to create, and how to submit on the IBM platform.</a:t>
            </a:r>
          </a:p>
          <a:p>
            <a:r>
              <a:t>4. Your team gets a pre-configured IBM Cloud account. Every teammate receives a "Join now" email from IBM Cloud: accept the account notice, click Join Account, then Continue.</a:t>
            </a:r>
          </a:p>
          <a:p/>
          <a:p>
            <a:r>
              <a:t>Tip: if you already have a personal IBM Cloud account on the same email, switch to the hackathon account (the "watsonx" account) from the account dropdown at the top right.</a:t>
            </a:r>
          </a:p>
          <a:p/>
          <a:p>
            <a:r>
              <a:t>Submissions are due Sunday, Sept 27 at 12:00 PM.</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31eafdcd185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8" name="Google Shape;728;g31eafdcd185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STEP 3: YOUR IBM TOOLKIT (3 minutes)</a:t>
            </a:r>
          </a:p>
          <a:p/>
          <a:p>
            <a:r>
              <a:t>None of these are required individually. Use what serves your project, and say how you used it in your submission; that's how you score on "clear application of IBM technology."</a:t>
            </a:r>
          </a:p>
          <a:p/>
          <a:p>
            <a:r>
              <a:t>- IBM Bob: IBM's AI productivity assistant and the featured tool. Free trial at https://bob.ibm.com/trial?utm_source=hack-michigan. 40 Bobcoins for 30 days. Coordinate who on your team is signed in so you don't double-spend. Track usage at https://bob.ibm.com/admin/</a:t>
            </a:r>
          </a:p>
          <a:p>
            <a:r>
              <a:t>- watsonx.ai + IBM Granite: Prompt Lab and API/SDK access. https://dataplatform.cloud.ibm.com/wx/home?context=wx, region Dallas. For code access: Developer access &gt; project "watsonx Challenge Sandbox" &gt; project ID, endpoint URL, and Create API key.</a:t>
            </a:r>
          </a:p>
          <a:p>
            <a:r>
              <a:t>- watsonx Orchestrate: build and deploy agents and agentic workflows, no-code or with the ADK. IBM Cloud &gt; Navigation menu &gt; Resource list &gt; AI / Machine Learning &gt; watsonx-Hackathon Orchestrate.</a:t>
            </a:r>
          </a:p>
          <a:p>
            <a:r>
              <a:t>- Cloudant: managed JSON document database (Lite plan). Resource list &gt; Databases.</a:t>
            </a:r>
          </a:p>
          <a:p>
            <a:r>
              <a:t>- Code Engine: serverless containers; builds from source. Resource list &gt; watsonx-Hackathon Code Engine.</a:t>
            </a:r>
          </a:p>
          <a:p>
            <a:r>
              <a:t>- Open source: Granite models on Hugging Face or Ollama, and the BeeAI agent framework, no cloud account needed.</a:t>
            </a:r>
          </a:p>
          <a:p/>
          <a:p>
            <a:r>
              <a:t>Credits: each provisioned account gets $100 for watsonx.ai and Code Engine. Email alerts at 25%, 50%, and 80%. At 100% the account is deactivated within an hour. Accounts are deactivated after the hackathon, so export your projects.</a:t>
            </a:r>
          </a:p>
          <a:p/>
          <a:p>
            <a:r>
              <a:t>Data rules: bring your own data. No personal information, client data, confidential data, or social media data. Keep a list of public sources.</a:t>
            </a:r>
          </a:p>
          <a:p/>
          <a:p>
            <a:r>
              <a:t>Full guide: docs/ibm-setup.md in the starter kit.</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31eafdcd185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9" name="Google Shape;739;g31eafdcd185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JUDGING (3 minutes)</a:t>
            </a:r>
          </a:p>
          <a:p/>
          <a:p>
            <a:r>
              <a:t>The IBM hackathon platform scores each submission on five criteria, 5 points each, 25 total. Final score is the average of the judges' scores.</a:t>
            </a:r>
          </a:p>
          <a:p/>
          <a:p>
            <a:r>
              <a:t>1. Completeness and feasibility: How feasible is the solution? How fully planned? How complete is the proof of concept? How clear is the application of IBM technology?</a:t>
            </a:r>
          </a:p>
          <a:p>
            <a:r>
              <a:t>2. Creativity and innovation: How unique and original is the approach to applying AI? Is it differentiated?</a:t>
            </a:r>
          </a:p>
          <a:p>
            <a:r>
              <a:t>3. Design and usability: How good is the UX? How quickly could real users adopt it?</a:t>
            </a:r>
          </a:p>
          <a:p>
            <a:r>
              <a:t>4. Effectiveness and efficiency: Does it address a high-priority issue within the theme? Measurable impact? Can it scale?</a:t>
            </a:r>
          </a:p>
          <a:p>
            <a:r>
              <a:t>5. Michigan impact: keeping value, jobs, and opportunity in Michigan. Show a practical application solving a real Michigan challenge, clear business value, a working proof of concept, and strong storytelling that positions Michigan as a technology innovator.</a:t>
            </a:r>
          </a:p>
          <a:p/>
          <a:p>
            <a:r>
              <a:t>Notice how well the Michigan impact criterion lines up with the Local Impact track. Build for a real person here and you score on both.</a:t>
            </a:r>
          </a:p>
          <a:p/>
          <a:p>
            <a:r>
              <a:t>JacHacks judges on Devpost also look at: technical execution, use of Jac and Jaseci (by llm(), walkers, graph modeling), creativity, the presentation and demo, impact, and depth of agentic behavior.</a:t>
            </a:r>
          </a:p>
          <a:p/>
          <a:p>
            <a:r>
              <a:t>Presentations are 5 minutes: 3 to 4 minutes presenting and 1 to 2 minutes of video demo.</a:t>
            </a:r>
          </a:p>
          <a:p/>
          <a:p>
            <a:r>
              <a:t>Local Impact Grand Prize: the team whose project best combines local relevance, technical execution, and a plausible path to existing after the weekend.</a:t>
            </a:r>
          </a:p>
          <a:p>
            <a:r>
              <a:t>Community Favorite: every participant votes.</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1eafdcd185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5" name="Google Shape;785;g31eafdcd185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STEP 2: FORM YOUR TEAM ON THE IBM PLATFORM (hands-on, 3 minutes)</a:t>
            </a:r>
          </a:p>
          <a:p/>
          <a:p>
            <a:r>
              <a:t>Everyone on your team must be registered at ibm.biz/a2tech360. Each person can be on only one team and submit one project.</a:t>
            </a:r>
          </a:p>
          <a:p/>
          <a:p>
            <a:r>
              <a:t>Team Lead (whoever creates the team is automatically the Lead, and manages the submission):</a:t>
            </a:r>
          </a:p>
          <a:p>
            <a:r>
              <a:t>1. Go to My Team &gt; Create a Team.</a:t>
            </a:r>
          </a:p>
          <a:p>
            <a:r>
              <a:t>2. Enter a team name (4 to 64 characters). Optional: upload a team image you have permission to use, and add an "About your team" description.</a:t>
            </a:r>
          </a:p>
          <a:p>
            <a:r>
              <a:t>3. Click Create Team.</a:t>
            </a:r>
          </a:p>
          <a:p/>
          <a:p>
            <a:r>
              <a:t>Invite teammates, two ways:</a:t>
            </a:r>
          </a:p>
          <a:p>
            <a:r>
              <a:t>- Know their email? My Team &gt; Team Members &gt; enter it in "Specify email" &gt; Invite.</a:t>
            </a:r>
          </a:p>
          <a:p>
            <a:r>
              <a:t>- Browse: My Team &gt; Invite Members &gt; search or filter &gt; Invite.</a:t>
            </a:r>
          </a:p>
          <a:p>
            <a:r>
              <a:t>Invitees get an email and an on-site notification. Once they accept, they're on the team.</a:t>
            </a:r>
          </a:p>
          <a:p/>
          <a:p>
            <a:r>
              <a:t>Need teammates or a team?</a:t>
            </a:r>
          </a:p>
          <a:p>
            <a:r>
              <a:t>- Find Members (AI Assisted): describe your team and needs; the AI suggests matches you can invite.</a:t>
            </a:r>
          </a:p>
          <a:p>
            <a:r>
              <a:t>- Find a Team (AI Assisted): describe yourself and your interests; request to join.</a:t>
            </a:r>
          </a:p>
          <a:p>
            <a:r>
              <a:t>- Join a Team: pick a team, click the plus icon on an open spot, send a short message to the Team Lead.</a:t>
            </a:r>
          </a:p>
          <a:p/>
          <a:p>
            <a:r>
              <a:t>Leave a team any time with the red "Leave team" link.</a:t>
            </a:r>
          </a:p>
          <a:p/>
          <a:p>
            <a:r>
              <a:t>Team size: 1 to 5 people. Solo is fine.</a:t>
            </a:r>
          </a:p>
          <a:p/>
          <a:p>
            <a:r>
              <a:t>Plan to communicate with your team outside the IBM site (Discord works).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MPLATE Title">
  <p:cSld name="CUSTOM_1">
    <p:bg>
      <p:bgPr>
        <a:solidFill>
          <a:schemeClr val="dk2"/>
        </a:solidFill>
      </p:bgPr>
    </p:bg>
    <p:spTree>
      <p:nvGrpSpPr>
        <p:cNvPr id="7" name="Shape 7"/>
        <p:cNvGrpSpPr/>
        <p:nvPr/>
      </p:nvGrpSpPr>
      <p:grpSpPr>
        <a:xfrm>
          <a:off x="0" y="0"/>
          <a:ext cx="0" cy="0"/>
          <a:chOff x="0" y="0"/>
          <a:chExt cx="0" cy="0"/>
        </a:xfrm>
      </p:grpSpPr>
      <p:sp>
        <p:nvSpPr>
          <p:cNvPr id="8" name="Google Shape;8;p2"/>
          <p:cNvSpPr txBox="1"/>
          <p:nvPr/>
        </p:nvSpPr>
        <p:spPr>
          <a:xfrm>
            <a:off x="370900" y="180000"/>
            <a:ext cx="2045100" cy="108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700">
                <a:solidFill>
                  <a:schemeClr val="lt1"/>
                </a:solidFill>
                <a:latin typeface="Google Sans"/>
                <a:ea typeface="Google Sans"/>
                <a:cs typeface="Google Sans"/>
                <a:sym typeface="Google Sans"/>
              </a:rPr>
              <a:t>International Women’s Day</a:t>
            </a:r>
            <a:endParaRPr sz="700">
              <a:solidFill>
                <a:schemeClr val="lt1"/>
              </a:solidFill>
              <a:latin typeface="Google Sans"/>
              <a:ea typeface="Google Sans"/>
              <a:cs typeface="Google Sans"/>
              <a:sym typeface="Google Sans"/>
            </a:endParaRPr>
          </a:p>
        </p:txBody>
      </p:sp>
      <p:sp>
        <p:nvSpPr>
          <p:cNvPr id="9" name="Google Shape;9;p2"/>
          <p:cNvSpPr txBox="1"/>
          <p:nvPr/>
        </p:nvSpPr>
        <p:spPr>
          <a:xfrm>
            <a:off x="3873150" y="180001"/>
            <a:ext cx="1397700" cy="1086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None/>
            </a:pPr>
            <a:r>
              <a:rPr lang="en" sz="700">
                <a:solidFill>
                  <a:schemeClr val="lt1"/>
                </a:solidFill>
                <a:latin typeface="Google Sans"/>
                <a:ea typeface="Google Sans"/>
                <a:cs typeface="Google Sans"/>
                <a:sym typeface="Google Sans"/>
              </a:rPr>
              <a:t>Women Techmakers</a:t>
            </a:r>
            <a:endParaRPr sz="700">
              <a:solidFill>
                <a:schemeClr val="lt1"/>
              </a:solidFill>
              <a:latin typeface="Google Sans"/>
              <a:ea typeface="Google Sans"/>
              <a:cs typeface="Google Sans"/>
              <a:sym typeface="Google Sans"/>
            </a:endParaRPr>
          </a:p>
        </p:txBody>
      </p:sp>
      <p:sp>
        <p:nvSpPr>
          <p:cNvPr id="10" name="Google Shape;10;p2"/>
          <p:cNvSpPr txBox="1"/>
          <p:nvPr/>
        </p:nvSpPr>
        <p:spPr>
          <a:xfrm>
            <a:off x="8241000" y="180000"/>
            <a:ext cx="533700" cy="10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700">
                <a:solidFill>
                  <a:schemeClr val="lt1"/>
                </a:solidFill>
                <a:latin typeface="Google Sans"/>
                <a:ea typeface="Google Sans"/>
                <a:cs typeface="Google Sans"/>
                <a:sym typeface="Google Sans"/>
              </a:rPr>
              <a:t>2025</a:t>
            </a:r>
            <a:endParaRPr sz="700">
              <a:solidFill>
                <a:schemeClr val="lt1"/>
              </a:solidFill>
              <a:latin typeface="Google Sans"/>
              <a:ea typeface="Google Sans"/>
              <a:cs typeface="Google Sans"/>
              <a:sym typeface="Google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MPLATE Subtitle">
  <p:cSld name="CUSTOM_1_2">
    <p:bg>
      <p:bgPr>
        <a:solidFill>
          <a:schemeClr val="dk2"/>
        </a:solidFill>
      </p:bgPr>
    </p:bg>
    <p:spTree>
      <p:nvGrpSpPr>
        <p:cNvPr id="11" name="Shape 11"/>
        <p:cNvGrpSpPr/>
        <p:nvPr/>
      </p:nvGrpSpPr>
      <p:grpSpPr>
        <a:xfrm>
          <a:off x="0" y="0"/>
          <a:ext cx="0" cy="0"/>
          <a:chOff x="0" y="0"/>
          <a:chExt cx="0" cy="0"/>
        </a:xfrm>
      </p:grpSpPr>
      <p:sp>
        <p:nvSpPr>
          <p:cNvPr id="12" name="Google Shape;12;p3"/>
          <p:cNvSpPr txBox="1"/>
          <p:nvPr/>
        </p:nvSpPr>
        <p:spPr>
          <a:xfrm>
            <a:off x="370900" y="180000"/>
            <a:ext cx="2045100" cy="108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700">
                <a:solidFill>
                  <a:schemeClr val="lt1"/>
                </a:solidFill>
                <a:latin typeface="Google Sans"/>
                <a:ea typeface="Google Sans"/>
                <a:cs typeface="Google Sans"/>
                <a:sym typeface="Google Sans"/>
              </a:rPr>
              <a:t>International Women’s Day</a:t>
            </a:r>
            <a:endParaRPr sz="700">
              <a:solidFill>
                <a:schemeClr val="lt1"/>
              </a:solidFill>
              <a:latin typeface="Google Sans"/>
              <a:ea typeface="Google Sans"/>
              <a:cs typeface="Google Sans"/>
              <a:sym typeface="Google Sans"/>
            </a:endParaRPr>
          </a:p>
        </p:txBody>
      </p:sp>
      <p:sp>
        <p:nvSpPr>
          <p:cNvPr id="13" name="Google Shape;13;p3"/>
          <p:cNvSpPr txBox="1"/>
          <p:nvPr/>
        </p:nvSpPr>
        <p:spPr>
          <a:xfrm>
            <a:off x="3873150" y="180001"/>
            <a:ext cx="1397700" cy="1086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None/>
            </a:pPr>
            <a:r>
              <a:rPr lang="en" sz="700">
                <a:solidFill>
                  <a:schemeClr val="lt1"/>
                </a:solidFill>
                <a:latin typeface="Google Sans"/>
                <a:ea typeface="Google Sans"/>
                <a:cs typeface="Google Sans"/>
                <a:sym typeface="Google Sans"/>
              </a:rPr>
              <a:t>Women Techmakers</a:t>
            </a:r>
            <a:endParaRPr sz="700">
              <a:solidFill>
                <a:schemeClr val="lt1"/>
              </a:solidFill>
              <a:latin typeface="Google Sans"/>
              <a:ea typeface="Google Sans"/>
              <a:cs typeface="Google Sans"/>
              <a:sym typeface="Google Sans"/>
            </a:endParaRPr>
          </a:p>
        </p:txBody>
      </p:sp>
      <p:sp>
        <p:nvSpPr>
          <p:cNvPr id="14" name="Google Shape;14;p3"/>
          <p:cNvSpPr txBox="1"/>
          <p:nvPr/>
        </p:nvSpPr>
        <p:spPr>
          <a:xfrm>
            <a:off x="8241000" y="180000"/>
            <a:ext cx="533700" cy="10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700">
                <a:solidFill>
                  <a:schemeClr val="lt1"/>
                </a:solidFill>
                <a:latin typeface="Google Sans"/>
                <a:ea typeface="Google Sans"/>
                <a:cs typeface="Google Sans"/>
                <a:sym typeface="Google Sans"/>
              </a:rPr>
              <a:t>2025</a:t>
            </a:r>
            <a:endParaRPr sz="700">
              <a:solidFill>
                <a:schemeClr val="lt1"/>
              </a:solidFill>
              <a:latin typeface="Google Sans"/>
              <a:ea typeface="Google Sans"/>
              <a:cs typeface="Google Sans"/>
              <a:sym typeface="Google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Blue">
  <p:cSld name="CUSTOM_1_1">
    <p:bg>
      <p:bgPr>
        <a:solidFill>
          <a:srgbClr val="CAE6FF"/>
        </a:solidFill>
      </p:bgPr>
    </p:bg>
    <p:spTree>
      <p:nvGrpSpPr>
        <p:cNvPr id="15" name="Shape 15"/>
        <p:cNvGrpSpPr/>
        <p:nvPr/>
      </p:nvGrpSpPr>
      <p:grpSpPr>
        <a:xfrm>
          <a:off x="0" y="0"/>
          <a:ext cx="0" cy="0"/>
          <a:chOff x="0" y="0"/>
          <a:chExt cx="0" cy="0"/>
        </a:xfrm>
      </p:grpSpPr>
      <p:pic>
        <p:nvPicPr>
          <p:cNvPr id="16" name="Google Shape;16;p4"/>
          <p:cNvPicPr preferRelativeResize="0"/>
          <p:nvPr/>
        </p:nvPicPr>
        <p:blipFill rotWithShape="1">
          <a:blip r:embed="rId2">
            <a:alphaModFix/>
          </a:blip>
          <a:srcRect b="32898" l="11839" r="11831" t="32898"/>
          <a:stretch/>
        </p:blipFill>
        <p:spPr>
          <a:xfrm>
            <a:off x="369450" y="4845850"/>
            <a:ext cx="1033175" cy="138126"/>
          </a:xfrm>
          <a:prstGeom prst="rect">
            <a:avLst/>
          </a:prstGeom>
          <a:noFill/>
          <a:ln>
            <a:noFill/>
          </a:ln>
        </p:spPr>
      </p:pic>
      <p:sp>
        <p:nvSpPr>
          <p:cNvPr id="17" name="Google Shape;17;p4"/>
          <p:cNvSpPr txBox="1"/>
          <p:nvPr/>
        </p:nvSpPr>
        <p:spPr>
          <a:xfrm>
            <a:off x="7189550" y="180000"/>
            <a:ext cx="1585200" cy="10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700">
                <a:solidFill>
                  <a:srgbClr val="929292"/>
                </a:solidFill>
                <a:latin typeface="Google Sans"/>
                <a:ea typeface="Google Sans"/>
                <a:cs typeface="Google Sans"/>
                <a:sym typeface="Google Sans"/>
              </a:rPr>
              <a:t>Proprietary and Confidential</a:t>
            </a:r>
            <a:endParaRPr sz="700">
              <a:solidFill>
                <a:srgbClr val="929292"/>
              </a:solidFill>
              <a:latin typeface="Google Sans"/>
              <a:ea typeface="Google Sans"/>
              <a:cs typeface="Google Sans"/>
              <a:sym typeface="Google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Blue - Blank">
  <p:cSld name="CUSTOM_1_1_4">
    <p:bg>
      <p:bgPr>
        <a:solidFill>
          <a:srgbClr val="CAE6FF"/>
        </a:solidFill>
      </p:bgPr>
    </p:bg>
    <p:spTree>
      <p:nvGrpSpPr>
        <p:cNvPr id="18" name="Shape 18"/>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p:cSld name="CUSTOM_1_1_3">
    <p:bg>
      <p:bgPr>
        <a:solidFill>
          <a:srgbClr val="165185"/>
        </a:solidFill>
      </p:bgPr>
    </p:bg>
    <p:spTree>
      <p:nvGrpSpPr>
        <p:cNvPr id="19" name="Shape 19"/>
        <p:cNvGrpSpPr/>
        <p:nvPr/>
      </p:nvGrpSpPr>
      <p:grpSpPr>
        <a:xfrm>
          <a:off x="0" y="0"/>
          <a:ext cx="0" cy="0"/>
          <a:chOff x="0" y="0"/>
          <a:chExt cx="0" cy="0"/>
        </a:xfrm>
      </p:grpSpPr>
      <p:sp>
        <p:nvSpPr>
          <p:cNvPr id="20" name="Google Shape;20;p6"/>
          <p:cNvSpPr txBox="1"/>
          <p:nvPr/>
        </p:nvSpPr>
        <p:spPr>
          <a:xfrm>
            <a:off x="7189550" y="180000"/>
            <a:ext cx="1585200" cy="10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700">
                <a:solidFill>
                  <a:srgbClr val="B7B7B7"/>
                </a:solidFill>
                <a:latin typeface="Google Sans"/>
                <a:ea typeface="Google Sans"/>
                <a:cs typeface="Google Sans"/>
                <a:sym typeface="Google Sans"/>
              </a:rPr>
              <a:t>Proprietary and Confidential</a:t>
            </a:r>
            <a:endParaRPr sz="700">
              <a:solidFill>
                <a:srgbClr val="B7B7B7"/>
              </a:solidFill>
              <a:latin typeface="Google Sans"/>
              <a:ea typeface="Google Sans"/>
              <a:cs typeface="Google Sans"/>
              <a:sym typeface="Google Sans"/>
            </a:endParaRPr>
          </a:p>
        </p:txBody>
      </p:sp>
      <p:pic>
        <p:nvPicPr>
          <p:cNvPr id="21" name="Google Shape;21;p6"/>
          <p:cNvPicPr preferRelativeResize="0"/>
          <p:nvPr/>
        </p:nvPicPr>
        <p:blipFill rotWithShape="1">
          <a:blip r:embed="rId2">
            <a:alphaModFix/>
          </a:blip>
          <a:srcRect b="27595" l="11685" r="11693" t="27595"/>
          <a:stretch/>
        </p:blipFill>
        <p:spPr>
          <a:xfrm>
            <a:off x="369450" y="4824775"/>
            <a:ext cx="1033175" cy="180274"/>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 Blank">
  <p:cSld name="CUSTOM_1_1_3_2">
    <p:bg>
      <p:bgPr>
        <a:solidFill>
          <a:srgbClr val="165185"/>
        </a:solidFill>
      </p:bgPr>
    </p:bg>
    <p:spTree>
      <p:nvGrpSpPr>
        <p:cNvPr id="22" name="Shape 22"/>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Blue">
  <p:cSld name="CUSTOM_1_1_3_1">
    <p:bg>
      <p:bgPr>
        <a:solidFill>
          <a:srgbClr val="20344B"/>
        </a:solidFill>
      </p:bgPr>
    </p:bg>
    <p:spTree>
      <p:nvGrpSpPr>
        <p:cNvPr id="23" name="Shape 23"/>
        <p:cNvGrpSpPr/>
        <p:nvPr/>
      </p:nvGrpSpPr>
      <p:grpSpPr>
        <a:xfrm>
          <a:off x="0" y="0"/>
          <a:ext cx="0" cy="0"/>
          <a:chOff x="0" y="0"/>
          <a:chExt cx="0" cy="0"/>
        </a:xfrm>
      </p:grpSpPr>
      <p:sp>
        <p:nvSpPr>
          <p:cNvPr id="24" name="Google Shape;24;p8"/>
          <p:cNvSpPr txBox="1"/>
          <p:nvPr/>
        </p:nvSpPr>
        <p:spPr>
          <a:xfrm>
            <a:off x="7189550" y="180000"/>
            <a:ext cx="1585200" cy="10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700">
                <a:solidFill>
                  <a:srgbClr val="929292"/>
                </a:solidFill>
                <a:latin typeface="Google Sans"/>
                <a:ea typeface="Google Sans"/>
                <a:cs typeface="Google Sans"/>
                <a:sym typeface="Google Sans"/>
              </a:rPr>
              <a:t>Proprietary and Confidential</a:t>
            </a:r>
            <a:endParaRPr sz="700">
              <a:solidFill>
                <a:srgbClr val="929292"/>
              </a:solidFill>
              <a:latin typeface="Google Sans"/>
              <a:ea typeface="Google Sans"/>
              <a:cs typeface="Google Sans"/>
              <a:sym typeface="Google Sans"/>
            </a:endParaRPr>
          </a:p>
        </p:txBody>
      </p:sp>
      <p:pic>
        <p:nvPicPr>
          <p:cNvPr id="25" name="Google Shape;25;p8"/>
          <p:cNvPicPr preferRelativeResize="0"/>
          <p:nvPr/>
        </p:nvPicPr>
        <p:blipFill rotWithShape="1">
          <a:blip r:embed="rId2">
            <a:alphaModFix/>
          </a:blip>
          <a:srcRect b="27595" l="11685" r="11693" t="27595"/>
          <a:stretch/>
        </p:blipFill>
        <p:spPr>
          <a:xfrm>
            <a:off x="369450" y="4824775"/>
            <a:ext cx="1033175" cy="18027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Blue - Blank">
  <p:cSld name="CUSTOM_1_1_3_1_2">
    <p:bg>
      <p:bgPr>
        <a:solidFill>
          <a:srgbClr val="20344B"/>
        </a:solidFill>
      </p:bgPr>
    </p:bg>
    <p:spTree>
      <p:nvGrpSpPr>
        <p:cNvPr id="26" name="Shape 26"/>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Green">
  <p:cSld name="CUSTOM_1_1_3_1_1">
    <p:bg>
      <p:bgPr>
        <a:solidFill>
          <a:srgbClr val="D1ECE3"/>
        </a:solidFill>
      </p:bgPr>
    </p:bg>
    <p:spTree>
      <p:nvGrpSpPr>
        <p:cNvPr id="27" name="Shape 27"/>
        <p:cNvGrpSpPr/>
        <p:nvPr/>
      </p:nvGrpSpPr>
      <p:grpSpPr>
        <a:xfrm>
          <a:off x="0" y="0"/>
          <a:ext cx="0" cy="0"/>
          <a:chOff x="0" y="0"/>
          <a:chExt cx="0" cy="0"/>
        </a:xfrm>
      </p:grpSpPr>
      <p:pic>
        <p:nvPicPr>
          <p:cNvPr id="28" name="Google Shape;28;p10"/>
          <p:cNvPicPr preferRelativeResize="0"/>
          <p:nvPr/>
        </p:nvPicPr>
        <p:blipFill rotWithShape="1">
          <a:blip r:embed="rId2">
            <a:alphaModFix/>
          </a:blip>
          <a:srcRect b="32898" l="11839" r="11831" t="32898"/>
          <a:stretch/>
        </p:blipFill>
        <p:spPr>
          <a:xfrm>
            <a:off x="369450" y="4845850"/>
            <a:ext cx="1033175" cy="138126"/>
          </a:xfrm>
          <a:prstGeom prst="rect">
            <a:avLst/>
          </a:prstGeom>
          <a:noFill/>
          <a:ln>
            <a:noFill/>
          </a:ln>
        </p:spPr>
      </p:pic>
      <p:sp>
        <p:nvSpPr>
          <p:cNvPr id="29" name="Google Shape;29;p10"/>
          <p:cNvSpPr txBox="1"/>
          <p:nvPr/>
        </p:nvSpPr>
        <p:spPr>
          <a:xfrm>
            <a:off x="7189550" y="180000"/>
            <a:ext cx="1585200" cy="10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700">
                <a:solidFill>
                  <a:srgbClr val="929292"/>
                </a:solidFill>
                <a:latin typeface="Google Sans"/>
                <a:ea typeface="Google Sans"/>
                <a:cs typeface="Google Sans"/>
                <a:sym typeface="Google Sans"/>
              </a:rPr>
              <a:t>Proprietary and Confidential</a:t>
            </a:r>
            <a:endParaRPr sz="700">
              <a:solidFill>
                <a:srgbClr val="929292"/>
              </a:solidFill>
              <a:latin typeface="Google Sans"/>
              <a:ea typeface="Google Sans"/>
              <a:cs typeface="Google Sans"/>
              <a:sym typeface="Google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Green - Blank">
  <p:cSld name="CUSTOM_1_1_3_1_1_2">
    <p:bg>
      <p:bgPr>
        <a:solidFill>
          <a:srgbClr val="D1ECE3"/>
        </a:solidFill>
      </p:bgPr>
    </p:bg>
    <p:spTree>
      <p:nvGrpSpPr>
        <p:cNvPr id="30" name="Shape 30"/>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p:cSld name="CUSTOM_1_1_3_1_1_1">
    <p:bg>
      <p:bgPr>
        <a:solidFill>
          <a:srgbClr val="0F7C67"/>
        </a:solidFill>
      </p:bgPr>
    </p:bg>
    <p:spTree>
      <p:nvGrpSpPr>
        <p:cNvPr id="31" name="Shape 31"/>
        <p:cNvGrpSpPr/>
        <p:nvPr/>
      </p:nvGrpSpPr>
      <p:grpSpPr>
        <a:xfrm>
          <a:off x="0" y="0"/>
          <a:ext cx="0" cy="0"/>
          <a:chOff x="0" y="0"/>
          <a:chExt cx="0" cy="0"/>
        </a:xfrm>
      </p:grpSpPr>
      <p:pic>
        <p:nvPicPr>
          <p:cNvPr id="32" name="Google Shape;32;p12"/>
          <p:cNvPicPr preferRelativeResize="0"/>
          <p:nvPr/>
        </p:nvPicPr>
        <p:blipFill rotWithShape="1">
          <a:blip r:embed="rId2">
            <a:alphaModFix/>
          </a:blip>
          <a:srcRect b="27595" l="11685" r="11693" t="27595"/>
          <a:stretch/>
        </p:blipFill>
        <p:spPr>
          <a:xfrm>
            <a:off x="369450" y="4824775"/>
            <a:ext cx="1033175" cy="180274"/>
          </a:xfrm>
          <a:prstGeom prst="rect">
            <a:avLst/>
          </a:prstGeom>
          <a:noFill/>
          <a:ln>
            <a:noFill/>
          </a:ln>
        </p:spPr>
      </p:pic>
      <p:sp>
        <p:nvSpPr>
          <p:cNvPr id="33" name="Google Shape;33;p12"/>
          <p:cNvSpPr txBox="1"/>
          <p:nvPr/>
        </p:nvSpPr>
        <p:spPr>
          <a:xfrm>
            <a:off x="7189550" y="180000"/>
            <a:ext cx="1585200" cy="10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700">
                <a:solidFill>
                  <a:srgbClr val="B7B7B7"/>
                </a:solidFill>
                <a:latin typeface="Google Sans"/>
                <a:ea typeface="Google Sans"/>
                <a:cs typeface="Google Sans"/>
                <a:sym typeface="Google Sans"/>
              </a:rPr>
              <a:t>Proprietary and Confidential</a:t>
            </a:r>
            <a:endParaRPr sz="700">
              <a:solidFill>
                <a:srgbClr val="B7B7B7"/>
              </a:solidFill>
              <a:latin typeface="Google Sans"/>
              <a:ea typeface="Google Sans"/>
              <a:cs typeface="Google Sans"/>
              <a:sym typeface="Google San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 Blank">
  <p:cSld name="CUSTOM_1_1_3_1_1_1_2">
    <p:bg>
      <p:bgPr>
        <a:solidFill>
          <a:srgbClr val="0F7C67"/>
        </a:solidFill>
      </p:bgPr>
    </p:bg>
    <p:spTree>
      <p:nvGrpSpPr>
        <p:cNvPr id="34" name="Shape 34"/>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Green">
  <p:cSld name="CUSTOM_1_1_3_1_1_1_1">
    <p:bg>
      <p:bgPr>
        <a:solidFill>
          <a:srgbClr val="1A3E38"/>
        </a:solidFill>
      </p:bgPr>
    </p:bg>
    <p:spTree>
      <p:nvGrpSpPr>
        <p:cNvPr id="35" name="Shape 35"/>
        <p:cNvGrpSpPr/>
        <p:nvPr/>
      </p:nvGrpSpPr>
      <p:grpSpPr>
        <a:xfrm>
          <a:off x="0" y="0"/>
          <a:ext cx="0" cy="0"/>
          <a:chOff x="0" y="0"/>
          <a:chExt cx="0" cy="0"/>
        </a:xfrm>
      </p:grpSpPr>
      <p:sp>
        <p:nvSpPr>
          <p:cNvPr id="36" name="Google Shape;36;p14"/>
          <p:cNvSpPr txBox="1"/>
          <p:nvPr/>
        </p:nvSpPr>
        <p:spPr>
          <a:xfrm>
            <a:off x="7189550" y="180000"/>
            <a:ext cx="1585200" cy="10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700">
                <a:solidFill>
                  <a:srgbClr val="929292"/>
                </a:solidFill>
                <a:latin typeface="Google Sans"/>
                <a:ea typeface="Google Sans"/>
                <a:cs typeface="Google Sans"/>
                <a:sym typeface="Google Sans"/>
              </a:rPr>
              <a:t>Proprietary and Confidential</a:t>
            </a:r>
            <a:endParaRPr sz="700">
              <a:solidFill>
                <a:srgbClr val="929292"/>
              </a:solidFill>
              <a:latin typeface="Google Sans"/>
              <a:ea typeface="Google Sans"/>
              <a:cs typeface="Google Sans"/>
              <a:sym typeface="Google Sans"/>
            </a:endParaRPr>
          </a:p>
        </p:txBody>
      </p:sp>
      <p:pic>
        <p:nvPicPr>
          <p:cNvPr id="37" name="Google Shape;37;p14"/>
          <p:cNvPicPr preferRelativeResize="0"/>
          <p:nvPr/>
        </p:nvPicPr>
        <p:blipFill rotWithShape="1">
          <a:blip r:embed="rId2">
            <a:alphaModFix/>
          </a:blip>
          <a:srcRect b="27595" l="11685" r="11693" t="27595"/>
          <a:stretch/>
        </p:blipFill>
        <p:spPr>
          <a:xfrm>
            <a:off x="369450" y="4824775"/>
            <a:ext cx="1033175" cy="18027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Green - Blank">
  <p:cSld name="CUSTOM_1_1_3_1_1_1_1_1">
    <p:bg>
      <p:bgPr>
        <a:solidFill>
          <a:srgbClr val="1A3E38"/>
        </a:solidFill>
      </p:bgPr>
    </p:bg>
    <p:spTree>
      <p:nvGrpSpPr>
        <p:cNvPr id="38" name="Shape 38"/>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p:cSld name="CUSTOM_1_1_2">
    <p:bg>
      <p:bgPr>
        <a:solidFill>
          <a:schemeClr val="lt1"/>
        </a:solidFill>
      </p:bgPr>
    </p:bg>
    <p:spTree>
      <p:nvGrpSpPr>
        <p:cNvPr id="39" name="Shape 39"/>
        <p:cNvGrpSpPr/>
        <p:nvPr/>
      </p:nvGrpSpPr>
      <p:grpSpPr>
        <a:xfrm>
          <a:off x="0" y="0"/>
          <a:ext cx="0" cy="0"/>
          <a:chOff x="0" y="0"/>
          <a:chExt cx="0" cy="0"/>
        </a:xfrm>
      </p:grpSpPr>
      <p:sp>
        <p:nvSpPr>
          <p:cNvPr id="40" name="Google Shape;40;p16"/>
          <p:cNvSpPr txBox="1"/>
          <p:nvPr/>
        </p:nvSpPr>
        <p:spPr>
          <a:xfrm>
            <a:off x="7189550" y="180000"/>
            <a:ext cx="1585200" cy="10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700">
                <a:solidFill>
                  <a:srgbClr val="B7B7B7"/>
                </a:solidFill>
                <a:latin typeface="Google Sans"/>
                <a:ea typeface="Google Sans"/>
                <a:cs typeface="Google Sans"/>
                <a:sym typeface="Google Sans"/>
              </a:rPr>
              <a:t>Proprietary and Confidential</a:t>
            </a:r>
            <a:endParaRPr sz="700">
              <a:solidFill>
                <a:srgbClr val="B7B7B7"/>
              </a:solidFill>
              <a:latin typeface="Google Sans"/>
              <a:ea typeface="Google Sans"/>
              <a:cs typeface="Google Sans"/>
              <a:sym typeface="Google Sans"/>
            </a:endParaRPr>
          </a:p>
        </p:txBody>
      </p:sp>
      <p:pic>
        <p:nvPicPr>
          <p:cNvPr id="41" name="Google Shape;41;p16"/>
          <p:cNvPicPr preferRelativeResize="0"/>
          <p:nvPr/>
        </p:nvPicPr>
        <p:blipFill rotWithShape="1">
          <a:blip r:embed="rId2">
            <a:alphaModFix/>
          </a:blip>
          <a:srcRect b="32898" l="11839" r="11831" t="32898"/>
          <a:stretch/>
        </p:blipFill>
        <p:spPr>
          <a:xfrm>
            <a:off x="369450" y="4845850"/>
            <a:ext cx="1033175" cy="138126"/>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1_1_2_1">
    <p:bg>
      <p:bgPr>
        <a:solidFill>
          <a:schemeClr val="lt1"/>
        </a:solidFill>
      </p:bgPr>
    </p:bg>
    <p:spTree>
      <p:nvGrpSpPr>
        <p:cNvPr id="42" name="Shape 4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8340659" y="4711948"/>
            <a:ext cx="548700" cy="393600"/>
          </a:xfrm>
          <a:prstGeom prst="rect">
            <a:avLst/>
          </a:prstGeom>
          <a:noFill/>
          <a:ln>
            <a:noFill/>
          </a:ln>
        </p:spPr>
        <p:txBody>
          <a:bodyPr anchorCtr="0" anchor="ctr" bIns="91425" lIns="91425" spcFirstLastPara="1" rIns="91425" wrap="square" tIns="91425">
            <a:normAutofit/>
          </a:bodyPr>
          <a:lstStyle>
            <a:lvl1pPr lvl="0" algn="r">
              <a:buNone/>
              <a:defRPr sz="700">
                <a:solidFill>
                  <a:schemeClr val="dk1"/>
                </a:solidFill>
                <a:latin typeface="Google Sans"/>
                <a:ea typeface="Google Sans"/>
                <a:cs typeface="Google Sans"/>
                <a:sym typeface="Google Sans"/>
              </a:defRPr>
            </a:lvl1pPr>
            <a:lvl2pPr lvl="1" algn="r">
              <a:buNone/>
              <a:defRPr sz="700">
                <a:solidFill>
                  <a:schemeClr val="dk1"/>
                </a:solidFill>
                <a:latin typeface="Google Sans"/>
                <a:ea typeface="Google Sans"/>
                <a:cs typeface="Google Sans"/>
                <a:sym typeface="Google Sans"/>
              </a:defRPr>
            </a:lvl2pPr>
            <a:lvl3pPr lvl="2" algn="r">
              <a:buNone/>
              <a:defRPr sz="700">
                <a:solidFill>
                  <a:schemeClr val="dk1"/>
                </a:solidFill>
                <a:latin typeface="Google Sans"/>
                <a:ea typeface="Google Sans"/>
                <a:cs typeface="Google Sans"/>
                <a:sym typeface="Google Sans"/>
              </a:defRPr>
            </a:lvl3pPr>
            <a:lvl4pPr lvl="3" algn="r">
              <a:buNone/>
              <a:defRPr sz="700">
                <a:solidFill>
                  <a:schemeClr val="dk1"/>
                </a:solidFill>
                <a:latin typeface="Google Sans"/>
                <a:ea typeface="Google Sans"/>
                <a:cs typeface="Google Sans"/>
                <a:sym typeface="Google Sans"/>
              </a:defRPr>
            </a:lvl4pPr>
            <a:lvl5pPr lvl="4" algn="r">
              <a:buNone/>
              <a:defRPr sz="700">
                <a:solidFill>
                  <a:schemeClr val="dk1"/>
                </a:solidFill>
                <a:latin typeface="Google Sans"/>
                <a:ea typeface="Google Sans"/>
                <a:cs typeface="Google Sans"/>
                <a:sym typeface="Google Sans"/>
              </a:defRPr>
            </a:lvl5pPr>
            <a:lvl6pPr lvl="5" algn="r">
              <a:buNone/>
              <a:defRPr sz="700">
                <a:solidFill>
                  <a:schemeClr val="dk1"/>
                </a:solidFill>
                <a:latin typeface="Google Sans"/>
                <a:ea typeface="Google Sans"/>
                <a:cs typeface="Google Sans"/>
                <a:sym typeface="Google Sans"/>
              </a:defRPr>
            </a:lvl6pPr>
            <a:lvl7pPr lvl="6" algn="r">
              <a:buNone/>
              <a:defRPr sz="700">
                <a:solidFill>
                  <a:schemeClr val="dk1"/>
                </a:solidFill>
                <a:latin typeface="Google Sans"/>
                <a:ea typeface="Google Sans"/>
                <a:cs typeface="Google Sans"/>
                <a:sym typeface="Google Sans"/>
              </a:defRPr>
            </a:lvl7pPr>
            <a:lvl8pPr lvl="7" algn="r">
              <a:buNone/>
              <a:defRPr sz="700">
                <a:solidFill>
                  <a:schemeClr val="dk1"/>
                </a:solidFill>
                <a:latin typeface="Google Sans"/>
                <a:ea typeface="Google Sans"/>
                <a:cs typeface="Google Sans"/>
                <a:sym typeface="Google Sans"/>
              </a:defRPr>
            </a:lvl8pPr>
            <a:lvl9pPr lvl="8" algn="r">
              <a:buNone/>
              <a:defRPr sz="700">
                <a:solidFill>
                  <a:schemeClr val="dk1"/>
                </a:solidFill>
                <a:latin typeface="Google Sans"/>
                <a:ea typeface="Google Sans"/>
                <a:cs typeface="Google Sans"/>
                <a:sym typeface="Google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 Id="rId3" Type="http://schemas.openxmlformats.org/officeDocument/2006/relationships/image" Target="../media/image36.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 Id="rId3" Type="http://schemas.openxmlformats.org/officeDocument/2006/relationships/image" Target="../media/image4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3.xml"/><Relationship Id="rId3" Type="http://schemas.openxmlformats.org/officeDocument/2006/relationships/image" Target="../media/image2.png"/><Relationship Id="rId4" Type="http://schemas.openxmlformats.org/officeDocument/2006/relationships/image" Target="../media/image42.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28.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4.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5.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34.png"/><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3.xml"/><Relationship Id="rId3" Type="http://schemas.openxmlformats.org/officeDocument/2006/relationships/image" Target="../media/image51.png"/><Relationship Id="rId4" Type="http://schemas.openxmlformats.org/officeDocument/2006/relationships/image" Target="../media/image3.png"/><Relationship Id="rId5"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 Id="rId3" Type="http://schemas.openxmlformats.org/officeDocument/2006/relationships/image" Target="../media/image50.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4.xml"/><Relationship Id="rId3" Type="http://schemas.openxmlformats.org/officeDocument/2006/relationships/image" Target="../media/image1.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8.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35.png"/><Relationship Id="rId6"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5.xml"/><Relationship Id="rId3" Type="http://schemas.openxmlformats.org/officeDocument/2006/relationships/image" Target="../media/image21.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25.png"/><Relationship Id="rId5"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7.png"/><Relationship Id="rId3" Type="http://schemas.openxmlformats.org/officeDocument/2006/relationships/image" Target="../media/image21.png"/><Relationship Id="rId4" Type="http://schemas.openxmlformats.org/officeDocument/2006/relationships/image" Target="../media/image3.png"/><Relationship Id="rId5" Type="http://schemas.openxmlformats.org/officeDocument/2006/relationships/notesSlide" Target="../notesSlides/notesSlide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6.xml"/><Relationship Id="rId3" Type="http://schemas.openxmlformats.org/officeDocument/2006/relationships/image" Target="../media/image16.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2.png"/><Relationship Id="rId4" Type="http://schemas.openxmlformats.org/officeDocument/2006/relationships/image" Target="../media/image50.png"/><Relationship Id="rId5" Type="http://schemas.openxmlformats.org/officeDocument/2006/relationships/image" Target="../media/image3.png"/><Relationship Id="rId6"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21.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9" name="Shape 189"/>
        <p:cNvGrpSpPr/>
        <p:nvPr/>
      </p:nvGrpSpPr>
      <p:grpSpPr>
        <a:xfrm>
          <a:off x="0" y="0"/>
          <a:ext cx="0" cy="0"/>
          <a:chOff x="0" y="0"/>
          <a:chExt cx="0" cy="0"/>
        </a:xfrm>
      </p:grpSpPr>
      <p:sp>
        <p:nvSpPr>
          <p:cNvPr id="190" name="Google Shape;190;p27"/>
          <p:cNvSpPr txBox="1"/>
          <p:nvPr/>
        </p:nvSpPr>
        <p:spPr>
          <a:xfrm>
            <a:off x="493850" y="2145000"/>
            <a:ext cx="3840000" cy="12459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b="1" lang="en" sz="4000">
                <a:solidFill>
                  <a:schemeClr val="dk1"/>
                </a:solidFill>
                <a:latin typeface="Google Sans"/>
                <a:ea typeface="Google Sans"/>
                <a:cs typeface="Google Sans"/>
                <a:sym typeface="Google Sans"/>
              </a:rPr>
              <a:t>Local Impact </a:t>
            </a:r>
            <a:r>
              <a:rPr b="1" lang="en" sz="4000">
                <a:solidFill>
                  <a:schemeClr val="dk1"/>
                </a:solidFill>
                <a:latin typeface="Google Sans"/>
                <a:ea typeface="Google Sans"/>
                <a:cs typeface="Google Sans"/>
                <a:sym typeface="Google Sans"/>
              </a:rPr>
              <a:t>Workshop</a:t>
            </a:r>
          </a:p>
          <a:p>
            <a:pPr indent="0" lvl="0" marL="0" rtl="0" algn="l">
              <a:spcBef>
                <a:spcPts val="1000"/>
              </a:spcBef>
              <a:spcAft>
                <a:spcPts val="0"/>
              </a:spcAft>
              <a:buNone/>
            </a:pPr>
            <a:r>
              <a:rPr lang="en" sz="1400">
                <a:solidFill>
                  <a:schemeClr val="dk1"/>
                </a:solidFill>
                <a:latin typeface="Google Sans Medium"/>
                <a:ea typeface="Google Sans Medium"/>
                <a:cs typeface="Google Sans Medium"/>
                <a:sym typeface="Google Sans Medium"/>
              </a:rPr>
              <a:t>Saturday 3:00 PM  ·  IBM  ·  Google  ·  Baz</a:t>
            </a:r>
          </a:p>
        </p:txBody>
      </p:sp>
      <p:sp>
        <p:nvSpPr>
          <p:cNvPr id="191" name="Google Shape;191;p27"/>
          <p:cNvSpPr/>
          <p:nvPr/>
        </p:nvSpPr>
        <p:spPr>
          <a:xfrm>
            <a:off x="263900" y="4554925"/>
            <a:ext cx="2097300" cy="406800"/>
          </a:xfrm>
          <a:prstGeom prst="rect">
            <a:avLst/>
          </a:prstGeom>
          <a:solidFill>
            <a:srgbClr val="CAE6FF"/>
          </a:solidFill>
          <a:ln cap="flat" cmpd="sng" w="9525">
            <a:solidFill>
              <a:srgbClr val="CAE6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2" name="Google Shape;192;p27" title="compass_locationLogo.png"/>
          <p:cNvPicPr preferRelativeResize="0"/>
          <p:nvPr/>
        </p:nvPicPr>
        <p:blipFill>
          <a:blip r:embed="rId4">
            <a:alphaModFix/>
          </a:blip>
          <a:stretch>
            <a:fillRect/>
          </a:stretch>
        </p:blipFill>
        <p:spPr>
          <a:xfrm>
            <a:off x="311747" y="4681275"/>
            <a:ext cx="1423650" cy="368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pic>
        <p:nvPicPr>
          <p:cNvPr id="557" name="Google Shape;557;p57"/>
          <p:cNvPicPr preferRelativeResize="0"/>
          <p:nvPr/>
        </p:nvPicPr>
        <p:blipFill rotWithShape="1">
          <a:blip r:embed="rId3">
            <a:alphaModFix/>
          </a:blip>
          <a:srcRect b="12778" l="0" r="9058" t="0"/>
          <a:stretch/>
        </p:blipFill>
        <p:spPr>
          <a:xfrm flipH="1" rot="10800000">
            <a:off x="0" y="0"/>
            <a:ext cx="8316300" cy="4486200"/>
          </a:xfrm>
          <a:prstGeom prst="round1Rect">
            <a:avLst>
              <a:gd fmla="val 8318" name="adj"/>
            </a:avLst>
          </a:prstGeom>
          <a:noFill/>
          <a:ln>
            <a:noFill/>
          </a:ln>
        </p:spPr>
      </p:pic>
      <p:sp>
        <p:nvSpPr>
          <p:cNvPr id="558" name="Google Shape;558;p57"/>
          <p:cNvSpPr txBox="1"/>
          <p:nvPr/>
        </p:nvSpPr>
        <p:spPr>
          <a:xfrm>
            <a:off x="3368400" y="981450"/>
            <a:ext cx="660600" cy="226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0"/>
              </a:spcAft>
              <a:buNone/>
            </a:pPr>
            <a:r>
              <a:rPr lang="en" sz="1800">
                <a:solidFill>
                  <a:srgbClr val="B7B7B7"/>
                </a:solidFill>
                <a:latin typeface="Google Sans SemiBold"/>
                <a:ea typeface="Google Sans SemiBold"/>
                <a:cs typeface="Google Sans SemiBold"/>
                <a:sym typeface="Google Sans SemiBold"/>
              </a:rPr>
              <a:t>01</a:t>
            </a:r>
          </a:p>
          <a:p>
            <a:pPr indent="0" lvl="0" marL="0" rtl="0" algn="l">
              <a:lnSpc>
                <a:spcPct val="130000"/>
              </a:lnSpc>
              <a:spcBef>
                <a:spcPts val="1500"/>
              </a:spcBef>
              <a:spcAft>
                <a:spcPts val="0"/>
              </a:spcAft>
              <a:buNone/>
            </a:pPr>
            <a:r>
              <a:rPr lang="en" sz="1800">
                <a:solidFill>
                  <a:srgbClr val="B7B7B7"/>
                </a:solidFill>
                <a:latin typeface="Google Sans SemiBold"/>
                <a:ea typeface="Google Sans SemiBold"/>
                <a:cs typeface="Google Sans SemiBold"/>
                <a:sym typeface="Google Sans SemiBold"/>
              </a:rPr>
              <a:t>02</a:t>
            </a:r>
          </a:p>
          <a:p>
            <a:pPr indent="0" lvl="0" marL="0" rtl="0" algn="l">
              <a:lnSpc>
                <a:spcPct val="130000"/>
              </a:lnSpc>
              <a:spcBef>
                <a:spcPts val="1500"/>
              </a:spcBef>
              <a:spcAft>
                <a:spcPts val="0"/>
              </a:spcAft>
              <a:buNone/>
            </a:pPr>
            <a:r>
              <a:rPr lang="en" sz="1800">
                <a:solidFill>
                  <a:srgbClr val="B7B7B7"/>
                </a:solidFill>
                <a:latin typeface="Google Sans SemiBold"/>
                <a:ea typeface="Google Sans SemiBold"/>
                <a:cs typeface="Google Sans SemiBold"/>
                <a:sym typeface="Google Sans SemiBold"/>
              </a:rPr>
              <a:t>03</a:t>
            </a:r>
          </a:p>
          <a:p>
            <a:pPr indent="0" lvl="0" marL="0" rtl="0" algn="l">
              <a:lnSpc>
                <a:spcPct val="130000"/>
              </a:lnSpc>
              <a:spcBef>
                <a:spcPts val="1500"/>
              </a:spcBef>
              <a:spcAft>
                <a:spcPts val="0"/>
              </a:spcAft>
              <a:buNone/>
            </a:pPr>
            <a:r>
              <a:rPr lang="en" sz="1800">
                <a:solidFill>
                  <a:srgbClr val="B7B7B7"/>
                </a:solidFill>
                <a:latin typeface="Google Sans SemiBold"/>
                <a:ea typeface="Google Sans SemiBold"/>
                <a:cs typeface="Google Sans SemiBold"/>
                <a:sym typeface="Google Sans SemiBold"/>
              </a:rPr>
              <a:t>04</a:t>
            </a:r>
          </a:p>
          <a:p>
            <a:pPr indent="0" lvl="0" marL="0" rtl="0" algn="l">
              <a:lnSpc>
                <a:spcPct val="130000"/>
              </a:lnSpc>
              <a:spcBef>
                <a:spcPts val="1500"/>
              </a:spcBef>
              <a:spcAft>
                <a:spcPts val="0"/>
              </a:spcAft>
              <a:buNone/>
            </a:pPr>
            <a:r>
              <a:rPr lang="en" sz="1800">
                <a:solidFill>
                  <a:srgbClr val="B7B7B7"/>
                </a:solidFill>
                <a:latin typeface="Google Sans SemiBold"/>
                <a:ea typeface="Google Sans SemiBold"/>
                <a:cs typeface="Google Sans SemiBold"/>
                <a:sym typeface="Google Sans SemiBold"/>
              </a:rPr>
              <a:t>05</a:t>
            </a:r>
          </a:p>
          <a:p>
            <a:pPr indent="0" lvl="0" marL="0" rtl="0" algn="l">
              <a:lnSpc>
                <a:spcPct val="130000"/>
              </a:lnSpc>
              <a:spcBef>
                <a:spcPts val="1500"/>
              </a:spcBef>
              <a:spcAft>
                <a:spcPts val="1500"/>
              </a:spcAft>
              <a:buNone/>
            </a:pPr>
            <a:r>
              <a:rPr lang="en" sz="1800">
                <a:solidFill>
                  <a:srgbClr val="B7B7B7"/>
                </a:solidFill>
                <a:latin typeface="Google Sans SemiBold"/>
                <a:ea typeface="Google Sans SemiBold"/>
                <a:cs typeface="Google Sans SemiBold"/>
                <a:sym typeface="Google Sans SemiBold"/>
              </a:rPr>
              <a:t>06</a:t>
            </a:r>
          </a:p>
        </p:txBody>
      </p:sp>
      <p:sp>
        <p:nvSpPr>
          <p:cNvPr id="559" name="Google Shape;559;p57"/>
          <p:cNvSpPr txBox="1"/>
          <p:nvPr/>
        </p:nvSpPr>
        <p:spPr>
          <a:xfrm>
            <a:off x="4006275" y="981450"/>
            <a:ext cx="3390300" cy="226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0"/>
              </a:spcAft>
              <a:buNone/>
            </a:pPr>
            <a:r>
              <a:rPr lang="en" sz="1800">
                <a:solidFill>
                  <a:schemeClr val="dk1"/>
                </a:solidFill>
                <a:latin typeface="Google Sans Medium"/>
                <a:ea typeface="Google Sans Medium"/>
                <a:cs typeface="Google Sans Medium"/>
                <a:sym typeface="Google Sans Medium"/>
              </a:rPr>
              <a:t>Compass Detroit</a:t>
            </a:r>
          </a:p>
          <a:p>
            <a:pPr indent="0" lvl="0" marL="0" rtl="0" algn="l">
              <a:lnSpc>
                <a:spcPct val="130000"/>
              </a:lnSpc>
              <a:spcBef>
                <a:spcPts val="1500"/>
              </a:spcBef>
              <a:spcAft>
                <a:spcPts val="0"/>
              </a:spcAft>
              <a:buNone/>
            </a:pPr>
            <a:r>
              <a:rPr lang="en" sz="1800">
                <a:solidFill>
                  <a:schemeClr val="dk1"/>
                </a:solidFill>
                <a:latin typeface="Google Sans Medium"/>
                <a:ea typeface="Google Sans Medium"/>
                <a:cs typeface="Google Sans Medium"/>
                <a:sym typeface="Google Sans Medium"/>
              </a:rPr>
              <a:t>The Local Impact track</a:t>
            </a:r>
          </a:p>
          <a:p>
            <a:pPr indent="0" lvl="0" marL="0" rtl="0" algn="l">
              <a:lnSpc>
                <a:spcPct val="130000"/>
              </a:lnSpc>
              <a:spcBef>
                <a:spcPts val="1500"/>
              </a:spcBef>
              <a:spcAft>
                <a:spcPts val="0"/>
              </a:spcAft>
              <a:buNone/>
            </a:pPr>
            <a:r>
              <a:rPr lang="en" sz="1800">
                <a:solidFill>
                  <a:schemeClr val="dk1"/>
                </a:solidFill>
                <a:latin typeface="Google Sans Medium"/>
                <a:ea typeface="Google Sans Medium"/>
                <a:cs typeface="Google Sans Medium"/>
                <a:sym typeface="Google Sans Medium"/>
              </a:rPr>
              <a:t>IBM: register, team, learn</a:t>
            </a:r>
          </a:p>
          <a:p>
            <a:pPr indent="0" lvl="0" marL="0" rtl="0" algn="l">
              <a:lnSpc>
                <a:spcPct val="130000"/>
              </a:lnSpc>
              <a:spcBef>
                <a:spcPts val="1500"/>
              </a:spcBef>
              <a:spcAft>
                <a:spcPts val="0"/>
              </a:spcAft>
              <a:buNone/>
            </a:pPr>
            <a:r>
              <a:rPr lang="en" sz="1800">
                <a:solidFill>
                  <a:schemeClr val="dk1"/>
                </a:solidFill>
                <a:latin typeface="Google Sans Medium"/>
                <a:ea typeface="Google Sans Medium"/>
                <a:cs typeface="Google Sans Medium"/>
                <a:sym typeface="Google Sans Medium"/>
              </a:rPr>
              <a:t>Google Cloud credits</a:t>
            </a:r>
          </a:p>
          <a:p>
            <a:pPr indent="0" lvl="0" marL="0" rtl="0" algn="l">
              <a:lnSpc>
                <a:spcPct val="130000"/>
              </a:lnSpc>
              <a:spcBef>
                <a:spcPts val="1500"/>
              </a:spcBef>
              <a:spcAft>
                <a:spcPts val="0"/>
              </a:spcAft>
              <a:buNone/>
            </a:pPr>
            <a:r>
              <a:rPr lang="en" sz="1800">
                <a:solidFill>
                  <a:schemeClr val="dk1"/>
                </a:solidFill>
                <a:latin typeface="Google Sans Medium"/>
                <a:ea typeface="Google Sans Medium"/>
                <a:cs typeface="Google Sans Medium"/>
                <a:sym typeface="Google Sans Medium"/>
              </a:rPr>
              <a:t>GitHub + Baz code review</a:t>
            </a:r>
          </a:p>
          <a:p>
            <a:pPr indent="0" lvl="0" marL="0" rtl="0" algn="l">
              <a:lnSpc>
                <a:spcPct val="130000"/>
              </a:lnSpc>
              <a:spcBef>
                <a:spcPts val="1500"/>
              </a:spcBef>
              <a:spcAft>
                <a:spcPts val="0"/>
              </a:spcAft>
              <a:buNone/>
            </a:pPr>
            <a:r>
              <a:rPr lang="en" sz="1800">
                <a:solidFill>
                  <a:schemeClr val="dk1"/>
                </a:solidFill>
                <a:latin typeface="Google Sans Medium"/>
                <a:ea typeface="Google Sans Medium"/>
                <a:cs typeface="Google Sans Medium"/>
                <a:sym typeface="Google Sans Medium"/>
              </a:rPr>
              <a:t>What to submit</a:t>
            </a:r>
          </a:p>
        </p:txBody>
      </p:sp>
      <p:sp>
        <p:nvSpPr>
          <p:cNvPr id="560" name="Google Shape;560;p57"/>
          <p:cNvSpPr txBox="1"/>
          <p:nvPr/>
        </p:nvSpPr>
        <p:spPr>
          <a:xfrm>
            <a:off x="6463218" y="180000"/>
            <a:ext cx="1585200" cy="10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700">
                <a:solidFill>
                  <a:srgbClr val="B7B7B7"/>
                </a:solidFill>
                <a:latin typeface="Google Sans"/>
                <a:ea typeface="Google Sans"/>
                <a:cs typeface="Google Sans"/>
                <a:sym typeface="Google Sans"/>
              </a:rPr>
              <a:t/>
            </a:r>
            <a:endParaRPr sz="700">
              <a:solidFill>
                <a:srgbClr val="B7B7B7"/>
              </a:solidFill>
              <a:latin typeface="Google Sans"/>
              <a:ea typeface="Google Sans"/>
              <a:cs typeface="Google Sans"/>
              <a:sym typeface="Google Sans"/>
            </a:endParaRPr>
          </a:p>
        </p:txBody>
      </p:sp>
      <p:sp>
        <p:nvSpPr>
          <p:cNvPr id="561" name="Google Shape;561;p57"/>
          <p:cNvSpPr txBox="1"/>
          <p:nvPr/>
        </p:nvSpPr>
        <p:spPr>
          <a:xfrm>
            <a:off x="384975" y="981450"/>
            <a:ext cx="2743200" cy="1007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000"/>
              </a:spcAft>
              <a:buNone/>
            </a:pPr>
            <a:r>
              <a:rPr b="1" lang="en" sz="3000">
                <a:solidFill>
                  <a:schemeClr val="lt2"/>
                </a:solidFill>
                <a:latin typeface="Google Sans"/>
                <a:ea typeface="Google Sans"/>
                <a:cs typeface="Google Sans"/>
                <a:sym typeface="Google Sans"/>
              </a:rPr>
              <a:t>Today’s workshop</a:t>
            </a:r>
          </a:p>
        </p:txBody>
      </p:sp>
      <p:sp>
        <p:nvSpPr>
          <p:cNvPr id="562" name="Google Shape;562;p57"/>
          <p:cNvSpPr/>
          <p:nvPr/>
        </p:nvSpPr>
        <p:spPr>
          <a:xfrm>
            <a:off x="6748525" y="106650"/>
            <a:ext cx="1299900" cy="255300"/>
          </a:xfrm>
          <a:prstGeom prst="rect">
            <a:avLst/>
          </a:prstGeom>
          <a:solidFill>
            <a:srgbClr val="FEFDFE"/>
          </a:solidFill>
          <a:ln cap="flat" cmpd="sng" w="9525">
            <a:solidFill>
              <a:srgbClr val="FEFE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60"/>
          <p:cNvSpPr/>
          <p:nvPr/>
        </p:nvSpPr>
        <p:spPr>
          <a:xfrm rot="10800000">
            <a:off x="824975" y="-100"/>
            <a:ext cx="7487100" cy="4332000"/>
          </a:xfrm>
          <a:prstGeom prst="round2SameRect">
            <a:avLst>
              <a:gd fmla="val 8844" name="adj1"/>
              <a:gd fmla="val 0" name="adj2"/>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60"/>
          <p:cNvSpPr txBox="1"/>
          <p:nvPr/>
        </p:nvSpPr>
        <p:spPr>
          <a:xfrm>
            <a:off x="1188720" y="1188720"/>
            <a:ext cx="6766560" cy="146304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1000"/>
              </a:spcAft>
              <a:buNone/>
            </a:pPr>
            <a:r>
              <a:rPr b="1" lang="en" sz="3400">
                <a:solidFill>
                  <a:schemeClr val="dk1"/>
                </a:solidFill>
                <a:latin typeface="Google Sans"/>
                <a:ea typeface="Google Sans"/>
                <a:cs typeface="Google Sans"/>
                <a:sym typeface="Google Sans"/>
              </a:rPr>
              <a:t>Compass Detroit unites Michigan’s </a:t>
            </a:r>
            <a:r>
              <a:rPr b="1" lang="en" sz="3400">
                <a:solidFill>
                  <a:srgbClr val="2480F0"/>
                </a:solidFill>
                <a:latin typeface="Google Sans"/>
                <a:ea typeface="Google Sans"/>
                <a:cs typeface="Google Sans"/>
                <a:sym typeface="Google Sans"/>
              </a:rPr>
              <a:t>STEAM communities.</a:t>
            </a:r>
          </a:p>
        </p:txBody>
      </p:sp>
      <p:sp>
        <p:nvSpPr>
          <p:cNvPr id="589" name="Google Shape;589;p60"/>
          <p:cNvSpPr txBox="1"/>
          <p:nvPr/>
        </p:nvSpPr>
        <p:spPr>
          <a:xfrm>
            <a:off x="1188720" y="829000"/>
            <a:ext cx="6766560" cy="2262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700"/>
              </a:spcAft>
              <a:buNone/>
            </a:pPr>
            <a:r>
              <a:rPr lang="en" sz="1400">
                <a:solidFill>
                  <a:schemeClr val="dk1"/>
                </a:solidFill>
                <a:latin typeface="Google Sans SemiBold"/>
                <a:ea typeface="Google Sans SemiBold"/>
                <a:cs typeface="Google Sans SemiBold"/>
                <a:sym typeface="Google Sans SemiBold"/>
              </a:rPr>
              <a:t>Who we are</a:t>
            </a:r>
          </a:p>
        </p:txBody>
      </p:sp>
      <p:pic>
        <p:nvPicPr>
          <p:cNvPr id="590" name="Google Shape;590;p60"/>
          <p:cNvPicPr preferRelativeResize="0"/>
          <p:nvPr/>
        </p:nvPicPr>
        <p:blipFill rotWithShape="1">
          <a:blip r:embed="rId3">
            <a:alphaModFix/>
          </a:blip>
          <a:srcRect b="27595" l="11685" r="11693" t="27595"/>
          <a:stretch/>
        </p:blipFill>
        <p:spPr>
          <a:xfrm>
            <a:off x="369450" y="4824775"/>
            <a:ext cx="1033175" cy="180274"/>
          </a:xfrm>
          <a:prstGeom prst="rect">
            <a:avLst/>
          </a:prstGeom>
          <a:noFill/>
          <a:ln>
            <a:noFill/>
          </a:ln>
        </p:spPr>
      </p:pic>
      <p:sp>
        <p:nvSpPr>
          <p:cNvPr id="591" name="Google Shape;591;p60"/>
          <p:cNvSpPr txBox="1"/>
          <p:nvPr/>
        </p:nvSpPr>
        <p:spPr>
          <a:xfrm>
            <a:off x="6463218" y="180000"/>
            <a:ext cx="1585200" cy="10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700">
                <a:solidFill>
                  <a:srgbClr val="B7B7B7"/>
                </a:solidFill>
                <a:latin typeface="Google Sans"/>
                <a:ea typeface="Google Sans"/>
                <a:cs typeface="Google Sans"/>
                <a:sym typeface="Google Sans"/>
              </a:rPr>
              <a:t/>
            </a:r>
            <a:endParaRPr sz="700">
              <a:solidFill>
                <a:srgbClr val="B7B7B7"/>
              </a:solidFill>
              <a:latin typeface="Google Sans"/>
              <a:ea typeface="Google Sans"/>
              <a:cs typeface="Google Sans"/>
              <a:sym typeface="Google Sans"/>
            </a:endParaRPr>
          </a:p>
        </p:txBody>
      </p:sp>
      <p:pic>
        <p:nvPicPr>
          <p:cNvPr id="592" name="Google Shape;592;p60"/>
          <p:cNvPicPr preferRelativeResize="0"/>
          <p:nvPr/>
        </p:nvPicPr>
        <p:blipFill>
          <a:blip r:embed="rId4">
            <a:alphaModFix/>
          </a:blip>
          <a:stretch>
            <a:fillRect/>
          </a:stretch>
        </p:blipFill>
        <p:spPr>
          <a:xfrm rot="-128627">
            <a:off x="1354995" y="660691"/>
            <a:ext cx="563364" cy="562819"/>
          </a:xfrm>
          <a:prstGeom prst="rect">
            <a:avLst/>
          </a:prstGeom>
          <a:noFill/>
          <a:ln>
            <a:noFill/>
          </a:ln>
        </p:spPr>
      </p:pic>
      <p:sp>
        <p:nvSpPr>
          <p:cNvPr id="593" name="Google Shape;593;p60"/>
          <p:cNvSpPr/>
          <p:nvPr/>
        </p:nvSpPr>
        <p:spPr>
          <a:xfrm>
            <a:off x="303775" y="4770225"/>
            <a:ext cx="1172100" cy="287100"/>
          </a:xfrm>
          <a:prstGeom prst="rect">
            <a:avLst/>
          </a:prstGeom>
          <a:solidFill>
            <a:srgbClr val="20344B"/>
          </a:solidFill>
          <a:ln cap="flat" cmpd="sng" w="9525">
            <a:solidFill>
              <a:srgbClr val="20344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94" name="Google Shape;594;p60" title="compass_locationLogo.png"/>
          <p:cNvPicPr preferRelativeResize="0"/>
          <p:nvPr/>
        </p:nvPicPr>
        <p:blipFill>
          <a:blip r:embed="rId5">
            <a:alphaModFix/>
          </a:blip>
          <a:stretch>
            <a:fillRect/>
          </a:stretch>
        </p:blipFill>
        <p:spPr>
          <a:xfrm>
            <a:off x="311747" y="4681275"/>
            <a:ext cx="1423650" cy="368125"/>
          </a:xfrm>
          <a:prstGeom prst="rect">
            <a:avLst/>
          </a:prstGeom>
          <a:noFill/>
          <a:ln>
            <a:noFill/>
          </a:ln>
        </p:spPr>
      </p:pic>
      <p:sp>
        <p:nvSpPr>
          <p:cNvPr id="595" name="Google Shape;595;p60"/>
          <p:cNvSpPr/>
          <p:nvPr/>
        </p:nvSpPr>
        <p:spPr>
          <a:xfrm>
            <a:off x="6802900" y="106650"/>
            <a:ext cx="1299900" cy="2553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6" name="TextBox 595"/>
          <p:cNvSpPr txBox="1"/>
          <p:nvPr/>
        </p:nvSpPr>
        <p:spPr>
          <a:xfrm>
            <a:off x="1188720" y="2880360"/>
            <a:ext cx="6766560" cy="320040"/>
          </a:xfrm>
          <a:prstGeom prst="rect">
            <a:avLst/>
          </a:prstGeom>
          <a:noFill/>
        </p:spPr>
        <p:txBody>
          <a:bodyPr wrap="square" lIns="0" rIns="0" tIns="0" bIns="0">
            <a:spAutoFit/>
          </a:bodyPr>
          <a:lstStyle/>
          <a:p>
            <a:pPr algn="ctr"/>
            <a:r>
              <a:rPr sz="1300" b="0">
                <a:solidFill>
                  <a:srgbClr val="5F6368"/>
                </a:solidFill>
                <a:latin typeface="Google Sans"/>
              </a:rPr>
              <a:t>A 501(c)(3) coalition since 2018  ·  Innovation Summits  ·  Michigan DevFest + AI Hackathon  ·  Hack Michigan  ·  Scholarships</a:t>
            </a:r>
          </a:p>
        </p:txBody>
      </p:sp>
      <p:sp>
        <p:nvSpPr>
          <p:cNvPr id="597" name="TextBox 596"/>
          <p:cNvSpPr txBox="1"/>
          <p:nvPr/>
        </p:nvSpPr>
        <p:spPr>
          <a:xfrm>
            <a:off x="1005840" y="3337560"/>
            <a:ext cx="7132320" cy="320040"/>
          </a:xfrm>
          <a:prstGeom prst="rect">
            <a:avLst/>
          </a:prstGeom>
          <a:noFill/>
        </p:spPr>
        <p:txBody>
          <a:bodyPr wrap="square" lIns="0" rIns="0" tIns="0" bIns="0">
            <a:spAutoFit/>
          </a:bodyPr>
          <a:lstStyle/>
          <a:p>
            <a:pPr algn="ctr"/>
            <a:r>
              <a:rPr sz="1400" b="1">
                <a:solidFill>
                  <a:srgbClr val="202124"/>
                </a:solidFill>
                <a:latin typeface="Google Sans"/>
              </a:rPr>
              <a:t>Join us: bit.ly/compass2026  ·  whatupdoe@compass-detroit.com</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4"/>
          <p:cNvSpPr/>
          <p:nvPr/>
        </p:nvSpPr>
        <p:spPr>
          <a:xfrm rot="5400000">
            <a:off x="1907800" y="-1922600"/>
            <a:ext cx="4486200" cy="8316300"/>
          </a:xfrm>
          <a:prstGeom prst="round1Rect">
            <a:avLst>
              <a:gd fmla="val 7834"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44"/>
          <p:cNvSpPr txBox="1"/>
          <p:nvPr/>
        </p:nvSpPr>
        <p:spPr>
          <a:xfrm>
            <a:off x="6463218" y="180000"/>
            <a:ext cx="1585200" cy="10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700">
                <a:solidFill>
                  <a:srgbClr val="B7B7B7"/>
                </a:solidFill>
                <a:latin typeface="Google Sans"/>
                <a:ea typeface="Google Sans"/>
                <a:cs typeface="Google Sans"/>
                <a:sym typeface="Google Sans"/>
              </a:rPr>
              <a:t/>
            </a:r>
            <a:endParaRPr sz="700">
              <a:solidFill>
                <a:srgbClr val="B7B7B7"/>
              </a:solidFill>
              <a:latin typeface="Google Sans"/>
              <a:ea typeface="Google Sans"/>
              <a:cs typeface="Google Sans"/>
              <a:sym typeface="Google Sans"/>
            </a:endParaRPr>
          </a:p>
        </p:txBody>
      </p:sp>
      <p:sp>
        <p:nvSpPr>
          <p:cNvPr id="388" name="Google Shape;388;p44"/>
          <p:cNvSpPr txBox="1"/>
          <p:nvPr/>
        </p:nvSpPr>
        <p:spPr>
          <a:xfrm>
            <a:off x="369450" y="1718218"/>
            <a:ext cx="1005000" cy="7305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000"/>
              </a:spcAft>
              <a:buNone/>
            </a:pPr>
            <a:r>
              <a:rPr b="1" lang="en" sz="5600">
                <a:solidFill>
                  <a:schemeClr val="lt2"/>
                </a:solidFill>
                <a:latin typeface="Google Sans"/>
                <a:ea typeface="Google Sans"/>
                <a:cs typeface="Google Sans"/>
                <a:sym typeface="Google Sans"/>
              </a:rPr>
              <a:t>01</a:t>
            </a:r>
          </a:p>
        </p:txBody>
      </p:sp>
      <p:sp>
        <p:nvSpPr>
          <p:cNvPr id="389" name="Google Shape;389;p44"/>
          <p:cNvSpPr txBox="1"/>
          <p:nvPr/>
        </p:nvSpPr>
        <p:spPr>
          <a:xfrm>
            <a:off x="1663653" y="1715225"/>
            <a:ext cx="4297680" cy="1245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000"/>
              </a:spcAft>
              <a:buNone/>
            </a:pPr>
            <a:r>
              <a:rPr b="1" lang="en" sz="3600">
                <a:solidFill>
                  <a:schemeClr val="dk1"/>
                </a:solidFill>
                <a:latin typeface="Google Sans"/>
                <a:ea typeface="Google Sans"/>
                <a:cs typeface="Google Sans"/>
                <a:sym typeface="Google Sans"/>
              </a:rPr>
              <a:t>The Local </a:t>
            </a:r>
            <a:r>
              <a:rPr b="1" lang="en" sz="3600">
                <a:solidFill>
                  <a:schemeClr val="dk1"/>
                </a:solidFill>
                <a:latin typeface="Google Sans"/>
                <a:ea typeface="Google Sans"/>
                <a:cs typeface="Google Sans"/>
                <a:sym typeface="Google Sans"/>
              </a:rPr>
              <a:t>Impact track</a:t>
            </a:r>
          </a:p>
        </p:txBody>
      </p:sp>
      <p:pic>
        <p:nvPicPr>
          <p:cNvPr id="390" name="Google Shape;390;p44"/>
          <p:cNvPicPr preferRelativeResize="0"/>
          <p:nvPr/>
        </p:nvPicPr>
        <p:blipFill rotWithShape="1">
          <a:blip r:embed="rId3">
            <a:alphaModFix/>
          </a:blip>
          <a:srcRect b="32898" l="11839" r="11831" t="32898"/>
          <a:stretch/>
        </p:blipFill>
        <p:spPr>
          <a:xfrm>
            <a:off x="416713" y="1160596"/>
            <a:ext cx="2190879" cy="292900"/>
          </a:xfrm>
          <a:prstGeom prst="rect">
            <a:avLst/>
          </a:prstGeom>
          <a:noFill/>
          <a:ln>
            <a:noFill/>
          </a:ln>
        </p:spPr>
      </p:pic>
      <p:pic>
        <p:nvPicPr>
          <p:cNvPr id="391" name="Google Shape;391;p44"/>
          <p:cNvPicPr preferRelativeResize="0"/>
          <p:nvPr/>
        </p:nvPicPr>
        <p:blipFill rotWithShape="1">
          <a:blip r:embed="rId4">
            <a:alphaModFix/>
          </a:blip>
          <a:srcRect b="4662" l="0" r="0" t="0"/>
          <a:stretch/>
        </p:blipFill>
        <p:spPr>
          <a:xfrm>
            <a:off x="6052939" y="2226900"/>
            <a:ext cx="2016549" cy="2916598"/>
          </a:xfrm>
          <a:prstGeom prst="rect">
            <a:avLst/>
          </a:prstGeom>
          <a:noFill/>
          <a:ln>
            <a:noFill/>
          </a:ln>
        </p:spPr>
      </p:pic>
      <p:sp>
        <p:nvSpPr>
          <p:cNvPr id="392" name="Google Shape;392;p44"/>
          <p:cNvSpPr/>
          <p:nvPr/>
        </p:nvSpPr>
        <p:spPr>
          <a:xfrm>
            <a:off x="6748525" y="106650"/>
            <a:ext cx="1299900" cy="255300"/>
          </a:xfrm>
          <a:prstGeom prst="rect">
            <a:avLst/>
          </a:prstGeom>
          <a:solidFill>
            <a:srgbClr val="FEFDFE"/>
          </a:solidFill>
          <a:ln cap="flat" cmpd="sng" w="9525">
            <a:solidFill>
              <a:srgbClr val="FEFE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3" name="Google Shape;393;p44"/>
          <p:cNvSpPr/>
          <p:nvPr/>
        </p:nvSpPr>
        <p:spPr>
          <a:xfrm>
            <a:off x="327700" y="1054150"/>
            <a:ext cx="2360400" cy="4863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94" name="Google Shape;394;p44" title="compass_locationLogo.png"/>
          <p:cNvPicPr preferRelativeResize="0"/>
          <p:nvPr/>
        </p:nvPicPr>
        <p:blipFill>
          <a:blip r:embed="rId5">
            <a:alphaModFix/>
          </a:blip>
          <a:stretch>
            <a:fillRect/>
          </a:stretch>
        </p:blipFill>
        <p:spPr>
          <a:xfrm>
            <a:off x="369450" y="1043400"/>
            <a:ext cx="1880627" cy="4863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61"/>
          <p:cNvSpPr/>
          <p:nvPr/>
        </p:nvSpPr>
        <p:spPr>
          <a:xfrm>
            <a:off x="369825" y="3703320"/>
            <a:ext cx="3017520" cy="323100"/>
          </a:xfrm>
          <a:prstGeom prst="roundRect">
            <a:avLst>
              <a:gd fmla="val 13957" name="adj"/>
            </a:avLst>
          </a:prstGeom>
          <a:solidFill>
            <a:schemeClr val="lt2"/>
          </a:solidFill>
          <a:ln>
            <a:noFill/>
          </a:ln>
        </p:spPr>
        <p:txBody>
          <a:bodyPr anchorCtr="0" anchor="ctr" bIns="0" lIns="91425" spcFirstLastPara="1" rIns="91425" wrap="square" tIns="137150">
            <a:noAutofit/>
          </a:bodyPr>
          <a:lstStyle/>
          <a:p>
            <a:pPr indent="0" lvl="0" marL="0" rtl="0" algn="ctr">
              <a:lnSpc>
                <a:spcPct val="115000"/>
              </a:lnSpc>
              <a:spcBef>
                <a:spcPts val="0"/>
              </a:spcBef>
              <a:spcAft>
                <a:spcPts val="1000"/>
              </a:spcAft>
              <a:buNone/>
            </a:pPr>
            <a:r>
              <a:rPr b="1" lang="en" sz="1050">
                <a:solidFill>
                  <a:srgbClr val="FFFFFF"/>
                </a:solidFill>
                <a:latin typeface="Google Sans"/>
                <a:ea typeface="Google Sans"/>
                <a:cs typeface="Google Sans"/>
                <a:sym typeface="Google Sans"/>
              </a:rPr>
              <a:t>Worksheet: tracks/local-impact.md</a:t>
            </a:r>
          </a:p>
        </p:txBody>
      </p:sp>
      <p:sp>
        <p:nvSpPr>
          <p:cNvPr id="601" name="Google Shape;601;p61"/>
          <p:cNvSpPr txBox="1"/>
          <p:nvPr/>
        </p:nvSpPr>
        <p:spPr>
          <a:xfrm>
            <a:off x="369450" y="1551350"/>
            <a:ext cx="3749039" cy="192024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0"/>
              </a:spcAft>
              <a:buNone/>
            </a:pPr>
            <a:r>
              <a:rPr lang="en" sz="1600">
                <a:solidFill>
                  <a:schemeClr val="dk1"/>
                </a:solidFill>
                <a:latin typeface="Google Sans SemiBold"/>
                <a:ea typeface="Google Sans SemiBold"/>
                <a:cs typeface="Google Sans SemiBold"/>
                <a:sym typeface="Google Sans SemiBold"/>
              </a:rPr>
              <a:t>Build something that makes life measurably better for people in Ann Arbor and Washtenaw County.</a:t>
            </a:r>
          </a:p>
          <a:p>
            <a:pPr indent="0" lvl="0" marL="0" rtl="0" algn="l">
              <a:lnSpc>
                <a:spcPct val="130000"/>
              </a:lnSpc>
              <a:spcBef>
                <a:spcPts val="1000"/>
              </a:spcBef>
              <a:spcAft>
                <a:spcPts val="1000"/>
              </a:spcAft>
              <a:buNone/>
            </a:pPr>
            <a:r>
              <a:rPr lang="en" sz="1300">
                <a:solidFill>
                  <a:srgbClr val="5F6368"/>
                </a:solidFill>
                <a:latin typeface="Google Sans"/>
                <a:ea typeface="Google Sans"/>
                <a:cs typeface="Google Sans"/>
                <a:sym typeface="Google Sans"/>
              </a:rPr>
              <a:t>The one rule: talk to someone who has the problem. Judges will ask who you built it for, and “everyone” is the wrong answer.</a:t>
            </a:r>
          </a:p>
        </p:txBody>
      </p:sp>
      <p:sp>
        <p:nvSpPr>
          <p:cNvPr id="602" name="Google Shape;602;p61"/>
          <p:cNvSpPr txBox="1"/>
          <p:nvPr/>
        </p:nvSpPr>
        <p:spPr>
          <a:xfrm>
            <a:off x="4572000" y="1551350"/>
            <a:ext cx="3931920" cy="2833200"/>
          </a:xfrm>
          <a:prstGeom prst="rect">
            <a:avLst/>
          </a:prstGeom>
          <a:noFill/>
          <a:ln>
            <a:noFill/>
          </a:ln>
        </p:spPr>
        <p:txBody>
          <a:bodyPr anchorCtr="0" anchor="t" bIns="0" lIns="0" spcFirstLastPara="1" rIns="0" wrap="square" tIns="0">
            <a:noAutofit/>
          </a:bodyPr>
          <a:lstStyle/>
          <a:p>
            <a:pPr indent="-207150" lvl="0" marL="269999" rtl="0" algn="l">
              <a:lnSpc>
                <a:spcPct val="130000"/>
              </a:lnSpc>
              <a:spcBef>
                <a:spcPts val="0"/>
              </a:spcBef>
              <a:spcAft>
                <a:spcPts val="0"/>
              </a:spcAft>
              <a:buClr>
                <a:schemeClr val="lt2"/>
              </a:buClr>
              <a:buSzPts val="900"/>
              <a:buFont typeface="Google Sans"/>
              <a:buChar char="●"/>
            </a:pPr>
            <a:r>
              <a:rPr lang="en" sz="1300" b="1">
                <a:solidFill>
                  <a:srgbClr val="5F6368"/>
                </a:solidFill>
                <a:latin typeface="Google Sans"/>
                <a:ea typeface="Google Sans"/>
                <a:cs typeface="Google Sans"/>
                <a:sym typeface="Google Sans"/>
              </a:rPr>
              <a:t>Getting around: </a:t>
            </a:r>
            <a:r>
              <a:rPr lang="en" sz="1300">
                <a:solidFill>
                  <a:srgbClr val="5F6368"/>
                </a:solidFill>
                <a:latin typeface="Google Sans"/>
                <a:ea typeface="Google Sans"/>
                <a:cs typeface="Google Sans"/>
                <a:sym typeface="Google Sans"/>
              </a:rPr>
              <a:t>transit, parking, biking, the last mile</a:t>
            </a:r>
          </a:p>
          <a:p>
            <a:pPr indent="-207150" lvl="0" marL="269999" rtl="0" algn="l">
              <a:lnSpc>
                <a:spcPct val="130000"/>
              </a:lnSpc>
              <a:spcBef>
                <a:spcPts val="0"/>
              </a:spcBef>
              <a:spcAft>
                <a:spcPts val="0"/>
              </a:spcAft>
              <a:buClr>
                <a:schemeClr val="lt2"/>
              </a:buClr>
              <a:buSzPts val="900"/>
              <a:buFont typeface="Google Sans"/>
              <a:buChar char="●"/>
            </a:pPr>
            <a:r>
              <a:rPr lang="en" sz="1300" b="1">
                <a:solidFill>
                  <a:srgbClr val="5F6368"/>
                </a:solidFill>
                <a:latin typeface="Google Sans"/>
                <a:ea typeface="Google Sans"/>
                <a:cs typeface="Google Sans"/>
                <a:sym typeface="Google Sans"/>
              </a:rPr>
              <a:t>Main Street: </a:t>
            </a:r>
            <a:r>
              <a:rPr lang="en" sz="1300">
                <a:solidFill>
                  <a:srgbClr val="5F6368"/>
                </a:solidFill>
                <a:latin typeface="Google Sans"/>
                <a:ea typeface="Google Sans"/>
                <a:cs typeface="Google Sans"/>
                <a:sym typeface="Google Sans"/>
              </a:rPr>
              <a:t>help local businesses reach passersby</a:t>
            </a:r>
          </a:p>
          <a:p>
            <a:pPr indent="-207150" lvl="0" marL="269999" rtl="0" algn="l">
              <a:lnSpc>
                <a:spcPct val="130000"/>
              </a:lnSpc>
              <a:spcBef>
                <a:spcPts val="0"/>
              </a:spcBef>
              <a:spcAft>
                <a:spcPts val="0"/>
              </a:spcAft>
              <a:buClr>
                <a:schemeClr val="lt2"/>
              </a:buClr>
              <a:buSzPts val="900"/>
              <a:buFont typeface="Google Sans"/>
              <a:buChar char="●"/>
            </a:pPr>
            <a:r>
              <a:rPr lang="en" sz="1300" b="1">
                <a:solidFill>
                  <a:srgbClr val="5F6368"/>
                </a:solidFill>
                <a:latin typeface="Google Sans"/>
                <a:ea typeface="Google Sans"/>
                <a:cs typeface="Google Sans"/>
                <a:sym typeface="Google Sans"/>
              </a:rPr>
              <a:t>Showing up: </a:t>
            </a:r>
            <a:r>
              <a:rPr lang="en" sz="1300">
                <a:solidFill>
                  <a:srgbClr val="5F6368"/>
                </a:solidFill>
                <a:latin typeface="Google Sans"/>
                <a:ea typeface="Google Sans"/>
                <a:cs typeface="Google Sans"/>
                <a:sym typeface="Google Sans"/>
              </a:rPr>
              <a:t>connect volunteers, mentors, donors</a:t>
            </a:r>
          </a:p>
          <a:p>
            <a:pPr indent="-207150" lvl="0" marL="269999" rtl="0" algn="l">
              <a:lnSpc>
                <a:spcPct val="130000"/>
              </a:lnSpc>
              <a:spcBef>
                <a:spcPts val="0"/>
              </a:spcBef>
              <a:spcAft>
                <a:spcPts val="0"/>
              </a:spcAft>
              <a:buClr>
                <a:schemeClr val="lt2"/>
              </a:buClr>
              <a:buSzPts val="900"/>
              <a:buFont typeface="Google Sans"/>
              <a:buChar char="●"/>
            </a:pPr>
            <a:r>
              <a:rPr lang="en" sz="1300" b="1">
                <a:solidFill>
                  <a:srgbClr val="5F6368"/>
                </a:solidFill>
                <a:latin typeface="Google Sans"/>
                <a:ea typeface="Google Sans"/>
                <a:cs typeface="Google Sans"/>
                <a:sym typeface="Google Sans"/>
              </a:rPr>
              <a:t>Access: </a:t>
            </a:r>
            <a:r>
              <a:rPr lang="en" sz="1300">
                <a:solidFill>
                  <a:srgbClr val="5F6368"/>
                </a:solidFill>
                <a:latin typeface="Google Sans"/>
                <a:ea typeface="Google Sans"/>
                <a:cs typeface="Google Sans"/>
                <a:sym typeface="Google Sans"/>
              </a:rPr>
              <a:t>food, housing, benefits, childcare</a:t>
            </a:r>
          </a:p>
          <a:p>
            <a:pPr indent="-207150" lvl="0" marL="269999" rtl="0" algn="l">
              <a:lnSpc>
                <a:spcPct val="130000"/>
              </a:lnSpc>
              <a:spcBef>
                <a:spcPts val="0"/>
              </a:spcBef>
              <a:spcAft>
                <a:spcPts val="0"/>
              </a:spcAft>
              <a:buClr>
                <a:schemeClr val="lt2"/>
              </a:buClr>
              <a:buSzPts val="900"/>
              <a:buFont typeface="Google Sans"/>
              <a:buChar char="●"/>
            </a:pPr>
            <a:r>
              <a:rPr lang="en" sz="1300" b="1">
                <a:solidFill>
                  <a:srgbClr val="5F6368"/>
                </a:solidFill>
                <a:latin typeface="Google Sans"/>
                <a:ea typeface="Google Sans"/>
                <a:cs typeface="Google Sans"/>
                <a:sym typeface="Google Sans"/>
              </a:rPr>
              <a:t>Civic clarity: </a:t>
            </a:r>
            <a:r>
              <a:rPr lang="en" sz="1300">
                <a:solidFill>
                  <a:srgbClr val="5F6368"/>
                </a:solidFill>
                <a:latin typeface="Google Sans"/>
                <a:ea typeface="Google Sans"/>
                <a:cs typeface="Google Sans"/>
                <a:sym typeface="Google Sans"/>
              </a:rPr>
              <a:t>make local data and decisions legible</a:t>
            </a:r>
          </a:p>
          <a:p>
            <a:pPr indent="-207150" lvl="0" marL="269999" rtl="0" algn="l">
              <a:lnSpc>
                <a:spcPct val="130000"/>
              </a:lnSpc>
              <a:spcBef>
                <a:spcPts val="0"/>
              </a:spcBef>
              <a:spcAft>
                <a:spcPts val="0"/>
              </a:spcAft>
              <a:buClr>
                <a:schemeClr val="lt2"/>
              </a:buClr>
              <a:buSzPts val="900"/>
              <a:buFont typeface="Google Sans"/>
              <a:buChar char="●"/>
            </a:pPr>
            <a:r>
              <a:rPr lang="en" sz="1300" b="1">
                <a:solidFill>
                  <a:srgbClr val="5F6368"/>
                </a:solidFill>
                <a:latin typeface="Google Sans"/>
                <a:ea typeface="Google Sans"/>
                <a:cs typeface="Google Sans"/>
                <a:sym typeface="Google Sans"/>
              </a:rPr>
              <a:t>Belonging: </a:t>
            </a:r>
            <a:r>
              <a:rPr lang="en" sz="1300">
                <a:solidFill>
                  <a:srgbClr val="5F6368"/>
                </a:solidFill>
                <a:latin typeface="Google Sans"/>
                <a:ea typeface="Google Sans"/>
                <a:cs typeface="Google Sans"/>
                <a:sym typeface="Google Sans"/>
              </a:rPr>
              <a:t>help people find each other</a:t>
            </a:r>
          </a:p>
        </p:txBody>
      </p:sp>
      <p:sp>
        <p:nvSpPr>
          <p:cNvPr id="603" name="Google Shape;603;p61"/>
          <p:cNvSpPr txBox="1"/>
          <p:nvPr/>
        </p:nvSpPr>
        <p:spPr>
          <a:xfrm>
            <a:off x="369825" y="360735"/>
            <a:ext cx="6879000" cy="6483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b="1" lang="en" sz="3400">
                <a:solidFill>
                  <a:schemeClr val="lt2"/>
                </a:solidFill>
                <a:latin typeface="Google Sans"/>
                <a:ea typeface="Google Sans"/>
                <a:cs typeface="Google Sans"/>
                <a:sym typeface="Google Sans"/>
              </a:rPr>
              <a:t>Local Impact Track</a:t>
            </a:r>
          </a:p>
        </p:txBody>
      </p:sp>
      <p:sp>
        <p:nvSpPr>
          <p:cNvPr id="604" name="Google Shape;604;p61"/>
          <p:cNvSpPr/>
          <p:nvPr/>
        </p:nvSpPr>
        <p:spPr>
          <a:xfrm>
            <a:off x="335650" y="4786175"/>
            <a:ext cx="1092600" cy="2262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05" name="Google Shape;605;p61" title="compass_locationLogo.png"/>
          <p:cNvPicPr preferRelativeResize="0"/>
          <p:nvPr/>
        </p:nvPicPr>
        <p:blipFill>
          <a:blip r:embed="rId3">
            <a:alphaModFix/>
          </a:blip>
          <a:stretch>
            <a:fillRect/>
          </a:stretch>
        </p:blipFill>
        <p:spPr>
          <a:xfrm>
            <a:off x="311747" y="4681275"/>
            <a:ext cx="1423650" cy="368125"/>
          </a:xfrm>
          <a:prstGeom prst="rect">
            <a:avLst/>
          </a:prstGeom>
          <a:noFill/>
          <a:ln>
            <a:noFill/>
          </a:ln>
        </p:spPr>
      </p:pic>
      <p:sp>
        <p:nvSpPr>
          <p:cNvPr id="606" name="Google Shape;606;p61"/>
          <p:cNvSpPr/>
          <p:nvPr/>
        </p:nvSpPr>
        <p:spPr>
          <a:xfrm>
            <a:off x="7552500" y="105200"/>
            <a:ext cx="1299900" cy="2553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72"/>
          <p:cNvSpPr/>
          <p:nvPr/>
        </p:nvSpPr>
        <p:spPr>
          <a:xfrm flipH="1">
            <a:off x="4206240" y="1551350"/>
            <a:ext cx="4937760" cy="414600"/>
          </a:xfrm>
          <a:prstGeom prst="round1Rect">
            <a:avLst>
              <a:gd fmla="val 30789"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742" name="Google Shape;742;p72"/>
          <p:cNvGraphicFramePr/>
          <p:nvPr/>
        </p:nvGraphicFramePr>
        <p:xfrm>
          <a:off x="4206240" y="1598737"/>
          <a:ext cx="4937760" cy="2743200"/>
        </p:xfrm>
        <a:graphic>
          <a:graphicData uri="http://schemas.openxmlformats.org/drawingml/2006/table">
            <a:tbl>
              <a:tblPr>
                <a:noFill/>
                <a:tableStyleId>{6A485A1E-F273-48A9-B2FF-19F534683799}</a:tableStyleId>
              </a:tblPr>
              <a:tblGrid>
                <a:gridCol w="1325880"/>
                <a:gridCol w="548640"/>
                <a:gridCol w="3063240"/>
              </a:tblGrid>
              <a:tr h="329184">
                <a:tc>
                  <a:txBody>
                    <a:bodyPr/>
                    <a:lstStyle/>
                    <a:p>
                      <a:pPr indent="0" lvl="0" marL="0" rtl="0" algn="l">
                        <a:spcBef>
                          <a:spcPts val="0"/>
                        </a:spcBef>
                        <a:spcAft>
                          <a:spcPts val="0"/>
                        </a:spcAft>
                        <a:buNone/>
                      </a:pPr>
                      <a:r>
                        <a:rPr b="1" lang="en" sz="1100">
                          <a:solidFill>
                            <a:schemeClr val="dk2"/>
                          </a:solidFill>
                          <a:latin typeface="Google Sans"/>
                          <a:ea typeface="Google Sans"/>
                          <a:cs typeface="Google Sans"/>
                          <a:sym typeface="Google Sans"/>
                        </a:rPr>
                        <a:t>Criterion</a:t>
                      </a:r>
                      <a:endParaRPr b="1" sz="1200">
                        <a:solidFill>
                          <a:schemeClr val="dk2"/>
                        </a:solidFill>
                        <a:latin typeface="Google Sans"/>
                        <a:ea typeface="Google Sans"/>
                        <a:cs typeface="Google Sans"/>
                        <a:sym typeface="Google Sans"/>
                      </a:endParaRPr>
                    </a:p>
                  </a:txBody>
                  <a:tcPr marT="91425" marB="91425" marR="91425" marL="126000">
                    <a:lnL cap="flat" cmpd="sng" w="19050">
                      <a:solidFill>
                        <a:srgbClr val="34A853">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34A853">
                          <a:alpha val="0"/>
                        </a:srgbClr>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en" sz="1100">
                          <a:solidFill>
                            <a:schemeClr val="dk2"/>
                          </a:solidFill>
                          <a:latin typeface="Google Sans"/>
                          <a:ea typeface="Google Sans"/>
                          <a:cs typeface="Google Sans"/>
                          <a:sym typeface="Google Sans"/>
                        </a:rPr>
                        <a:t>Pts</a:t>
                      </a:r>
                      <a:endParaRPr b="1" sz="1200">
                        <a:solidFill>
                          <a:schemeClr val="dk2"/>
                        </a:solidFill>
                        <a:latin typeface="Google Sans"/>
                        <a:ea typeface="Google Sans"/>
                        <a:cs typeface="Google Sans"/>
                        <a:sym typeface="Google Sans"/>
                      </a:endParaRPr>
                    </a:p>
                  </a:txBody>
                  <a:tcPr marT="91425" marB="91425" marR="91425" marL="137150">
                    <a:lnL cap="flat" cmpd="sng" w="9525">
                      <a:solidFill>
                        <a:srgbClr val="9E9E9E">
                          <a:alpha val="0"/>
                        </a:srgbClr>
                      </a:solidFill>
                      <a:prstDash val="solid"/>
                      <a:round/>
                      <a:headEnd len="sm" w="sm" type="none"/>
                      <a:tailEnd len="sm" w="sm" type="none"/>
                    </a:lnL>
                    <a:lnR cap="flat" cmpd="sng" w="9525">
                      <a:solidFill>
                        <a:srgbClr val="34A853">
                          <a:alpha val="0"/>
                        </a:srgbClr>
                      </a:solidFill>
                      <a:prstDash val="solid"/>
                      <a:round/>
                      <a:headEnd len="sm" w="sm" type="none"/>
                      <a:tailEnd len="sm" w="sm" type="none"/>
                    </a:lnR>
                    <a:lnT cap="flat" cmpd="sng" w="19050">
                      <a:solidFill>
                        <a:srgbClr val="34A853">
                          <a:alpha val="0"/>
                        </a:srgbClr>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chemeClr val="dk2"/>
                          </a:solidFill>
                          <a:latin typeface="Google Sans"/>
                          <a:ea typeface="Google Sans"/>
                          <a:cs typeface="Google Sans"/>
                          <a:sym typeface="Google Sans"/>
                        </a:rPr>
                        <a:t>Ask yourself</a:t>
                      </a:r>
                      <a:endParaRPr b="1" sz="1200">
                        <a:solidFill>
                          <a:schemeClr val="dk2"/>
                        </a:solidFill>
                        <a:latin typeface="Google Sans"/>
                        <a:ea typeface="Google Sans"/>
                        <a:cs typeface="Google Sans"/>
                        <a:sym typeface="Google Sans"/>
                      </a:endParaRPr>
                    </a:p>
                  </a:txBody>
                  <a:tcPr marT="91425" marB="91425" marR="91425" marL="137150">
                    <a:lnL cap="flat" cmpd="sng" w="9525">
                      <a:solidFill>
                        <a:srgbClr val="34A853">
                          <a:alpha val="0"/>
                        </a:srgbClr>
                      </a:solidFill>
                      <a:prstDash val="solid"/>
                      <a:round/>
                      <a:headEnd len="sm" w="sm" type="none"/>
                      <a:tailEnd len="sm" w="sm" type="none"/>
                    </a:lnL>
                    <a:lnR cap="flat" cmpd="sng" w="9525">
                      <a:solidFill>
                        <a:srgbClr val="34A853">
                          <a:alpha val="0"/>
                        </a:srgbClr>
                      </a:solidFill>
                      <a:prstDash val="solid"/>
                      <a:round/>
                      <a:headEnd len="sm" w="sm" type="none"/>
                      <a:tailEnd len="sm" w="sm" type="none"/>
                    </a:lnR>
                    <a:lnT cap="flat" cmpd="sng" w="19050">
                      <a:solidFill>
                        <a:srgbClr val="CEEAD6">
                          <a:alpha val="0"/>
                        </a:srgbClr>
                      </a:solidFill>
                      <a:prstDash val="solid"/>
                      <a:round/>
                      <a:headEnd len="sm" w="sm" type="none"/>
                      <a:tailEnd len="sm" w="sm" type="none"/>
                    </a:lnT>
                    <a:lnB cap="flat" cmpd="sng" w="19050">
                      <a:solidFill>
                        <a:schemeClr val="dk2"/>
                      </a:solidFill>
                      <a:prstDash val="solid"/>
                      <a:round/>
                      <a:headEnd len="sm" w="sm" type="none"/>
                      <a:tailEnd len="sm" w="sm" type="none"/>
                    </a:lnB>
                  </a:tcPr>
                </a:tc>
              </a:tr>
              <a:tr h="402336">
                <a:tc>
                  <a:txBody>
                    <a:bodyPr/>
                    <a:lstStyle/>
                    <a:p>
                      <a:pPr indent="0" lvl="0" marL="0" rtl="0" algn="l">
                        <a:lnSpc>
                          <a:spcPct val="115000"/>
                        </a:lnSpc>
                        <a:spcBef>
                          <a:spcPts val="0"/>
                        </a:spcBef>
                        <a:spcAft>
                          <a:spcPts val="0"/>
                        </a:spcAft>
                        <a:buNone/>
                      </a:pPr>
                      <a:r>
                        <a:rPr lang="en" sz="1100">
                          <a:solidFill>
                            <a:schemeClr val="dk1"/>
                          </a:solidFill>
                          <a:latin typeface="Google Sans"/>
                          <a:ea typeface="Google Sans"/>
                          <a:cs typeface="Google Sans"/>
                          <a:sym typeface="Google Sans"/>
                        </a:rPr>
                        <a:t>Completeness</a:t>
                      </a:r>
                      <a:endParaRPr sz="900">
                        <a:solidFill>
                          <a:schemeClr val="dk1"/>
                        </a:solidFill>
                        <a:latin typeface="Google Sans"/>
                        <a:ea typeface="Google Sans"/>
                        <a:cs typeface="Google Sans"/>
                        <a:sym typeface="Google Sans"/>
                      </a:endParaRPr>
                    </a:p>
                  </a:txBody>
                  <a:tcPr marT="91425" marB="91425" marR="91425" marL="126000" anchor="ctr">
                    <a:lnL cap="flat" cmpd="sng" w="19050">
                      <a:solidFill>
                        <a:srgbClr val="E8EAED">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rgbClr val="E8EAE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dk1"/>
                          </a:solidFill>
                          <a:latin typeface="Google Sans"/>
                          <a:ea typeface="Google Sans"/>
                          <a:cs typeface="Google Sans"/>
                          <a:sym typeface="Google Sans"/>
                        </a:rPr>
                        <a:t>5</a:t>
                      </a:r>
                      <a:endParaRPr sz="900">
                        <a:solidFill>
                          <a:schemeClr val="dk1"/>
                        </a:solidFill>
                        <a:latin typeface="Google Sans"/>
                        <a:ea typeface="Google Sans"/>
                        <a:cs typeface="Google Sans"/>
                        <a:sym typeface="Google Sans"/>
                      </a:endParaRPr>
                    </a:p>
                  </a:txBody>
                  <a:tcPr marT="91425" marB="91425" marR="91425" marL="13715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rgbClr val="E8EAE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dk1"/>
                          </a:solidFill>
                          <a:latin typeface="Google Sans"/>
                          <a:ea typeface="Google Sans"/>
                          <a:cs typeface="Google Sans"/>
                          <a:sym typeface="Google Sans"/>
                        </a:rPr>
                        <a:t>Is the proof of concept complete, with IBM tech clearly applied?</a:t>
                      </a:r>
                      <a:endParaRPr sz="900">
                        <a:solidFill>
                          <a:schemeClr val="dk1"/>
                        </a:solidFill>
                        <a:latin typeface="Google Sans"/>
                        <a:ea typeface="Google Sans"/>
                        <a:cs typeface="Google Sans"/>
                        <a:sym typeface="Google Sans"/>
                      </a:endParaRPr>
                    </a:p>
                  </a:txBody>
                  <a:tcPr marT="91425" marB="91425" marR="91425" marL="13715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rgbClr val="E8EAED"/>
                      </a:solidFill>
                      <a:prstDash val="solid"/>
                      <a:round/>
                      <a:headEnd len="sm" w="sm" type="none"/>
                      <a:tailEnd len="sm" w="sm" type="none"/>
                    </a:lnB>
                  </a:tcPr>
                </a:tc>
              </a:tr>
              <a:tr h="402336">
                <a:tc>
                  <a:txBody>
                    <a:bodyPr/>
                    <a:lstStyle/>
                    <a:p>
                      <a:pPr indent="0" lvl="0" marL="0" rtl="0" algn="l">
                        <a:lnSpc>
                          <a:spcPct val="115000"/>
                        </a:lnSpc>
                        <a:spcBef>
                          <a:spcPts val="0"/>
                        </a:spcBef>
                        <a:spcAft>
                          <a:spcPts val="0"/>
                        </a:spcAft>
                        <a:buNone/>
                      </a:pPr>
                      <a:r>
                        <a:rPr lang="en" sz="1100">
                          <a:solidFill>
                            <a:schemeClr val="dk1"/>
                          </a:solidFill>
                          <a:latin typeface="Google Sans"/>
                          <a:ea typeface="Google Sans"/>
                          <a:cs typeface="Google Sans"/>
                          <a:sym typeface="Google Sans"/>
                        </a:rPr>
                        <a:t>Creativity</a:t>
                      </a:r>
                      <a:endParaRPr sz="900">
                        <a:solidFill>
                          <a:schemeClr val="dk1"/>
                        </a:solidFill>
                        <a:latin typeface="Google Sans"/>
                        <a:ea typeface="Google Sans"/>
                        <a:cs typeface="Google Sans"/>
                        <a:sym typeface="Google Sans"/>
                      </a:endParaRPr>
                    </a:p>
                  </a:txBody>
                  <a:tcPr marT="91425" marB="91425" marR="91425" marL="126000" anchor="ctr">
                    <a:lnL cap="flat" cmpd="sng" w="19050">
                      <a:solidFill>
                        <a:srgbClr val="E8EAED">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dk1"/>
                          </a:solidFill>
                          <a:latin typeface="Google Sans"/>
                          <a:ea typeface="Google Sans"/>
                          <a:cs typeface="Google Sans"/>
                          <a:sym typeface="Google Sans"/>
                        </a:rPr>
                        <a:t>5</a:t>
                      </a:r>
                      <a:endParaRPr sz="900">
                        <a:solidFill>
                          <a:schemeClr val="dk1"/>
                        </a:solidFill>
                        <a:latin typeface="Google Sans"/>
                        <a:ea typeface="Google Sans"/>
                        <a:cs typeface="Google Sans"/>
                        <a:sym typeface="Google Sans"/>
                      </a:endParaRPr>
                    </a:p>
                  </a:txBody>
                  <a:tcPr marT="91425" marB="91425" marR="91425" marL="13715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dk1"/>
                          </a:solidFill>
                          <a:latin typeface="Google Sans"/>
                          <a:ea typeface="Google Sans"/>
                          <a:cs typeface="Google Sans"/>
                          <a:sym typeface="Google Sans"/>
                        </a:rPr>
                        <a:t>Is the approach original and differentiated?</a:t>
                      </a:r>
                      <a:endParaRPr sz="900">
                        <a:solidFill>
                          <a:schemeClr val="dk1"/>
                        </a:solidFill>
                        <a:latin typeface="Google Sans"/>
                        <a:ea typeface="Google Sans"/>
                        <a:cs typeface="Google Sans"/>
                        <a:sym typeface="Google Sans"/>
                      </a:endParaRPr>
                    </a:p>
                  </a:txBody>
                  <a:tcPr marT="91425" marB="91425" marR="91425" marL="13715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r>
              <a:tr h="402336">
                <a:tc>
                  <a:txBody>
                    <a:bodyPr/>
                    <a:lstStyle/>
                    <a:p>
                      <a:pPr indent="0" lvl="0" marL="0" rtl="0" algn="l">
                        <a:lnSpc>
                          <a:spcPct val="115000"/>
                        </a:lnSpc>
                        <a:spcBef>
                          <a:spcPts val="0"/>
                        </a:spcBef>
                        <a:spcAft>
                          <a:spcPts val="0"/>
                        </a:spcAft>
                        <a:buNone/>
                      </a:pPr>
                      <a:r>
                        <a:rPr lang="en" sz="1100">
                          <a:solidFill>
                            <a:schemeClr val="dk1"/>
                          </a:solidFill>
                          <a:latin typeface="Google Sans"/>
                          <a:ea typeface="Google Sans"/>
                          <a:cs typeface="Google Sans"/>
                          <a:sym typeface="Google Sans"/>
                        </a:rPr>
                        <a:t>Design + usability</a:t>
                      </a:r>
                      <a:endParaRPr sz="900">
                        <a:solidFill>
                          <a:schemeClr val="dk1"/>
                        </a:solidFill>
                        <a:latin typeface="Google Sans"/>
                        <a:ea typeface="Google Sans"/>
                        <a:cs typeface="Google Sans"/>
                        <a:sym typeface="Google Sans"/>
                      </a:endParaRPr>
                    </a:p>
                  </a:txBody>
                  <a:tcPr marT="91425" marB="91425" marR="91425" marL="126000" anchor="ctr">
                    <a:lnL cap="flat" cmpd="sng" w="19050">
                      <a:solidFill>
                        <a:srgbClr val="E8EAED">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dk1"/>
                          </a:solidFill>
                          <a:latin typeface="Google Sans"/>
                          <a:ea typeface="Google Sans"/>
                          <a:cs typeface="Google Sans"/>
                          <a:sym typeface="Google Sans"/>
                        </a:rPr>
                        <a:t>5</a:t>
                      </a:r>
                      <a:endParaRPr sz="900">
                        <a:solidFill>
                          <a:schemeClr val="dk1"/>
                        </a:solidFill>
                        <a:latin typeface="Google Sans"/>
                        <a:ea typeface="Google Sans"/>
                        <a:cs typeface="Google Sans"/>
                        <a:sym typeface="Google Sans"/>
                      </a:endParaRPr>
                    </a:p>
                  </a:txBody>
                  <a:tcPr marT="91425" marB="91425" marR="91425" marL="13715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dk1"/>
                          </a:solidFill>
                          <a:latin typeface="Google Sans"/>
                          <a:ea typeface="Google Sans"/>
                          <a:cs typeface="Google Sans"/>
                          <a:sym typeface="Google Sans"/>
                        </a:rPr>
                        <a:t>Could real users adopt it quickly?</a:t>
                      </a:r>
                      <a:endParaRPr sz="900">
                        <a:solidFill>
                          <a:schemeClr val="dk1"/>
                        </a:solidFill>
                        <a:latin typeface="Google Sans"/>
                        <a:ea typeface="Google Sans"/>
                        <a:cs typeface="Google Sans"/>
                        <a:sym typeface="Google Sans"/>
                      </a:endParaRPr>
                    </a:p>
                  </a:txBody>
                  <a:tcPr marT="91425" marB="91425" marR="91425" marL="13715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r>
              <a:tr h="402336">
                <a:tc>
                  <a:txBody>
                    <a:bodyPr/>
                    <a:lstStyle/>
                    <a:p>
                      <a:pPr indent="0" lvl="0" marL="0" rtl="0" algn="l">
                        <a:lnSpc>
                          <a:spcPct val="115000"/>
                        </a:lnSpc>
                        <a:spcBef>
                          <a:spcPts val="0"/>
                        </a:spcBef>
                        <a:spcAft>
                          <a:spcPts val="0"/>
                        </a:spcAft>
                        <a:buNone/>
                      </a:pPr>
                      <a:r>
                        <a:rPr lang="en" sz="1100">
                          <a:solidFill>
                            <a:schemeClr val="dk1"/>
                          </a:solidFill>
                          <a:latin typeface="Google Sans"/>
                          <a:ea typeface="Google Sans"/>
                          <a:cs typeface="Google Sans"/>
                          <a:sym typeface="Google Sans"/>
                        </a:rPr>
                        <a:t>Effectiveness</a:t>
                      </a:r>
                      <a:endParaRPr sz="900">
                        <a:solidFill>
                          <a:schemeClr val="dk1"/>
                        </a:solidFill>
                        <a:latin typeface="Google Sans"/>
                        <a:ea typeface="Google Sans"/>
                        <a:cs typeface="Google Sans"/>
                        <a:sym typeface="Google Sans"/>
                      </a:endParaRPr>
                    </a:p>
                  </a:txBody>
                  <a:tcPr marT="91425" marB="91425" marR="91425" marL="126000" anchor="ctr">
                    <a:lnL cap="flat" cmpd="sng" w="19050">
                      <a:solidFill>
                        <a:srgbClr val="E8EAED">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dk1"/>
                          </a:solidFill>
                          <a:latin typeface="Google Sans"/>
                          <a:ea typeface="Google Sans"/>
                          <a:cs typeface="Google Sans"/>
                          <a:sym typeface="Google Sans"/>
                        </a:rPr>
                        <a:t>5</a:t>
                      </a:r>
                      <a:endParaRPr sz="900">
                        <a:solidFill>
                          <a:schemeClr val="dk1"/>
                        </a:solidFill>
                        <a:latin typeface="Google Sans"/>
                        <a:ea typeface="Google Sans"/>
                        <a:cs typeface="Google Sans"/>
                        <a:sym typeface="Google Sans"/>
                      </a:endParaRPr>
                    </a:p>
                  </a:txBody>
                  <a:tcPr marT="91425" marB="91425" marR="91425" marL="13715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dk1"/>
                          </a:solidFill>
                          <a:latin typeface="Google Sans"/>
                          <a:ea typeface="Google Sans"/>
                          <a:cs typeface="Google Sans"/>
                          <a:sym typeface="Google Sans"/>
                        </a:rPr>
                        <a:t>Does it solve a real priority, measurably?</a:t>
                      </a:r>
                      <a:endParaRPr sz="900">
                        <a:solidFill>
                          <a:schemeClr val="dk1"/>
                        </a:solidFill>
                        <a:latin typeface="Google Sans"/>
                        <a:ea typeface="Google Sans"/>
                        <a:cs typeface="Google Sans"/>
                        <a:sym typeface="Google Sans"/>
                      </a:endParaRPr>
                    </a:p>
                  </a:txBody>
                  <a:tcPr marT="91425" marB="91425" marR="91425" marL="13715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r>
              <a:tr h="402336">
                <a:tc>
                  <a:txBody>
                    <a:bodyPr/>
                    <a:lstStyle/>
                    <a:p>
                      <a:pPr indent="0" lvl="0" marL="0" rtl="0" algn="l">
                        <a:lnSpc>
                          <a:spcPct val="115000"/>
                        </a:lnSpc>
                        <a:spcBef>
                          <a:spcPts val="0"/>
                        </a:spcBef>
                        <a:spcAft>
                          <a:spcPts val="0"/>
                        </a:spcAft>
                        <a:buNone/>
                      </a:pPr>
                      <a:r>
                        <a:rPr lang="en" sz="1100">
                          <a:solidFill>
                            <a:schemeClr val="dk1"/>
                          </a:solidFill>
                          <a:latin typeface="Google Sans"/>
                          <a:ea typeface="Google Sans"/>
                          <a:cs typeface="Google Sans"/>
                          <a:sym typeface="Google Sans"/>
                        </a:rPr>
                        <a:t>Michigan impact</a:t>
                      </a:r>
                      <a:endParaRPr sz="900">
                        <a:solidFill>
                          <a:schemeClr val="dk1"/>
                        </a:solidFill>
                        <a:latin typeface="Google Sans"/>
                        <a:ea typeface="Google Sans"/>
                        <a:cs typeface="Google Sans"/>
                        <a:sym typeface="Google Sans"/>
                      </a:endParaRPr>
                    </a:p>
                  </a:txBody>
                  <a:tcPr marT="91425" marB="91425" marR="91425" marL="126000" anchor="ctr">
                    <a:lnL cap="flat" cmpd="sng" w="19050">
                      <a:solidFill>
                        <a:srgbClr val="E8EAED">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8EAED"/>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dk1"/>
                          </a:solidFill>
                          <a:latin typeface="Google Sans"/>
                          <a:ea typeface="Google Sans"/>
                          <a:cs typeface="Google Sans"/>
                          <a:sym typeface="Google Sans"/>
                        </a:rPr>
                        <a:t>5</a:t>
                      </a:r>
                      <a:endParaRPr sz="900">
                        <a:solidFill>
                          <a:schemeClr val="dk1"/>
                        </a:solidFill>
                        <a:latin typeface="Google Sans"/>
                        <a:ea typeface="Google Sans"/>
                        <a:cs typeface="Google Sans"/>
                        <a:sym typeface="Google Sans"/>
                      </a:endParaRPr>
                    </a:p>
                  </a:txBody>
                  <a:tcPr marT="91425" marB="91425" marR="91425" marL="13715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8EAED"/>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dk1"/>
                          </a:solidFill>
                          <a:latin typeface="Google Sans"/>
                          <a:ea typeface="Google Sans"/>
                          <a:cs typeface="Google Sans"/>
                          <a:sym typeface="Google Sans"/>
                        </a:rPr>
                        <a:t>Does it keep value, jobs, and opportunity here?</a:t>
                      </a:r>
                      <a:endParaRPr sz="900">
                        <a:solidFill>
                          <a:schemeClr val="dk1"/>
                        </a:solidFill>
                        <a:latin typeface="Google Sans"/>
                        <a:ea typeface="Google Sans"/>
                        <a:cs typeface="Google Sans"/>
                        <a:sym typeface="Google Sans"/>
                      </a:endParaRPr>
                    </a:p>
                  </a:txBody>
                  <a:tcPr marT="91425" marB="91425" marR="91425" marL="13715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8EAED"/>
                      </a:solidFill>
                      <a:prstDash val="solid"/>
                      <a:round/>
                      <a:headEnd len="sm" w="sm" type="none"/>
                      <a:tailEnd len="sm" w="sm" type="none"/>
                    </a:lnT>
                    <a:lnB cap="flat" cmpd="sng" w="19050">
                      <a:solidFill>
                        <a:schemeClr val="dk2"/>
                      </a:solidFill>
                      <a:prstDash val="solid"/>
                      <a:round/>
                      <a:headEnd len="sm" w="sm" type="none"/>
                      <a:tailEnd len="sm" w="sm" type="none"/>
                    </a:lnB>
                  </a:tcPr>
                </a:tc>
              </a:tr>
              <a:tr h="402336">
                <a:tc>
                  <a:txBody>
                    <a:bodyPr/>
                    <a:lstStyle/>
                    <a:p>
                      <a:pPr indent="0" lvl="0" marL="0" rtl="0" algn="l">
                        <a:lnSpc>
                          <a:spcPct val="115000"/>
                        </a:lnSpc>
                        <a:spcBef>
                          <a:spcPts val="0"/>
                        </a:spcBef>
                        <a:spcAft>
                          <a:spcPts val="0"/>
                        </a:spcAft>
                        <a:buNone/>
                      </a:pPr>
                      <a:r>
                        <a:rPr b="1" lang="en" sz="1100">
                          <a:solidFill>
                            <a:schemeClr val="dk1"/>
                          </a:solidFill>
                          <a:latin typeface="Google Sans"/>
                          <a:ea typeface="Google Sans"/>
                          <a:cs typeface="Google Sans"/>
                          <a:sym typeface="Google Sans"/>
                        </a:rPr>
                        <a:t>Total</a:t>
                      </a:r>
                      <a:endParaRPr b="1" sz="900">
                        <a:solidFill>
                          <a:schemeClr val="dk1"/>
                        </a:solidFill>
                        <a:latin typeface="Google Sans"/>
                        <a:ea typeface="Google Sans"/>
                        <a:cs typeface="Google Sans"/>
                        <a:sym typeface="Google Sans"/>
                      </a:endParaRPr>
                    </a:p>
                  </a:txBody>
                  <a:tcPr marT="91425" marB="91425" marR="91425" marL="126000" anchor="ctr">
                    <a:lnL cap="flat" cmpd="sng" w="19050">
                      <a:solidFill>
                        <a:srgbClr val="E8EAED">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rgbClr val="E8EAED">
                          <a:alpha val="0"/>
                        </a:srgbClr>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en" sz="1100">
                          <a:solidFill>
                            <a:schemeClr val="dk1"/>
                          </a:solidFill>
                          <a:latin typeface="Google Sans"/>
                          <a:ea typeface="Google Sans"/>
                          <a:cs typeface="Google Sans"/>
                          <a:sym typeface="Google Sans"/>
                        </a:rPr>
                        <a:t>25</a:t>
                      </a:r>
                      <a:endParaRPr b="1" sz="900">
                        <a:solidFill>
                          <a:schemeClr val="dk1"/>
                        </a:solidFill>
                        <a:latin typeface="Google Sans"/>
                        <a:ea typeface="Google Sans"/>
                        <a:cs typeface="Google Sans"/>
                        <a:sym typeface="Google Sans"/>
                      </a:endParaRPr>
                    </a:p>
                  </a:txBody>
                  <a:tcPr marT="91425" marB="91425" marR="91425" marL="13715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rgbClr val="E8EAED">
                          <a:alpha val="0"/>
                        </a:srgbClr>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en" sz="1100">
                          <a:solidFill>
                            <a:schemeClr val="dk1"/>
                          </a:solidFill>
                          <a:latin typeface="Google Sans"/>
                          <a:ea typeface="Google Sans"/>
                          <a:cs typeface="Google Sans"/>
                          <a:sym typeface="Google Sans"/>
                        </a:rPr>
                        <a:t>Average of judges’ scores</a:t>
                      </a:r>
                      <a:endParaRPr b="1" sz="900">
                        <a:solidFill>
                          <a:schemeClr val="dk1"/>
                        </a:solidFill>
                        <a:latin typeface="Google Sans"/>
                        <a:ea typeface="Google Sans"/>
                        <a:cs typeface="Google Sans"/>
                        <a:sym typeface="Google Sans"/>
                      </a:endParaRPr>
                    </a:p>
                  </a:txBody>
                  <a:tcPr marT="91425" marB="91425" marR="91425" marL="13715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rgbClr val="E8EAED">
                          <a:alpha val="0"/>
                        </a:srgbClr>
                      </a:solidFill>
                      <a:prstDash val="solid"/>
                      <a:round/>
                      <a:headEnd len="sm" w="sm" type="none"/>
                      <a:tailEnd len="sm" w="sm" type="none"/>
                    </a:lnB>
                    <a:solidFill>
                      <a:srgbClr val="FFFFFF"/>
                    </a:solidFill>
                  </a:tcPr>
                </a:tc>
              </a:tr>
            </a:tbl>
          </a:graphicData>
        </a:graphic>
      </p:graphicFrame>
      <p:sp>
        <p:nvSpPr>
          <p:cNvPr id="743" name="Google Shape;743;p72"/>
          <p:cNvSpPr txBox="1"/>
          <p:nvPr/>
        </p:nvSpPr>
        <p:spPr>
          <a:xfrm>
            <a:off x="369450" y="1625300"/>
            <a:ext cx="3566160" cy="28914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0"/>
              </a:spcAft>
              <a:buNone/>
            </a:pPr>
            <a:r>
              <a:rPr lang="en" sz="1400">
                <a:solidFill>
                  <a:schemeClr val="dk1"/>
                </a:solidFill>
                <a:latin typeface="Google Sans"/>
                <a:ea typeface="Google Sans"/>
                <a:cs typeface="Google Sans"/>
                <a:sym typeface="Google Sans"/>
              </a:rPr>
              <a:t>Five criteria, 5 points each. Your score is the average of the judges’ scores.</a:t>
            </a:r>
          </a:p>
          <a:p>
            <a:pPr indent="-207150" lvl="0" marL="269999" rtl="0" algn="l">
              <a:lnSpc>
                <a:spcPct val="130000"/>
              </a:lnSpc>
              <a:spcBef>
                <a:spcPts val="1000"/>
              </a:spcBef>
              <a:spcAft>
                <a:spcPts val="700"/>
              </a:spcAft>
              <a:buClr>
                <a:schemeClr val="dk2"/>
              </a:buClr>
              <a:buSzPts val="900"/>
              <a:buFont typeface="Google Sans"/>
              <a:buChar char="●"/>
            </a:pPr>
            <a:r>
              <a:rPr lang="en" sz="1300">
                <a:solidFill>
                  <a:schemeClr val="dk1"/>
                </a:solidFill>
                <a:latin typeface="Google Sans"/>
                <a:ea typeface="Google Sans"/>
                <a:cs typeface="Google Sans"/>
                <a:sym typeface="Google Sans"/>
              </a:rPr>
              <a:t>Local Impact Grand Prize: local relevance, technical execution, and a path to exist after the weekend</a:t>
            </a:r>
          </a:p>
          <a:p>
            <a:pPr indent="-207150" lvl="0" marL="269999" rtl="0" algn="l">
              <a:lnSpc>
                <a:spcPct val="130000"/>
              </a:lnSpc>
              <a:spcBef>
                <a:spcPts val="1000"/>
              </a:spcBef>
              <a:spcAft>
                <a:spcPts val="700"/>
              </a:spcAft>
              <a:buClr>
                <a:schemeClr val="dk2"/>
              </a:buClr>
              <a:buSzPts val="900"/>
              <a:buFont typeface="Google Sans"/>
              <a:buChar char="●"/>
            </a:pPr>
            <a:r>
              <a:rPr lang="en" sz="1300">
                <a:solidFill>
                  <a:schemeClr val="dk1"/>
                </a:solidFill>
                <a:latin typeface="Google Sans"/>
                <a:ea typeface="Google Sans"/>
                <a:cs typeface="Google Sans"/>
                <a:sym typeface="Google Sans"/>
              </a:rPr>
              <a:t>Community Favorite: the room votes</a:t>
            </a:r>
          </a:p>
        </p:txBody>
      </p:sp>
      <p:sp>
        <p:nvSpPr>
          <p:cNvPr id="744" name="Google Shape;744;p72"/>
          <p:cNvSpPr txBox="1"/>
          <p:nvPr/>
        </p:nvSpPr>
        <p:spPr>
          <a:xfrm>
            <a:off x="369450" y="1235550"/>
            <a:ext cx="3363300" cy="226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700"/>
              </a:spcAft>
              <a:buNone/>
            </a:pPr>
            <a:r>
              <a:rPr lang="en" sz="1500">
                <a:solidFill>
                  <a:schemeClr val="dk1"/>
                </a:solidFill>
                <a:latin typeface="Google Sans SemiBold"/>
                <a:ea typeface="Google Sans SemiBold"/>
                <a:cs typeface="Google Sans SemiBold"/>
                <a:sym typeface="Google Sans SemiBold"/>
              </a:rPr>
              <a:t>IBM platform rubric: 25 points</a:t>
            </a:r>
          </a:p>
        </p:txBody>
      </p:sp>
      <p:sp>
        <p:nvSpPr>
          <p:cNvPr id="745" name="Google Shape;745;p72"/>
          <p:cNvSpPr txBox="1"/>
          <p:nvPr/>
        </p:nvSpPr>
        <p:spPr>
          <a:xfrm>
            <a:off x="369825" y="360735"/>
            <a:ext cx="6879000" cy="6483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b="1" lang="en" sz="3400">
                <a:solidFill>
                  <a:schemeClr val="dk2"/>
                </a:solidFill>
                <a:latin typeface="Google Sans"/>
                <a:ea typeface="Google Sans"/>
                <a:cs typeface="Google Sans"/>
                <a:sym typeface="Google Sans"/>
              </a:rPr>
              <a:t>How you’ll be judged</a:t>
            </a:r>
          </a:p>
        </p:txBody>
      </p:sp>
      <p:sp>
        <p:nvSpPr>
          <p:cNvPr id="746" name="Google Shape;746;p72"/>
          <p:cNvSpPr/>
          <p:nvPr/>
        </p:nvSpPr>
        <p:spPr>
          <a:xfrm>
            <a:off x="335650" y="4794150"/>
            <a:ext cx="1084500" cy="2232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47" name="Google Shape;747;p72" title="compass_locationLogo.png"/>
          <p:cNvPicPr preferRelativeResize="0"/>
          <p:nvPr/>
        </p:nvPicPr>
        <p:blipFill>
          <a:blip r:embed="rId3">
            <a:alphaModFix/>
          </a:blip>
          <a:stretch>
            <a:fillRect/>
          </a:stretch>
        </p:blipFill>
        <p:spPr>
          <a:xfrm>
            <a:off x="311747" y="4681275"/>
            <a:ext cx="1423650" cy="368125"/>
          </a:xfrm>
          <a:prstGeom prst="rect">
            <a:avLst/>
          </a:prstGeom>
          <a:noFill/>
          <a:ln>
            <a:noFill/>
          </a:ln>
        </p:spPr>
      </p:pic>
      <p:sp>
        <p:nvSpPr>
          <p:cNvPr id="748" name="Google Shape;748;p72"/>
          <p:cNvSpPr/>
          <p:nvPr/>
        </p:nvSpPr>
        <p:spPr>
          <a:xfrm>
            <a:off x="7552500" y="105200"/>
            <a:ext cx="1299900" cy="2553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6"/>
          <p:cNvSpPr/>
          <p:nvPr/>
        </p:nvSpPr>
        <p:spPr>
          <a:xfrm rot="5400000">
            <a:off x="1907800" y="-1922600"/>
            <a:ext cx="4486200" cy="8316300"/>
          </a:xfrm>
          <a:prstGeom prst="round1Rect">
            <a:avLst>
              <a:gd fmla="val 7834"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46"/>
          <p:cNvSpPr txBox="1"/>
          <p:nvPr/>
        </p:nvSpPr>
        <p:spPr>
          <a:xfrm>
            <a:off x="369450" y="1718218"/>
            <a:ext cx="1005000" cy="7305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000"/>
              </a:spcAft>
              <a:buNone/>
            </a:pPr>
            <a:r>
              <a:rPr b="1" lang="en" sz="5600">
                <a:solidFill>
                  <a:schemeClr val="lt2"/>
                </a:solidFill>
                <a:latin typeface="Google Sans"/>
                <a:ea typeface="Google Sans"/>
                <a:cs typeface="Google Sans"/>
                <a:sym typeface="Google Sans"/>
              </a:rPr>
              <a:t>02</a:t>
            </a:r>
          </a:p>
        </p:txBody>
      </p:sp>
      <p:sp>
        <p:nvSpPr>
          <p:cNvPr id="414" name="Google Shape;414;p46"/>
          <p:cNvSpPr txBox="1"/>
          <p:nvPr/>
        </p:nvSpPr>
        <p:spPr>
          <a:xfrm>
            <a:off x="1663653" y="1715225"/>
            <a:ext cx="4297680" cy="1245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000"/>
              </a:spcAft>
              <a:buNone/>
            </a:pPr>
            <a:r>
              <a:rPr b="1" lang="en" sz="3600">
                <a:solidFill>
                  <a:schemeClr val="dk1"/>
                </a:solidFill>
                <a:latin typeface="Google Sans"/>
                <a:ea typeface="Google Sans"/>
                <a:cs typeface="Google Sans"/>
                <a:sym typeface="Google Sans"/>
              </a:rPr>
              <a:t>IBM: register, </a:t>
            </a:r>
            <a:r>
              <a:rPr b="1" lang="en" sz="3600">
                <a:solidFill>
                  <a:schemeClr val="dk1"/>
                </a:solidFill>
                <a:latin typeface="Google Sans"/>
                <a:ea typeface="Google Sans"/>
                <a:cs typeface="Google Sans"/>
                <a:sym typeface="Google Sans"/>
              </a:rPr>
              <a:t>team, learn</a:t>
            </a:r>
          </a:p>
        </p:txBody>
      </p:sp>
      <p:pic>
        <p:nvPicPr>
          <p:cNvPr id="415" name="Google Shape;415;p46"/>
          <p:cNvPicPr preferRelativeResize="0"/>
          <p:nvPr/>
        </p:nvPicPr>
        <p:blipFill rotWithShape="1">
          <a:blip r:embed="rId3">
            <a:alphaModFix/>
          </a:blip>
          <a:srcRect b="32898" l="11839" r="11831" t="32898"/>
          <a:stretch/>
        </p:blipFill>
        <p:spPr>
          <a:xfrm>
            <a:off x="416713" y="1160596"/>
            <a:ext cx="2190879" cy="292900"/>
          </a:xfrm>
          <a:prstGeom prst="rect">
            <a:avLst/>
          </a:prstGeom>
          <a:noFill/>
          <a:ln>
            <a:noFill/>
          </a:ln>
        </p:spPr>
      </p:pic>
      <p:sp>
        <p:nvSpPr>
          <p:cNvPr id="416" name="Google Shape;416;p46"/>
          <p:cNvSpPr txBox="1"/>
          <p:nvPr/>
        </p:nvSpPr>
        <p:spPr>
          <a:xfrm>
            <a:off x="6463218" y="180000"/>
            <a:ext cx="1585200" cy="10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700">
                <a:solidFill>
                  <a:srgbClr val="B7B7B7"/>
                </a:solidFill>
                <a:latin typeface="Google Sans"/>
                <a:ea typeface="Google Sans"/>
                <a:cs typeface="Google Sans"/>
                <a:sym typeface="Google Sans"/>
              </a:rPr>
              <a:t/>
            </a:r>
            <a:endParaRPr sz="700">
              <a:solidFill>
                <a:srgbClr val="B7B7B7"/>
              </a:solidFill>
              <a:latin typeface="Google Sans"/>
              <a:ea typeface="Google Sans"/>
              <a:cs typeface="Google Sans"/>
              <a:sym typeface="Google Sans"/>
            </a:endParaRPr>
          </a:p>
        </p:txBody>
      </p:sp>
      <p:pic>
        <p:nvPicPr>
          <p:cNvPr id="417" name="Google Shape;417;p46"/>
          <p:cNvPicPr preferRelativeResize="0"/>
          <p:nvPr/>
        </p:nvPicPr>
        <p:blipFill rotWithShape="1">
          <a:blip r:embed="rId4">
            <a:alphaModFix/>
          </a:blip>
          <a:srcRect b="0" l="0" r="0" t="0"/>
          <a:stretch/>
        </p:blipFill>
        <p:spPr>
          <a:xfrm>
            <a:off x="6076275" y="2716675"/>
            <a:ext cx="2670925" cy="2346202"/>
          </a:xfrm>
          <a:prstGeom prst="rect">
            <a:avLst/>
          </a:prstGeom>
          <a:noFill/>
          <a:ln>
            <a:noFill/>
          </a:ln>
        </p:spPr>
      </p:pic>
      <p:sp>
        <p:nvSpPr>
          <p:cNvPr id="418" name="Google Shape;418;p46"/>
          <p:cNvSpPr/>
          <p:nvPr/>
        </p:nvSpPr>
        <p:spPr>
          <a:xfrm>
            <a:off x="6748525" y="106650"/>
            <a:ext cx="1299900" cy="255300"/>
          </a:xfrm>
          <a:prstGeom prst="rect">
            <a:avLst/>
          </a:prstGeom>
          <a:solidFill>
            <a:srgbClr val="FEFDFE"/>
          </a:solidFill>
          <a:ln cap="flat" cmpd="sng" w="9525">
            <a:solidFill>
              <a:srgbClr val="FEFE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9" name="Google Shape;419;p46"/>
          <p:cNvSpPr/>
          <p:nvPr/>
        </p:nvSpPr>
        <p:spPr>
          <a:xfrm>
            <a:off x="327700" y="1054150"/>
            <a:ext cx="2360400" cy="4863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20" name="Google Shape;420;p46" title="compass_locationLogo.png"/>
          <p:cNvPicPr preferRelativeResize="0"/>
          <p:nvPr/>
        </p:nvPicPr>
        <p:blipFill>
          <a:blip r:embed="rId5">
            <a:alphaModFix/>
          </a:blip>
          <a:stretch>
            <a:fillRect/>
          </a:stretch>
        </p:blipFill>
        <p:spPr>
          <a:xfrm>
            <a:off x="369450" y="1043400"/>
            <a:ext cx="1880627" cy="4863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70"/>
          <p:cNvSpPr/>
          <p:nvPr/>
        </p:nvSpPr>
        <p:spPr>
          <a:xfrm>
            <a:off x="369825" y="4114800"/>
            <a:ext cx="1737360" cy="323100"/>
          </a:xfrm>
          <a:prstGeom prst="roundRect">
            <a:avLst>
              <a:gd fmla="val 13957" name="adj"/>
            </a:avLst>
          </a:prstGeom>
          <a:solidFill>
            <a:schemeClr val="lt2"/>
          </a:solidFill>
          <a:ln>
            <a:noFill/>
          </a:ln>
        </p:spPr>
        <p:txBody>
          <a:bodyPr anchorCtr="0" anchor="ctr" bIns="0" lIns="91425" spcFirstLastPara="1" rIns="91425" wrap="square" tIns="137150">
            <a:noAutofit/>
          </a:bodyPr>
          <a:lstStyle/>
          <a:p>
            <a:pPr indent="0" lvl="0" marL="0" rtl="0" algn="ctr">
              <a:lnSpc>
                <a:spcPct val="115000"/>
              </a:lnSpc>
              <a:spcBef>
                <a:spcPts val="0"/>
              </a:spcBef>
              <a:spcAft>
                <a:spcPts val="1000"/>
              </a:spcAft>
              <a:buNone/>
            </a:pPr>
            <a:r>
              <a:rPr b="1" lang="en" sz="1100">
                <a:solidFill>
                  <a:srgbClr val="FFFFFF"/>
                </a:solidFill>
                <a:latin typeface="Google Sans"/>
                <a:ea typeface="Google Sans"/>
                <a:cs typeface="Google Sans"/>
                <a:sym typeface="Google Sans"/>
              </a:rPr>
              <a:t>Scan to register</a:t>
            </a:r>
          </a:p>
        </p:txBody>
      </p:sp>
      <p:sp>
        <p:nvSpPr>
          <p:cNvPr id="718" name="Google Shape;718;p70"/>
          <p:cNvSpPr txBox="1"/>
          <p:nvPr/>
        </p:nvSpPr>
        <p:spPr>
          <a:xfrm>
            <a:off x="369450" y="1188720"/>
            <a:ext cx="3840480" cy="265176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600"/>
              </a:spcBef>
              <a:spcAft>
                <a:spcPts val="200"/>
              </a:spcAft>
              <a:buNone/>
            </a:pPr>
            <a:r>
              <a:rPr lang="en" sz="1500">
                <a:solidFill>
                  <a:schemeClr val="dk1"/>
                </a:solidFill>
                <a:latin typeface="Google Sans Medium"/>
                <a:ea typeface="Google Sans Medium"/>
                <a:cs typeface="Google Sans Medium"/>
                <a:sym typeface="Google Sans Medium"/>
              </a:rPr>
              <a:t>ibm.biz/a2tech360 is your home for IBM cloud accounts, education, and teams.</a:t>
            </a:r>
          </a:p>
          <a:p>
            <a:pPr indent="0" lvl="0" marL="0" rtl="0" algn="l">
              <a:lnSpc>
                <a:spcPct val="130000"/>
              </a:lnSpc>
              <a:spcBef>
                <a:spcPts val="600"/>
              </a:spcBef>
              <a:spcAft>
                <a:spcPts val="200"/>
              </a:spcAft>
              <a:buNone/>
            </a:pPr>
            <a:r>
              <a:rPr lang="en" sz="1300">
                <a:solidFill>
                  <a:schemeClr val="dk1"/>
                </a:solidFill>
                <a:latin typeface="Google Sans"/>
                <a:ea typeface="Google Sans"/>
                <a:cs typeface="Google Sans"/>
                <a:sym typeface="Google Sans"/>
              </a:rPr>
              <a:t>1. Register or sign in with IBMid (university or company email).</a:t>
            </a:r>
          </a:p>
          <a:p>
            <a:pPr indent="0" lvl="0" marL="0" rtl="0" algn="l">
              <a:lnSpc>
                <a:spcPct val="130000"/>
              </a:lnSpc>
              <a:spcBef>
                <a:spcPts val="600"/>
              </a:spcBef>
              <a:spcAft>
                <a:spcPts val="200"/>
              </a:spcAft>
              <a:buNone/>
            </a:pPr>
            <a:r>
              <a:rPr lang="en" sz="1300">
                <a:solidFill>
                  <a:schemeClr val="dk1"/>
                </a:solidFill>
                <a:latin typeface="Google Sans"/>
                <a:ea typeface="Google Sans"/>
                <a:cs typeface="Google Sans"/>
                <a:sym typeface="Google Sans"/>
              </a:rPr>
              <a:t>2. Explore Details, My Team, Education, and Schedule.</a:t>
            </a:r>
          </a:p>
          <a:p>
            <a:pPr indent="0" lvl="0" marL="0" rtl="0" algn="l">
              <a:lnSpc>
                <a:spcPct val="130000"/>
              </a:lnSpc>
              <a:spcBef>
                <a:spcPts val="600"/>
              </a:spcBef>
              <a:spcAft>
                <a:spcPts val="200"/>
              </a:spcAft>
              <a:buNone/>
            </a:pPr>
            <a:r>
              <a:rPr lang="en" sz="1300">
                <a:solidFill>
                  <a:schemeClr val="dk1"/>
                </a:solidFill>
                <a:latin typeface="Google Sans"/>
                <a:ea typeface="Google Sans"/>
                <a:cs typeface="Google Sans"/>
                <a:sym typeface="Google Sans"/>
              </a:rPr>
              <a:t>3. When hacking opens, follow “Complete the hackathon” to get your team’s IBM Cloud account.</a:t>
            </a:r>
          </a:p>
        </p:txBody>
      </p:sp>
      <p:sp>
        <p:nvSpPr>
          <p:cNvPr id="719" name="Google Shape;719;p70"/>
          <p:cNvSpPr txBox="1"/>
          <p:nvPr/>
        </p:nvSpPr>
        <p:spPr>
          <a:xfrm>
            <a:off x="369825" y="360735"/>
            <a:ext cx="6879000" cy="6483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b="1" lang="en" sz="3000">
                <a:solidFill>
                  <a:schemeClr val="lt2"/>
                </a:solidFill>
                <a:latin typeface="Google Sans"/>
                <a:ea typeface="Google Sans"/>
                <a:cs typeface="Google Sans"/>
                <a:sym typeface="Google Sans"/>
              </a:rPr>
              <a:t>Step 1: Register with IBMid</a:t>
            </a:r>
          </a:p>
        </p:txBody>
      </p:sp>
      <p:grpSp>
        <p:nvGrpSpPr>
          <p:cNvPr id="720" name="Google Shape;720;p70"/>
          <p:cNvGrpSpPr/>
          <p:nvPr/>
        </p:nvGrpSpPr>
        <p:grpSpPr>
          <a:xfrm>
            <a:off x="4433823" y="493446"/>
            <a:ext cx="4709489" cy="4354719"/>
            <a:chOff x="4316775" y="282000"/>
            <a:chExt cx="4827275" cy="4463174"/>
          </a:xfrm>
        </p:grpSpPr>
        <p:sp>
          <p:nvSpPr>
            <p:cNvPr id="721" name="Google Shape;721;p70"/>
            <p:cNvSpPr/>
            <p:nvPr/>
          </p:nvSpPr>
          <p:spPr>
            <a:xfrm>
              <a:off x="5334950" y="1226100"/>
              <a:ext cx="3809100" cy="2568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2" name="Google Shape;722;p70"/>
            <p:cNvPicPr preferRelativeResize="0"/>
            <p:nvPr/>
          </p:nvPicPr>
          <p:blipFill rotWithShape="1">
            <a:blip r:embed="rId3">
              <a:alphaModFix/>
            </a:blip>
            <a:srcRect b="-4150" l="0" r="24214" t="-11778"/>
            <a:stretch/>
          </p:blipFill>
          <p:spPr>
            <a:xfrm>
              <a:off x="4316775" y="282000"/>
              <a:ext cx="4827224" cy="4463174"/>
            </a:xfrm>
            <a:prstGeom prst="rect">
              <a:avLst/>
            </a:prstGeom>
            <a:noFill/>
            <a:ln>
              <a:noFill/>
            </a:ln>
          </p:spPr>
        </p:pic>
      </p:grpSp>
      <p:sp>
        <p:nvSpPr>
          <p:cNvPr id="723" name="Google Shape;723;p70"/>
          <p:cNvSpPr/>
          <p:nvPr/>
        </p:nvSpPr>
        <p:spPr>
          <a:xfrm>
            <a:off x="335650" y="4794150"/>
            <a:ext cx="1100400" cy="239100"/>
          </a:xfrm>
          <a:prstGeom prst="rect">
            <a:avLst/>
          </a:prstGeom>
          <a:solidFill>
            <a:srgbClr val="D1ECE3"/>
          </a:solidFill>
          <a:ln cap="flat" cmpd="sng" w="9525">
            <a:solidFill>
              <a:srgbClr val="D1ECE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24" name="Google Shape;724;p70" title="compass_locationLogo.png"/>
          <p:cNvPicPr preferRelativeResize="0"/>
          <p:nvPr/>
        </p:nvPicPr>
        <p:blipFill>
          <a:blip r:embed="rId4">
            <a:alphaModFix/>
          </a:blip>
          <a:stretch>
            <a:fillRect/>
          </a:stretch>
        </p:blipFill>
        <p:spPr>
          <a:xfrm>
            <a:off x="311747" y="4681275"/>
            <a:ext cx="1423650" cy="368125"/>
          </a:xfrm>
          <a:prstGeom prst="rect">
            <a:avLst/>
          </a:prstGeom>
          <a:noFill/>
          <a:ln>
            <a:noFill/>
          </a:ln>
        </p:spPr>
      </p:pic>
      <p:sp>
        <p:nvSpPr>
          <p:cNvPr id="725" name="Google Shape;725;p70"/>
          <p:cNvSpPr/>
          <p:nvPr/>
        </p:nvSpPr>
        <p:spPr>
          <a:xfrm>
            <a:off x="7552500" y="105200"/>
            <a:ext cx="1299900" cy="255300"/>
          </a:xfrm>
          <a:prstGeom prst="rect">
            <a:avLst/>
          </a:prstGeom>
          <a:solidFill>
            <a:srgbClr val="D1ECE3"/>
          </a:solidFill>
          <a:ln cap="flat" cmpd="sng" w="9525">
            <a:solidFill>
              <a:srgbClr val="D1ECE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26" name="Picture 725" descr="edca1653-image.png"/>
          <p:cNvPicPr>
            <a:picLocks noChangeAspect="1"/>
          </p:cNvPicPr>
          <p:nvPr/>
        </p:nvPicPr>
        <p:blipFill>
          <a:blip r:embed="rId5"/>
          <a:stretch>
            <a:fillRect/>
          </a:stretch>
        </p:blipFill>
        <p:spPr>
          <a:xfrm>
            <a:off x="6144768" y="1536192"/>
            <a:ext cx="1783080" cy="1783080"/>
          </a:xfrm>
          <a:prstGeom prst="rect">
            <a:avLst/>
          </a:prstGeom>
        </p:spPr>
      </p:pic>
      <p:sp>
        <p:nvSpPr>
          <p:cNvPr id="727" name="TextBox 726"/>
          <p:cNvSpPr txBox="1"/>
          <p:nvPr/>
        </p:nvSpPr>
        <p:spPr>
          <a:xfrm>
            <a:off x="5669280" y="3383280"/>
            <a:ext cx="2743200" cy="274320"/>
          </a:xfrm>
          <a:prstGeom prst="rect">
            <a:avLst/>
          </a:prstGeom>
          <a:noFill/>
        </p:spPr>
        <p:txBody>
          <a:bodyPr wrap="square" lIns="0" rIns="0" tIns="0" bIns="0">
            <a:spAutoFit/>
          </a:bodyPr>
          <a:lstStyle/>
          <a:p>
            <a:pPr algn="ctr"/>
            <a:r>
              <a:rPr sz="1400" b="1">
                <a:solidFill>
                  <a:srgbClr val="202124"/>
                </a:solidFill>
                <a:latin typeface="Google Sans"/>
              </a:rPr>
              <a:t>ibm.biz/a2tech360</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cxnSp>
        <p:nvCxnSpPr>
          <p:cNvPr id="787" name="Google Shape;787;p75"/>
          <p:cNvCxnSpPr/>
          <p:nvPr/>
        </p:nvCxnSpPr>
        <p:spPr>
          <a:xfrm>
            <a:off x="378753" y="2731013"/>
            <a:ext cx="8784300" cy="0"/>
          </a:xfrm>
          <a:prstGeom prst="straightConnector1">
            <a:avLst/>
          </a:prstGeom>
          <a:noFill/>
          <a:ln cap="flat" cmpd="sng" w="9525">
            <a:solidFill>
              <a:schemeClr val="lt1"/>
            </a:solidFill>
            <a:prstDash val="solid"/>
            <a:round/>
            <a:headEnd len="sm" w="sm" type="none"/>
            <a:tailEnd len="sm" w="sm" type="none"/>
          </a:ln>
        </p:spPr>
      </p:cxnSp>
      <p:sp>
        <p:nvSpPr>
          <p:cNvPr id="788" name="Google Shape;788;p75"/>
          <p:cNvSpPr/>
          <p:nvPr/>
        </p:nvSpPr>
        <p:spPr>
          <a:xfrm>
            <a:off x="374214" y="2667714"/>
            <a:ext cx="126600" cy="126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75"/>
          <p:cNvSpPr/>
          <p:nvPr/>
        </p:nvSpPr>
        <p:spPr>
          <a:xfrm>
            <a:off x="2060123" y="2667714"/>
            <a:ext cx="126600" cy="126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75"/>
          <p:cNvSpPr/>
          <p:nvPr/>
        </p:nvSpPr>
        <p:spPr>
          <a:xfrm>
            <a:off x="3558834" y="2667714"/>
            <a:ext cx="126600" cy="126600"/>
          </a:xfrm>
          <a:prstGeom prst="ellipse">
            <a:avLst/>
          </a:prstGeom>
          <a:solidFill>
            <a:srgbClr val="E4C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75"/>
          <p:cNvSpPr/>
          <p:nvPr/>
        </p:nvSpPr>
        <p:spPr>
          <a:xfrm>
            <a:off x="5212178" y="2667714"/>
            <a:ext cx="126600" cy="126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75"/>
          <p:cNvSpPr/>
          <p:nvPr/>
        </p:nvSpPr>
        <p:spPr>
          <a:xfrm>
            <a:off x="6738922" y="2667714"/>
            <a:ext cx="126600" cy="126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75"/>
          <p:cNvSpPr/>
          <p:nvPr/>
        </p:nvSpPr>
        <p:spPr>
          <a:xfrm>
            <a:off x="387400" y="1325880"/>
            <a:ext cx="2743200" cy="9144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0"/>
              </a:spcAft>
              <a:buNone/>
            </a:pPr>
            <a:r>
              <a:rPr b="1" lang="en" sz="1500">
                <a:solidFill>
                  <a:schemeClr val="lt1"/>
                </a:solidFill>
                <a:latin typeface="Google Sans"/>
                <a:ea typeface="Google Sans"/>
                <a:cs typeface="Google Sans"/>
                <a:sym typeface="Google Sans"/>
              </a:rPr>
              <a:t>Pick a Team Lead</a:t>
            </a:r>
          </a:p>
          <a:p>
            <a:pPr indent="0" lvl="0" marL="0" rtl="0" algn="l">
              <a:lnSpc>
                <a:spcPct val="130000"/>
              </a:lnSpc>
              <a:spcBef>
                <a:spcPts val="800"/>
              </a:spcBef>
              <a:spcAft>
                <a:spcPts val="800"/>
              </a:spcAft>
              <a:buNone/>
            </a:pPr>
            <a:r>
              <a:rPr lang="en" sz="1300">
                <a:solidFill>
                  <a:schemeClr val="lt1"/>
                </a:solidFill>
                <a:latin typeface="Google Sans"/>
                <a:ea typeface="Google Sans"/>
                <a:cs typeface="Google Sans"/>
                <a:sym typeface="Google Sans"/>
              </a:rPr>
              <a:t>The creator is Lead and manages the submission.</a:t>
            </a:r>
          </a:p>
        </p:txBody>
      </p:sp>
      <p:sp>
        <p:nvSpPr>
          <p:cNvPr id="794" name="Google Shape;794;p75"/>
          <p:cNvSpPr/>
          <p:nvPr/>
        </p:nvSpPr>
        <p:spPr>
          <a:xfrm>
            <a:off x="2060125" y="2971800"/>
            <a:ext cx="2743200" cy="9144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0"/>
              </a:spcAft>
              <a:buNone/>
            </a:pPr>
            <a:r>
              <a:rPr b="1" lang="en" sz="1500">
                <a:solidFill>
                  <a:schemeClr val="lt1"/>
                </a:solidFill>
                <a:latin typeface="Google Sans"/>
                <a:ea typeface="Google Sans"/>
                <a:cs typeface="Google Sans"/>
                <a:sym typeface="Google Sans"/>
              </a:rPr>
              <a:t>Create the team</a:t>
            </a:r>
          </a:p>
          <a:p>
            <a:pPr indent="0" lvl="0" marL="0" rtl="0" algn="l">
              <a:lnSpc>
                <a:spcPct val="130000"/>
              </a:lnSpc>
              <a:spcBef>
                <a:spcPts val="800"/>
              </a:spcBef>
              <a:spcAft>
                <a:spcPts val="800"/>
              </a:spcAft>
              <a:buNone/>
            </a:pPr>
            <a:r>
              <a:rPr lang="en" sz="1300">
                <a:solidFill>
                  <a:schemeClr val="lt1"/>
                </a:solidFill>
                <a:latin typeface="Google Sans"/>
                <a:ea typeface="Google Sans"/>
                <a:cs typeface="Google Sans"/>
                <a:sym typeface="Google Sans"/>
              </a:rPr>
              <a:t>My Team → Create a Team → name it → Create Team.</a:t>
            </a:r>
          </a:p>
        </p:txBody>
      </p:sp>
      <p:sp>
        <p:nvSpPr>
          <p:cNvPr id="795" name="Google Shape;795;p75"/>
          <p:cNvSpPr/>
          <p:nvPr/>
        </p:nvSpPr>
        <p:spPr>
          <a:xfrm>
            <a:off x="3558825" y="1325880"/>
            <a:ext cx="2743200" cy="9144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0"/>
              </a:spcAft>
              <a:buNone/>
            </a:pPr>
            <a:r>
              <a:rPr b="1" lang="en" sz="1500">
                <a:solidFill>
                  <a:schemeClr val="lt1"/>
                </a:solidFill>
                <a:latin typeface="Google Sans"/>
                <a:ea typeface="Google Sans"/>
                <a:cs typeface="Google Sans"/>
                <a:sym typeface="Google Sans"/>
              </a:rPr>
              <a:t>Invite teammates</a:t>
            </a:r>
          </a:p>
          <a:p>
            <a:pPr indent="0" lvl="0" marL="0" rtl="0" algn="l">
              <a:lnSpc>
                <a:spcPct val="130000"/>
              </a:lnSpc>
              <a:spcBef>
                <a:spcPts val="800"/>
              </a:spcBef>
              <a:spcAft>
                <a:spcPts val="800"/>
              </a:spcAft>
              <a:buNone/>
            </a:pPr>
            <a:r>
              <a:rPr lang="en" sz="1300">
                <a:solidFill>
                  <a:schemeClr val="lt1"/>
                </a:solidFill>
                <a:latin typeface="Google Sans"/>
                <a:ea typeface="Google Sans"/>
                <a:cs typeface="Google Sans"/>
                <a:sym typeface="Google Sans"/>
              </a:rPr>
              <a:t>By email, or browse Invite Members.</a:t>
            </a:r>
          </a:p>
        </p:txBody>
      </p:sp>
      <p:sp>
        <p:nvSpPr>
          <p:cNvPr id="796" name="Google Shape;796;p75"/>
          <p:cNvSpPr/>
          <p:nvPr/>
        </p:nvSpPr>
        <p:spPr>
          <a:xfrm>
            <a:off x="6730250" y="1325880"/>
            <a:ext cx="2286000" cy="9144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0"/>
              </a:spcAft>
              <a:buNone/>
            </a:pPr>
            <a:r>
              <a:rPr b="1" lang="en" sz="1500">
                <a:solidFill>
                  <a:schemeClr val="lt1"/>
                </a:solidFill>
                <a:latin typeface="Google Sans"/>
                <a:ea typeface="Google Sans"/>
                <a:cs typeface="Google Sans"/>
                <a:sym typeface="Google Sans"/>
              </a:rPr>
              <a:t>Accept the invite</a:t>
            </a:r>
          </a:p>
          <a:p>
            <a:pPr indent="0" lvl="0" marL="0" rtl="0" algn="l">
              <a:lnSpc>
                <a:spcPct val="130000"/>
              </a:lnSpc>
              <a:spcBef>
                <a:spcPts val="800"/>
              </a:spcBef>
              <a:spcAft>
                <a:spcPts val="800"/>
              </a:spcAft>
              <a:buNone/>
            </a:pPr>
            <a:r>
              <a:rPr lang="en" sz="1300">
                <a:solidFill>
                  <a:schemeClr val="lt1"/>
                </a:solidFill>
                <a:latin typeface="Google Sans"/>
                <a:ea typeface="Google Sans"/>
                <a:cs typeface="Google Sans"/>
                <a:sym typeface="Google Sans"/>
              </a:rPr>
              <a:t>One team per person; all must register.</a:t>
            </a:r>
          </a:p>
        </p:txBody>
      </p:sp>
      <p:sp>
        <p:nvSpPr>
          <p:cNvPr id="797" name="Google Shape;797;p75"/>
          <p:cNvSpPr/>
          <p:nvPr/>
        </p:nvSpPr>
        <p:spPr>
          <a:xfrm>
            <a:off x="5212175" y="2971800"/>
            <a:ext cx="2743200" cy="9144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0"/>
              </a:spcAft>
              <a:buNone/>
            </a:pPr>
            <a:r>
              <a:rPr b="1" lang="en" sz="1500">
                <a:solidFill>
                  <a:schemeClr val="lt1"/>
                </a:solidFill>
                <a:latin typeface="Google Sans"/>
                <a:ea typeface="Google Sans"/>
                <a:cs typeface="Google Sans"/>
                <a:sym typeface="Google Sans"/>
              </a:rPr>
              <a:t>Need people?</a:t>
            </a:r>
          </a:p>
          <a:p>
            <a:pPr indent="0" lvl="0" marL="0" rtl="0" algn="l">
              <a:lnSpc>
                <a:spcPct val="130000"/>
              </a:lnSpc>
              <a:spcBef>
                <a:spcPts val="800"/>
              </a:spcBef>
              <a:spcAft>
                <a:spcPts val="800"/>
              </a:spcAft>
              <a:buNone/>
            </a:pPr>
            <a:r>
              <a:rPr lang="en" sz="1300">
                <a:solidFill>
                  <a:schemeClr val="lt1"/>
                </a:solidFill>
                <a:latin typeface="Google Sans"/>
                <a:ea typeface="Google Sans"/>
                <a:cs typeface="Google Sans"/>
                <a:sym typeface="Google Sans"/>
              </a:rPr>
              <a:t>Try Find Members or Find a Team (AI Assisted).</a:t>
            </a:r>
          </a:p>
        </p:txBody>
      </p:sp>
      <p:sp>
        <p:nvSpPr>
          <p:cNvPr id="798" name="Google Shape;798;p75"/>
          <p:cNvSpPr txBox="1"/>
          <p:nvPr/>
        </p:nvSpPr>
        <p:spPr>
          <a:xfrm>
            <a:off x="369825" y="360735"/>
            <a:ext cx="6879000" cy="6483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b="1" lang="en" sz="3000">
                <a:solidFill>
                  <a:srgbClr val="E4C472"/>
                </a:solidFill>
                <a:latin typeface="Google Sans"/>
                <a:ea typeface="Google Sans"/>
                <a:cs typeface="Google Sans"/>
                <a:sym typeface="Google Sans"/>
              </a:rPr>
              <a:t>Step 2: Form your IBM team</a:t>
            </a:r>
          </a:p>
        </p:txBody>
      </p:sp>
      <p:pic>
        <p:nvPicPr>
          <p:cNvPr id="799" name="Google Shape;799;p75"/>
          <p:cNvPicPr preferRelativeResize="0"/>
          <p:nvPr/>
        </p:nvPicPr>
        <p:blipFill rotWithShape="1">
          <a:blip r:embed="rId3">
            <a:alphaModFix/>
          </a:blip>
          <a:srcRect b="0" l="0" r="0" t="0"/>
          <a:stretch/>
        </p:blipFill>
        <p:spPr>
          <a:xfrm>
            <a:off x="7832322" y="3172250"/>
            <a:ext cx="996951" cy="1971252"/>
          </a:xfrm>
          <a:prstGeom prst="rect">
            <a:avLst/>
          </a:prstGeom>
          <a:noFill/>
          <a:ln>
            <a:noFill/>
          </a:ln>
        </p:spPr>
      </p:pic>
      <p:sp>
        <p:nvSpPr>
          <p:cNvPr id="800" name="Google Shape;800;p75"/>
          <p:cNvSpPr/>
          <p:nvPr/>
        </p:nvSpPr>
        <p:spPr>
          <a:xfrm>
            <a:off x="311750" y="4770225"/>
            <a:ext cx="1132500" cy="279000"/>
          </a:xfrm>
          <a:prstGeom prst="rect">
            <a:avLst/>
          </a:prstGeom>
          <a:solidFill>
            <a:srgbClr val="165185"/>
          </a:solidFill>
          <a:ln cap="flat" cmpd="sng" w="9525">
            <a:solidFill>
              <a:srgbClr val="1651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01" name="Google Shape;801;p75" title="compass_locationLogo.png"/>
          <p:cNvPicPr preferRelativeResize="0"/>
          <p:nvPr/>
        </p:nvPicPr>
        <p:blipFill>
          <a:blip r:embed="rId4">
            <a:alphaModFix/>
          </a:blip>
          <a:stretch>
            <a:fillRect/>
          </a:stretch>
        </p:blipFill>
        <p:spPr>
          <a:xfrm>
            <a:off x="311747" y="4681275"/>
            <a:ext cx="1423650" cy="368125"/>
          </a:xfrm>
          <a:prstGeom prst="rect">
            <a:avLst/>
          </a:prstGeom>
          <a:noFill/>
          <a:ln>
            <a:noFill/>
          </a:ln>
        </p:spPr>
      </p:pic>
      <p:sp>
        <p:nvSpPr>
          <p:cNvPr id="802" name="Google Shape;802;p75"/>
          <p:cNvSpPr/>
          <p:nvPr/>
        </p:nvSpPr>
        <p:spPr>
          <a:xfrm>
            <a:off x="7552500" y="105200"/>
            <a:ext cx="1299900" cy="255300"/>
          </a:xfrm>
          <a:prstGeom prst="rect">
            <a:avLst/>
          </a:prstGeom>
          <a:solidFill>
            <a:srgbClr val="165185"/>
          </a:solidFill>
          <a:ln cap="flat" cmpd="sng" w="9525">
            <a:solidFill>
              <a:srgbClr val="1651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71"/>
          <p:cNvSpPr/>
          <p:nvPr/>
        </p:nvSpPr>
        <p:spPr>
          <a:xfrm flipH="1" rot="5400000">
            <a:off x="2141500" y="-1024050"/>
            <a:ext cx="4018800" cy="8316300"/>
          </a:xfrm>
          <a:prstGeom prst="round1Rect">
            <a:avLst>
              <a:gd fmla="val 7834"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731" name="Google Shape;731;p71"/>
          <p:cNvGraphicFramePr/>
          <p:nvPr/>
        </p:nvGraphicFramePr>
        <p:xfrm>
          <a:off x="369825" y="1214237"/>
          <a:ext cx="7589520" cy="3000000"/>
        </p:xfrm>
        <a:graphic>
          <a:graphicData uri="http://schemas.openxmlformats.org/drawingml/2006/table">
            <a:tbl>
              <a:tblPr>
                <a:noFill/>
                <a:tableStyleId>{6A485A1E-F273-48A9-B2FF-19F534683799}</a:tableStyleId>
              </a:tblPr>
              <a:tblGrid>
                <a:gridCol w="1920240"/>
                <a:gridCol w="3017520"/>
                <a:gridCol w="2651760"/>
              </a:tblGrid>
              <a:tr h="417700">
                <a:tc>
                  <a:txBody>
                    <a:bodyPr/>
                    <a:lstStyle/>
                    <a:p>
                      <a:pPr indent="0" lvl="0" marL="0" rtl="0" algn="l">
                        <a:spcBef>
                          <a:spcPts val="0"/>
                        </a:spcBef>
                        <a:spcAft>
                          <a:spcPts val="0"/>
                        </a:spcAft>
                        <a:buNone/>
                      </a:pPr>
                      <a:r>
                        <a:rPr b="1" lang="en" sz="1200">
                          <a:solidFill>
                            <a:schemeClr val="lt2"/>
                          </a:solidFill>
                          <a:latin typeface="Google Sans"/>
                          <a:ea typeface="Google Sans"/>
                          <a:cs typeface="Google Sans"/>
                          <a:sym typeface="Google Sans"/>
                        </a:rPr>
                        <a:t>Tool</a:t>
                      </a:r>
                      <a:endParaRPr b="1" sz="1200">
                        <a:solidFill>
                          <a:schemeClr val="lt2"/>
                        </a:solidFill>
                        <a:latin typeface="Google Sans"/>
                        <a:ea typeface="Google Sans"/>
                        <a:cs typeface="Google Sans"/>
                        <a:sym typeface="Google Sans"/>
                      </a:endParaRPr>
                    </a:p>
                  </a:txBody>
                  <a:tcPr marT="91425" marB="91425" marR="91425" marL="91425">
                    <a:lnL cap="flat" cmpd="sng" w="19050">
                      <a:solidFill>
                        <a:srgbClr val="34A853">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34A853">
                          <a:alpha val="0"/>
                        </a:srgbClr>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en" sz="1200">
                          <a:solidFill>
                            <a:schemeClr val="lt2"/>
                          </a:solidFill>
                          <a:latin typeface="Google Sans"/>
                          <a:ea typeface="Google Sans"/>
                          <a:cs typeface="Google Sans"/>
                          <a:sym typeface="Google Sans"/>
                        </a:rPr>
                        <a:t>What it does</a:t>
                      </a:r>
                      <a:endParaRPr b="1" sz="1200">
                        <a:solidFill>
                          <a:schemeClr val="lt2"/>
                        </a:solidFill>
                        <a:latin typeface="Google Sans"/>
                        <a:ea typeface="Google Sans"/>
                        <a:cs typeface="Google Sans"/>
                        <a:sym typeface="Google Sans"/>
                      </a:endParaRPr>
                    </a:p>
                  </a:txBody>
                  <a:tcPr marT="91425" marB="91425" marR="91425" marL="137150">
                    <a:lnL cap="flat" cmpd="sng" w="9525">
                      <a:solidFill>
                        <a:srgbClr val="9E9E9E">
                          <a:alpha val="0"/>
                        </a:srgbClr>
                      </a:solidFill>
                      <a:prstDash val="solid"/>
                      <a:round/>
                      <a:headEnd len="sm" w="sm" type="none"/>
                      <a:tailEnd len="sm" w="sm" type="none"/>
                    </a:lnL>
                    <a:lnR cap="flat" cmpd="sng" w="9525">
                      <a:solidFill>
                        <a:srgbClr val="34A853">
                          <a:alpha val="0"/>
                        </a:srgbClr>
                      </a:solidFill>
                      <a:prstDash val="solid"/>
                      <a:round/>
                      <a:headEnd len="sm" w="sm" type="none"/>
                      <a:tailEnd len="sm" w="sm" type="none"/>
                    </a:lnR>
                    <a:lnT cap="flat" cmpd="sng" w="19050">
                      <a:solidFill>
                        <a:srgbClr val="34A853">
                          <a:alpha val="0"/>
                        </a:srgbClr>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b="1" lang="en" sz="1200">
                          <a:solidFill>
                            <a:schemeClr val="lt2"/>
                          </a:solidFill>
                          <a:latin typeface="Google Sans"/>
                          <a:ea typeface="Google Sans"/>
                          <a:cs typeface="Google Sans"/>
                          <a:sym typeface="Google Sans"/>
                        </a:rPr>
                        <a:t>Where to find it</a:t>
                      </a:r>
                      <a:endParaRPr b="1" sz="1200">
                        <a:solidFill>
                          <a:schemeClr val="lt2"/>
                        </a:solidFill>
                        <a:latin typeface="Google Sans"/>
                        <a:ea typeface="Google Sans"/>
                        <a:cs typeface="Google Sans"/>
                        <a:sym typeface="Google Sans"/>
                      </a:endParaRPr>
                    </a:p>
                  </a:txBody>
                  <a:tcPr marT="91425" marB="91425" marR="91425" marL="137150">
                    <a:lnL cap="flat" cmpd="sng" w="9525">
                      <a:solidFill>
                        <a:srgbClr val="34A853">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CEEAD6">
                          <a:alpha val="0"/>
                        </a:srgbClr>
                      </a:solidFill>
                      <a:prstDash val="solid"/>
                      <a:round/>
                      <a:headEnd len="sm" w="sm" type="none"/>
                      <a:tailEnd len="sm" w="sm" type="none"/>
                    </a:lnT>
                    <a:lnB cap="flat" cmpd="sng" w="19050">
                      <a:solidFill>
                        <a:schemeClr val="lt2"/>
                      </a:solidFill>
                      <a:prstDash val="solid"/>
                      <a:round/>
                      <a:headEnd len="sm" w="sm" type="none"/>
                      <a:tailEnd len="sm" w="sm" type="none"/>
                    </a:lnB>
                  </a:tcPr>
                </a:tc>
              </a:tr>
              <a:tr h="487000">
                <a:tc>
                  <a:txBody>
                    <a:bodyPr/>
                    <a:lstStyle/>
                    <a:p>
                      <a:pPr indent="0" lvl="0" marL="0" rtl="0" algn="l">
                        <a:lnSpc>
                          <a:spcPct val="115000"/>
                        </a:lnSpc>
                        <a:spcBef>
                          <a:spcPts val="0"/>
                        </a:spcBef>
                        <a:spcAft>
                          <a:spcPts val="0"/>
                        </a:spcAft>
                        <a:buNone/>
                      </a:pPr>
                      <a:r>
                        <a:rPr lang="en" sz="1200">
                          <a:solidFill>
                            <a:schemeClr val="dk1"/>
                          </a:solidFill>
                          <a:latin typeface="Google Sans"/>
                          <a:ea typeface="Google Sans"/>
                          <a:cs typeface="Google Sans"/>
                          <a:sym typeface="Google Sans"/>
                        </a:rPr>
                        <a:t>IBM Bob</a:t>
                      </a:r>
                      <a:endParaRPr sz="1000">
                        <a:solidFill>
                          <a:schemeClr val="dk1"/>
                        </a:solidFill>
                        <a:latin typeface="Google Sans"/>
                        <a:ea typeface="Google Sans"/>
                        <a:cs typeface="Google Sans"/>
                        <a:sym typeface="Google Sans"/>
                      </a:endParaRPr>
                    </a:p>
                  </a:txBody>
                  <a:tcPr marT="91425" marB="91425" marR="91425" marL="91425" anchor="ctr">
                    <a:lnL cap="flat" cmpd="sng" w="19050">
                      <a:solidFill>
                        <a:srgbClr val="E8EAED">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chemeClr val="lt2"/>
                      </a:solidFill>
                      <a:prstDash val="solid"/>
                      <a:round/>
                      <a:headEnd len="sm" w="sm" type="none"/>
                      <a:tailEnd len="sm" w="sm" type="none"/>
                    </a:lnT>
                    <a:lnB cap="flat" cmpd="sng" w="9525">
                      <a:solidFill>
                        <a:srgbClr val="D1ECE3"/>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chemeClr val="dk1"/>
                          </a:solidFill>
                          <a:latin typeface="Google Sans"/>
                          <a:ea typeface="Google Sans"/>
                          <a:cs typeface="Google Sans"/>
                          <a:sym typeface="Google Sans"/>
                        </a:rPr>
                        <a:t>AI coding assistant (40 Bobcoins trial)</a:t>
                      </a:r>
                      <a:endParaRPr sz="1000">
                        <a:solidFill>
                          <a:schemeClr val="dk1"/>
                        </a:solidFill>
                        <a:latin typeface="Google Sans"/>
                        <a:ea typeface="Google Sans"/>
                        <a:cs typeface="Google Sans"/>
                        <a:sym typeface="Google Sans"/>
                      </a:endParaRPr>
                    </a:p>
                  </a:txBody>
                  <a:tcPr marT="91425" marB="91425" marR="91425" marL="13715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chemeClr val="lt2"/>
                      </a:solidFill>
                      <a:prstDash val="solid"/>
                      <a:round/>
                      <a:headEnd len="sm" w="sm" type="none"/>
                      <a:tailEnd len="sm" w="sm" type="none"/>
                    </a:lnT>
                    <a:lnB cap="flat" cmpd="sng" w="9525">
                      <a:solidFill>
                        <a:srgbClr val="D1ECE3"/>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chemeClr val="dk1"/>
                          </a:solidFill>
                          <a:latin typeface="Google Sans"/>
                          <a:ea typeface="Google Sans"/>
                          <a:cs typeface="Google Sans"/>
                          <a:sym typeface="Google Sans"/>
                        </a:rPr>
                        <a:t>bob.ibm.com/trial</a:t>
                      </a:r>
                      <a:endParaRPr sz="1000">
                        <a:solidFill>
                          <a:schemeClr val="dk1"/>
                        </a:solidFill>
                        <a:latin typeface="Google Sans"/>
                        <a:ea typeface="Google Sans"/>
                        <a:cs typeface="Google Sans"/>
                        <a:sym typeface="Google Sans"/>
                      </a:endParaRPr>
                    </a:p>
                  </a:txBody>
                  <a:tcPr marT="91425" marB="91425" marR="91425" marL="13715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chemeClr val="lt2"/>
                      </a:solidFill>
                      <a:prstDash val="solid"/>
                      <a:round/>
                      <a:headEnd len="sm" w="sm" type="none"/>
                      <a:tailEnd len="sm" w="sm" type="none"/>
                    </a:lnT>
                    <a:lnB cap="flat" cmpd="sng" w="9525">
                      <a:solidFill>
                        <a:srgbClr val="D1ECE3"/>
                      </a:solidFill>
                      <a:prstDash val="solid"/>
                      <a:round/>
                      <a:headEnd len="sm" w="sm" type="none"/>
                      <a:tailEnd len="sm" w="sm" type="none"/>
                    </a:lnB>
                  </a:tcPr>
                </a:tc>
              </a:tr>
              <a:tr h="487000">
                <a:tc>
                  <a:txBody>
                    <a:bodyPr/>
                    <a:lstStyle/>
                    <a:p>
                      <a:pPr indent="0" lvl="0" marL="0" rtl="0" algn="l">
                        <a:lnSpc>
                          <a:spcPct val="115000"/>
                        </a:lnSpc>
                        <a:spcBef>
                          <a:spcPts val="0"/>
                        </a:spcBef>
                        <a:spcAft>
                          <a:spcPts val="0"/>
                        </a:spcAft>
                        <a:buNone/>
                      </a:pPr>
                      <a:r>
                        <a:rPr lang="en" sz="1200">
                          <a:solidFill>
                            <a:schemeClr val="dk1"/>
                          </a:solidFill>
                          <a:latin typeface="Google Sans"/>
                          <a:ea typeface="Google Sans"/>
                          <a:cs typeface="Google Sans"/>
                          <a:sym typeface="Google Sans"/>
                        </a:rPr>
                        <a:t>watsonx.ai + Granite</a:t>
                      </a:r>
                      <a:endParaRPr sz="1000">
                        <a:solidFill>
                          <a:schemeClr val="dk1"/>
                        </a:solidFill>
                        <a:latin typeface="Google Sans"/>
                        <a:ea typeface="Google Sans"/>
                        <a:cs typeface="Google Sans"/>
                        <a:sym typeface="Google Sans"/>
                      </a:endParaRPr>
                    </a:p>
                  </a:txBody>
                  <a:tcPr marT="91425" marB="91425" marR="91425" marL="91425" anchor="ctr">
                    <a:lnL cap="flat" cmpd="sng" w="19050">
                      <a:solidFill>
                        <a:srgbClr val="E8EAED">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D1ECE3"/>
                      </a:solidFill>
                      <a:prstDash val="solid"/>
                      <a:round/>
                      <a:headEnd len="sm" w="sm" type="none"/>
                      <a:tailEnd len="sm" w="sm" type="none"/>
                    </a:lnT>
                    <a:lnB cap="flat" cmpd="sng" w="9525">
                      <a:solidFill>
                        <a:srgbClr val="D1ECE3"/>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chemeClr val="dk1"/>
                          </a:solidFill>
                          <a:latin typeface="Google Sans"/>
                          <a:ea typeface="Google Sans"/>
                          <a:cs typeface="Google Sans"/>
                          <a:sym typeface="Google Sans"/>
                        </a:rPr>
                        <a:t>Prompt Lab and API for foundation models</a:t>
                      </a:r>
                      <a:endParaRPr sz="1000">
                        <a:solidFill>
                          <a:schemeClr val="dk1"/>
                        </a:solidFill>
                        <a:latin typeface="Google Sans"/>
                        <a:ea typeface="Google Sans"/>
                        <a:cs typeface="Google Sans"/>
                        <a:sym typeface="Google Sans"/>
                      </a:endParaRPr>
                    </a:p>
                  </a:txBody>
                  <a:tcPr marT="91425" marB="91425" marR="91425" marL="13715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D1ECE3"/>
                      </a:solidFill>
                      <a:prstDash val="solid"/>
                      <a:round/>
                      <a:headEnd len="sm" w="sm" type="none"/>
                      <a:tailEnd len="sm" w="sm" type="none"/>
                    </a:lnT>
                    <a:lnB cap="flat" cmpd="sng" w="9525">
                      <a:solidFill>
                        <a:srgbClr val="D1ECE3"/>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chemeClr val="dk1"/>
                          </a:solidFill>
                          <a:latin typeface="Google Sans"/>
                          <a:ea typeface="Google Sans"/>
                          <a:cs typeface="Google Sans"/>
                          <a:sym typeface="Google Sans"/>
                        </a:rPr>
                        <a:t>dataplatform.cloud.ibm.com</a:t>
                      </a:r>
                      <a:endParaRPr sz="1000">
                        <a:solidFill>
                          <a:schemeClr val="dk1"/>
                        </a:solidFill>
                        <a:latin typeface="Google Sans"/>
                        <a:ea typeface="Google Sans"/>
                        <a:cs typeface="Google Sans"/>
                        <a:sym typeface="Google Sans"/>
                      </a:endParaRPr>
                    </a:p>
                  </a:txBody>
                  <a:tcPr marT="91425" marB="91425" marR="91425" marL="13715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D1ECE3"/>
                      </a:solidFill>
                      <a:prstDash val="solid"/>
                      <a:round/>
                      <a:headEnd len="sm" w="sm" type="none"/>
                      <a:tailEnd len="sm" w="sm" type="none"/>
                    </a:lnT>
                    <a:lnB cap="flat" cmpd="sng" w="9525">
                      <a:solidFill>
                        <a:srgbClr val="D1ECE3"/>
                      </a:solidFill>
                      <a:prstDash val="solid"/>
                      <a:round/>
                      <a:headEnd len="sm" w="sm" type="none"/>
                      <a:tailEnd len="sm" w="sm" type="none"/>
                    </a:lnB>
                  </a:tcPr>
                </a:tc>
              </a:tr>
              <a:tr h="487000">
                <a:tc>
                  <a:txBody>
                    <a:bodyPr/>
                    <a:lstStyle/>
                    <a:p>
                      <a:pPr indent="0" lvl="0" marL="0" rtl="0" algn="l">
                        <a:lnSpc>
                          <a:spcPct val="115000"/>
                        </a:lnSpc>
                        <a:spcBef>
                          <a:spcPts val="0"/>
                        </a:spcBef>
                        <a:spcAft>
                          <a:spcPts val="0"/>
                        </a:spcAft>
                        <a:buNone/>
                      </a:pPr>
                      <a:r>
                        <a:rPr lang="en" sz="1200">
                          <a:solidFill>
                            <a:schemeClr val="dk1"/>
                          </a:solidFill>
                          <a:latin typeface="Google Sans"/>
                          <a:ea typeface="Google Sans"/>
                          <a:cs typeface="Google Sans"/>
                          <a:sym typeface="Google Sans"/>
                        </a:rPr>
                        <a:t>watsonx Orchestrate</a:t>
                      </a:r>
                      <a:endParaRPr sz="1000">
                        <a:solidFill>
                          <a:schemeClr val="dk1"/>
                        </a:solidFill>
                        <a:latin typeface="Google Sans"/>
                        <a:ea typeface="Google Sans"/>
                        <a:cs typeface="Google Sans"/>
                        <a:sym typeface="Google Sans"/>
                      </a:endParaRPr>
                    </a:p>
                  </a:txBody>
                  <a:tcPr marT="91425" marB="91425" marR="91425" marL="91425" anchor="ctr">
                    <a:lnL cap="flat" cmpd="sng" w="19050">
                      <a:solidFill>
                        <a:srgbClr val="E8EAED">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D1ECE3"/>
                      </a:solidFill>
                      <a:prstDash val="solid"/>
                      <a:round/>
                      <a:headEnd len="sm" w="sm" type="none"/>
                      <a:tailEnd len="sm" w="sm" type="none"/>
                    </a:lnT>
                    <a:lnB cap="flat" cmpd="sng" w="9525">
                      <a:solidFill>
                        <a:srgbClr val="D1ECE3"/>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chemeClr val="dk1"/>
                          </a:solidFill>
                          <a:latin typeface="Google Sans"/>
                          <a:ea typeface="Google Sans"/>
                          <a:cs typeface="Google Sans"/>
                          <a:sym typeface="Google Sans"/>
                        </a:rPr>
                        <a:t>Build and deploy AI agents</a:t>
                      </a:r>
                      <a:endParaRPr sz="1000">
                        <a:solidFill>
                          <a:schemeClr val="dk1"/>
                        </a:solidFill>
                        <a:latin typeface="Google Sans"/>
                        <a:ea typeface="Google Sans"/>
                        <a:cs typeface="Google Sans"/>
                        <a:sym typeface="Google Sans"/>
                      </a:endParaRPr>
                    </a:p>
                  </a:txBody>
                  <a:tcPr marT="91425" marB="91425" marR="91425" marL="13715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D1ECE3"/>
                      </a:solidFill>
                      <a:prstDash val="solid"/>
                      <a:round/>
                      <a:headEnd len="sm" w="sm" type="none"/>
                      <a:tailEnd len="sm" w="sm" type="none"/>
                    </a:lnT>
                    <a:lnB cap="flat" cmpd="sng" w="9525">
                      <a:solidFill>
                        <a:srgbClr val="D1ECE3"/>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chemeClr val="dk1"/>
                          </a:solidFill>
                          <a:latin typeface="Google Sans"/>
                          <a:ea typeface="Google Sans"/>
                          <a:cs typeface="Google Sans"/>
                          <a:sym typeface="Google Sans"/>
                        </a:rPr>
                        <a:t>Resource list → AI / ML</a:t>
                      </a:r>
                      <a:endParaRPr sz="1000">
                        <a:solidFill>
                          <a:schemeClr val="dk1"/>
                        </a:solidFill>
                        <a:latin typeface="Google Sans"/>
                        <a:ea typeface="Google Sans"/>
                        <a:cs typeface="Google Sans"/>
                        <a:sym typeface="Google Sans"/>
                      </a:endParaRPr>
                    </a:p>
                  </a:txBody>
                  <a:tcPr marT="91425" marB="91425" marR="91425" marL="13715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D1ECE3"/>
                      </a:solidFill>
                      <a:prstDash val="solid"/>
                      <a:round/>
                      <a:headEnd len="sm" w="sm" type="none"/>
                      <a:tailEnd len="sm" w="sm" type="none"/>
                    </a:lnT>
                    <a:lnB cap="flat" cmpd="sng" w="9525">
                      <a:solidFill>
                        <a:srgbClr val="D1ECE3"/>
                      </a:solidFill>
                      <a:prstDash val="solid"/>
                      <a:round/>
                      <a:headEnd len="sm" w="sm" type="none"/>
                      <a:tailEnd len="sm" w="sm" type="none"/>
                    </a:lnB>
                  </a:tcPr>
                </a:tc>
              </a:tr>
              <a:tr h="487000">
                <a:tc>
                  <a:txBody>
                    <a:bodyPr/>
                    <a:lstStyle/>
                    <a:p>
                      <a:pPr indent="0" lvl="0" marL="0" rtl="0" algn="l">
                        <a:lnSpc>
                          <a:spcPct val="115000"/>
                        </a:lnSpc>
                        <a:spcBef>
                          <a:spcPts val="0"/>
                        </a:spcBef>
                        <a:spcAft>
                          <a:spcPts val="0"/>
                        </a:spcAft>
                        <a:buNone/>
                      </a:pPr>
                      <a:r>
                        <a:rPr lang="en" sz="1200">
                          <a:solidFill>
                            <a:schemeClr val="dk1"/>
                          </a:solidFill>
                          <a:latin typeface="Google Sans"/>
                          <a:ea typeface="Google Sans"/>
                          <a:cs typeface="Google Sans"/>
                          <a:sym typeface="Google Sans"/>
                        </a:rPr>
                        <a:t>Cloudant</a:t>
                      </a:r>
                      <a:endParaRPr sz="1000">
                        <a:solidFill>
                          <a:schemeClr val="dk1"/>
                        </a:solidFill>
                        <a:latin typeface="Google Sans"/>
                        <a:ea typeface="Google Sans"/>
                        <a:cs typeface="Google Sans"/>
                        <a:sym typeface="Google Sans"/>
                      </a:endParaRPr>
                    </a:p>
                  </a:txBody>
                  <a:tcPr marT="91425" marB="91425" marR="91425" marL="91425" anchor="ctr">
                    <a:lnL cap="flat" cmpd="sng" w="19050">
                      <a:solidFill>
                        <a:srgbClr val="E8EAED">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D1ECE3"/>
                      </a:solidFill>
                      <a:prstDash val="solid"/>
                      <a:round/>
                      <a:headEnd len="sm" w="sm" type="none"/>
                      <a:tailEnd len="sm" w="sm" type="none"/>
                    </a:lnT>
                    <a:lnB cap="flat" cmpd="sng" w="9525">
                      <a:solidFill>
                        <a:srgbClr val="D1ECE3"/>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chemeClr val="dk1"/>
                          </a:solidFill>
                          <a:latin typeface="Google Sans"/>
                          <a:ea typeface="Google Sans"/>
                          <a:cs typeface="Google Sans"/>
                          <a:sym typeface="Google Sans"/>
                        </a:rPr>
                        <a:t>JSON database for app data</a:t>
                      </a:r>
                      <a:endParaRPr sz="1000">
                        <a:solidFill>
                          <a:schemeClr val="dk1"/>
                        </a:solidFill>
                        <a:latin typeface="Google Sans"/>
                        <a:ea typeface="Google Sans"/>
                        <a:cs typeface="Google Sans"/>
                        <a:sym typeface="Google Sans"/>
                      </a:endParaRPr>
                    </a:p>
                  </a:txBody>
                  <a:tcPr marT="91425" marB="91425" marR="91425" marL="13715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D1ECE3"/>
                      </a:solidFill>
                      <a:prstDash val="solid"/>
                      <a:round/>
                      <a:headEnd len="sm" w="sm" type="none"/>
                      <a:tailEnd len="sm" w="sm" type="none"/>
                    </a:lnT>
                    <a:lnB cap="flat" cmpd="sng" w="9525">
                      <a:solidFill>
                        <a:srgbClr val="D1ECE3"/>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chemeClr val="dk1"/>
                          </a:solidFill>
                          <a:latin typeface="Google Sans"/>
                          <a:ea typeface="Google Sans"/>
                          <a:cs typeface="Google Sans"/>
                          <a:sym typeface="Google Sans"/>
                        </a:rPr>
                        <a:t>Resource list → Databases</a:t>
                      </a:r>
                      <a:endParaRPr sz="1000">
                        <a:solidFill>
                          <a:schemeClr val="dk1"/>
                        </a:solidFill>
                        <a:latin typeface="Google Sans"/>
                        <a:ea typeface="Google Sans"/>
                        <a:cs typeface="Google Sans"/>
                        <a:sym typeface="Google Sans"/>
                      </a:endParaRPr>
                    </a:p>
                  </a:txBody>
                  <a:tcPr marT="91425" marB="91425" marR="91425" marL="13715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D1ECE3"/>
                      </a:solidFill>
                      <a:prstDash val="solid"/>
                      <a:round/>
                      <a:headEnd len="sm" w="sm" type="none"/>
                      <a:tailEnd len="sm" w="sm" type="none"/>
                    </a:lnT>
                    <a:lnB cap="flat" cmpd="sng" w="9525">
                      <a:solidFill>
                        <a:srgbClr val="D1ECE3"/>
                      </a:solidFill>
                      <a:prstDash val="solid"/>
                      <a:round/>
                      <a:headEnd len="sm" w="sm" type="none"/>
                      <a:tailEnd len="sm" w="sm" type="none"/>
                    </a:lnB>
                  </a:tcPr>
                </a:tc>
              </a:tr>
              <a:tr h="487000">
                <a:tc>
                  <a:txBody>
                    <a:bodyPr/>
                    <a:lstStyle/>
                    <a:p>
                      <a:pPr indent="0" lvl="0" marL="0" rtl="0" algn="l">
                        <a:lnSpc>
                          <a:spcPct val="115000"/>
                        </a:lnSpc>
                        <a:spcBef>
                          <a:spcPts val="0"/>
                        </a:spcBef>
                        <a:spcAft>
                          <a:spcPts val="0"/>
                        </a:spcAft>
                        <a:buNone/>
                      </a:pPr>
                      <a:r>
                        <a:rPr lang="en" sz="1200">
                          <a:solidFill>
                            <a:schemeClr val="dk1"/>
                          </a:solidFill>
                          <a:latin typeface="Google Sans"/>
                          <a:ea typeface="Google Sans"/>
                          <a:cs typeface="Google Sans"/>
                          <a:sym typeface="Google Sans"/>
                        </a:rPr>
                        <a:t>Code Engine</a:t>
                      </a:r>
                      <a:endParaRPr sz="1000">
                        <a:solidFill>
                          <a:schemeClr val="dk1"/>
                        </a:solidFill>
                        <a:latin typeface="Google Sans"/>
                        <a:ea typeface="Google Sans"/>
                        <a:cs typeface="Google Sans"/>
                        <a:sym typeface="Google Sans"/>
                      </a:endParaRPr>
                    </a:p>
                  </a:txBody>
                  <a:tcPr marT="91425" marB="91425" marR="91425" marL="91425" anchor="ctr">
                    <a:lnL cap="flat" cmpd="sng" w="19050">
                      <a:solidFill>
                        <a:srgbClr val="E8EAED">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D1ECE3"/>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chemeClr val="dk1"/>
                          </a:solidFill>
                          <a:latin typeface="Google Sans"/>
                          <a:ea typeface="Google Sans"/>
                          <a:cs typeface="Google Sans"/>
                          <a:sym typeface="Google Sans"/>
                        </a:rPr>
                        <a:t>Serverless deploys for your app</a:t>
                      </a:r>
                      <a:endParaRPr sz="1000">
                        <a:solidFill>
                          <a:schemeClr val="dk1"/>
                        </a:solidFill>
                        <a:latin typeface="Google Sans"/>
                        <a:ea typeface="Google Sans"/>
                        <a:cs typeface="Google Sans"/>
                        <a:sym typeface="Google Sans"/>
                      </a:endParaRPr>
                    </a:p>
                  </a:txBody>
                  <a:tcPr marT="91425" marB="91425" marR="91425" marL="13715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D1ECE3"/>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chemeClr val="dk1"/>
                          </a:solidFill>
                          <a:latin typeface="Google Sans"/>
                          <a:ea typeface="Google Sans"/>
                          <a:cs typeface="Google Sans"/>
                          <a:sym typeface="Google Sans"/>
                        </a:rPr>
                        <a:t>Resource list → Code Engine</a:t>
                      </a:r>
                      <a:endParaRPr sz="1000">
                        <a:solidFill>
                          <a:schemeClr val="dk1"/>
                        </a:solidFill>
                        <a:latin typeface="Google Sans"/>
                        <a:ea typeface="Google Sans"/>
                        <a:cs typeface="Google Sans"/>
                        <a:sym typeface="Google Sans"/>
                      </a:endParaRPr>
                    </a:p>
                  </a:txBody>
                  <a:tcPr marT="91425" marB="91425" marR="91425" marL="13715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D1ECE3"/>
                      </a:solidFill>
                      <a:prstDash val="solid"/>
                      <a:round/>
                      <a:headEnd len="sm" w="sm" type="none"/>
                      <a:tailEnd len="sm" w="sm" type="none"/>
                    </a:lnT>
                    <a:lnB cap="flat" cmpd="sng" w="19050">
                      <a:solidFill>
                        <a:schemeClr val="lt2"/>
                      </a:solidFill>
                      <a:prstDash val="solid"/>
                      <a:round/>
                      <a:headEnd len="sm" w="sm" type="none"/>
                      <a:tailEnd len="sm" w="sm" type="none"/>
                    </a:lnB>
                  </a:tcPr>
                </a:tc>
              </a:tr>
              <a:tr h="487000">
                <a:tc>
                  <a:txBody>
                    <a:bodyPr/>
                    <a:lstStyle/>
                    <a:p>
                      <a:pPr indent="0" lvl="0" marL="0" rtl="0" algn="l">
                        <a:lnSpc>
                          <a:spcPct val="115000"/>
                        </a:lnSpc>
                        <a:spcBef>
                          <a:spcPts val="0"/>
                        </a:spcBef>
                        <a:spcAft>
                          <a:spcPts val="0"/>
                        </a:spcAft>
                        <a:buNone/>
                      </a:pPr>
                      <a:r>
                        <a:rPr b="1" lang="en" sz="1200">
                          <a:solidFill>
                            <a:schemeClr val="dk1"/>
                          </a:solidFill>
                          <a:latin typeface="Google Sans"/>
                          <a:ea typeface="Google Sans"/>
                          <a:cs typeface="Google Sans"/>
                          <a:sym typeface="Google Sans"/>
                        </a:rPr>
                        <a:t>Your credits</a:t>
                      </a:r>
                      <a:endParaRPr b="1" sz="1000">
                        <a:solidFill>
                          <a:schemeClr val="dk1"/>
                        </a:solidFill>
                        <a:latin typeface="Google Sans"/>
                        <a:ea typeface="Google Sans"/>
                        <a:cs typeface="Google Sans"/>
                        <a:sym typeface="Google Sans"/>
                      </a:endParaRPr>
                    </a:p>
                  </a:txBody>
                  <a:tcPr marT="91425" marB="91425" marR="91425" marL="91425" anchor="ctr">
                    <a:lnL cap="flat" cmpd="sng" w="19050">
                      <a:solidFill>
                        <a:srgbClr val="E8EAED">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rgbClr val="E8EAED">
                          <a:alpha val="0"/>
                        </a:srgbClr>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en" sz="1200">
                          <a:solidFill>
                            <a:schemeClr val="dk1"/>
                          </a:solidFill>
                          <a:latin typeface="Google Sans"/>
                          <a:ea typeface="Google Sans"/>
                          <a:cs typeface="Google Sans"/>
                          <a:sym typeface="Google Sans"/>
                        </a:rPr>
                        <a:t>$100 per team account</a:t>
                      </a:r>
                      <a:endParaRPr b="1" sz="1000">
                        <a:solidFill>
                          <a:schemeClr val="dk1"/>
                        </a:solidFill>
                        <a:latin typeface="Google Sans"/>
                        <a:ea typeface="Google Sans"/>
                        <a:cs typeface="Google Sans"/>
                        <a:sym typeface="Google Sans"/>
                      </a:endParaRPr>
                    </a:p>
                  </a:txBody>
                  <a:tcPr marT="91425" marB="91425" marR="91425" marL="13715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rgbClr val="E8EAED">
                          <a:alpha val="0"/>
                        </a:srgbClr>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en" sz="1200">
                          <a:solidFill>
                            <a:schemeClr val="dk1"/>
                          </a:solidFill>
                          <a:latin typeface="Google Sans"/>
                          <a:ea typeface="Google Sans"/>
                          <a:cs typeface="Google Sans"/>
                          <a:sym typeface="Google Sans"/>
                        </a:rPr>
                        <a:t>Alerts at 25%, 50%, 80%</a:t>
                      </a:r>
                      <a:endParaRPr b="1" sz="1000">
                        <a:solidFill>
                          <a:schemeClr val="dk1"/>
                        </a:solidFill>
                        <a:latin typeface="Google Sans"/>
                        <a:ea typeface="Google Sans"/>
                        <a:cs typeface="Google Sans"/>
                        <a:sym typeface="Google Sans"/>
                      </a:endParaRPr>
                    </a:p>
                  </a:txBody>
                  <a:tcPr marT="91425" marB="91425" marR="91425" marL="13715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rgbClr val="E8EAED">
                          <a:alpha val="0"/>
                        </a:srgbClr>
                      </a:solidFill>
                      <a:prstDash val="solid"/>
                      <a:round/>
                      <a:headEnd len="sm" w="sm" type="none"/>
                      <a:tailEnd len="sm" w="sm" type="none"/>
                    </a:lnB>
                    <a:solidFill>
                      <a:srgbClr val="FFFFFF"/>
                    </a:solidFill>
                  </a:tcPr>
                </a:tc>
              </a:tr>
            </a:tbl>
          </a:graphicData>
        </a:graphic>
      </p:graphicFrame>
      <p:pic>
        <p:nvPicPr>
          <p:cNvPr id="732" name="Google Shape;732;p71"/>
          <p:cNvPicPr preferRelativeResize="0"/>
          <p:nvPr/>
        </p:nvPicPr>
        <p:blipFill rotWithShape="1">
          <a:blip r:embed="rId3">
            <a:alphaModFix/>
          </a:blip>
          <a:srcRect b="32898" l="11839" r="11831" t="32898"/>
          <a:stretch/>
        </p:blipFill>
        <p:spPr>
          <a:xfrm>
            <a:off x="369450" y="4845850"/>
            <a:ext cx="1033175" cy="138126"/>
          </a:xfrm>
          <a:prstGeom prst="rect">
            <a:avLst/>
          </a:prstGeom>
          <a:noFill/>
          <a:ln>
            <a:noFill/>
          </a:ln>
        </p:spPr>
      </p:pic>
      <p:sp>
        <p:nvSpPr>
          <p:cNvPr id="733" name="Google Shape;733;p71"/>
          <p:cNvSpPr txBox="1"/>
          <p:nvPr/>
        </p:nvSpPr>
        <p:spPr>
          <a:xfrm>
            <a:off x="369825" y="360735"/>
            <a:ext cx="6879000" cy="6483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b="1" lang="en" sz="3000">
                <a:solidFill>
                  <a:srgbClr val="E4C472"/>
                </a:solidFill>
                <a:latin typeface="Google Sans"/>
                <a:ea typeface="Google Sans"/>
                <a:cs typeface="Google Sans"/>
                <a:sym typeface="Google Sans"/>
              </a:rPr>
              <a:t>Step 3: Your IBM toolkit</a:t>
            </a:r>
          </a:p>
        </p:txBody>
      </p:sp>
      <p:sp>
        <p:nvSpPr>
          <p:cNvPr id="734" name="Google Shape;734;p71"/>
          <p:cNvSpPr/>
          <p:nvPr/>
        </p:nvSpPr>
        <p:spPr>
          <a:xfrm>
            <a:off x="335650" y="4794150"/>
            <a:ext cx="1084500" cy="2232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35" name="Google Shape;735;p71" title="compass_locationLogo.png"/>
          <p:cNvPicPr preferRelativeResize="0"/>
          <p:nvPr/>
        </p:nvPicPr>
        <p:blipFill>
          <a:blip r:embed="rId4">
            <a:alphaModFix/>
          </a:blip>
          <a:stretch>
            <a:fillRect/>
          </a:stretch>
        </p:blipFill>
        <p:spPr>
          <a:xfrm>
            <a:off x="311747" y="4681275"/>
            <a:ext cx="1423650" cy="368125"/>
          </a:xfrm>
          <a:prstGeom prst="rect">
            <a:avLst/>
          </a:prstGeom>
          <a:noFill/>
          <a:ln>
            <a:noFill/>
          </a:ln>
        </p:spPr>
      </p:pic>
      <p:sp>
        <p:nvSpPr>
          <p:cNvPr id="736" name="Google Shape;736;p71"/>
          <p:cNvSpPr/>
          <p:nvPr/>
        </p:nvSpPr>
        <p:spPr>
          <a:xfrm>
            <a:off x="7552500" y="105200"/>
            <a:ext cx="1299900" cy="255300"/>
          </a:xfrm>
          <a:prstGeom prst="rect">
            <a:avLst/>
          </a:prstGeom>
          <a:solidFill>
            <a:srgbClr val="0F7C67"/>
          </a:solidFill>
          <a:ln cap="flat" cmpd="sng" w="9525">
            <a:solidFill>
              <a:srgbClr val="0F7C6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65"/>
          <p:cNvSpPr txBox="1"/>
          <p:nvPr/>
        </p:nvSpPr>
        <p:spPr>
          <a:xfrm>
            <a:off x="369450" y="2011680"/>
            <a:ext cx="2450100" cy="20565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0"/>
              </a:spcAft>
              <a:buNone/>
            </a:pPr>
            <a:r>
              <a:rPr lang="en" sz="1500">
                <a:solidFill>
                  <a:schemeClr val="dk1"/>
                </a:solidFill>
                <a:latin typeface="Google Sans"/>
                <a:ea typeface="Google Sans"/>
                <a:cs typeface="Google Sans"/>
                <a:sym typeface="Google Sans"/>
              </a:rPr>
              <a:t>Meet Bob (9 min) and Build with Bob tech talk (21 min)</a:t>
            </a:r>
          </a:p>
          <a:p>
            <a:pPr indent="-207150" lvl="0" marL="269999" rtl="0" algn="l">
              <a:lnSpc>
                <a:spcPct val="130000"/>
              </a:lnSpc>
              <a:spcBef>
                <a:spcPts val="1000"/>
              </a:spcBef>
              <a:spcAft>
                <a:spcPts val="700"/>
              </a:spcAft>
              <a:buClr>
                <a:schemeClr val="dk2"/>
              </a:buClr>
              <a:buSzPts val="900"/>
              <a:buFont typeface="Google Sans"/>
              <a:buChar char="●"/>
            </a:pPr>
            <a:r>
              <a:rPr lang="en" sz="1400">
                <a:solidFill>
                  <a:schemeClr val="dk1"/>
                </a:solidFill>
                <a:latin typeface="Google Sans"/>
                <a:ea typeface="Google Sans"/>
                <a:cs typeface="Google Sans"/>
                <a:sym typeface="Google Sans"/>
              </a:rPr>
              <a:t>Bob courses on IBM SkillsBuild</a:t>
            </a:r>
          </a:p>
        </p:txBody>
      </p:sp>
      <p:sp>
        <p:nvSpPr>
          <p:cNvPr id="648" name="Google Shape;648;p65"/>
          <p:cNvSpPr txBox="1"/>
          <p:nvPr/>
        </p:nvSpPr>
        <p:spPr>
          <a:xfrm>
            <a:off x="369825" y="1551826"/>
            <a:ext cx="2450100" cy="226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700"/>
              </a:spcAft>
              <a:buNone/>
            </a:pPr>
            <a:r>
              <a:rPr lang="en" sz="1800">
                <a:solidFill>
                  <a:schemeClr val="dk2"/>
                </a:solidFill>
                <a:latin typeface="Google Sans SemiBold"/>
                <a:ea typeface="Google Sans SemiBold"/>
                <a:cs typeface="Google Sans SemiBold"/>
                <a:sym typeface="Google Sans SemiBold"/>
              </a:rPr>
              <a:t>Meet IBM Bob</a:t>
            </a:r>
          </a:p>
        </p:txBody>
      </p:sp>
      <p:sp>
        <p:nvSpPr>
          <p:cNvPr id="649" name="Google Shape;649;p65"/>
          <p:cNvSpPr txBox="1"/>
          <p:nvPr/>
        </p:nvSpPr>
        <p:spPr>
          <a:xfrm>
            <a:off x="3244150" y="2011680"/>
            <a:ext cx="2450100" cy="20565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0"/>
              </a:spcAft>
              <a:buNone/>
            </a:pPr>
            <a:r>
              <a:rPr lang="en" sz="1500">
                <a:solidFill>
                  <a:schemeClr val="dk1"/>
                </a:solidFill>
                <a:latin typeface="Google Sans"/>
                <a:ea typeface="Google Sans"/>
                <a:cs typeface="Google Sans"/>
                <a:sym typeface="Google Sans"/>
              </a:rPr>
              <a:t>watsonx.ai overview (6 min) and Prompt Lab (3 min)</a:t>
            </a:r>
          </a:p>
          <a:p>
            <a:pPr indent="-207150" lvl="0" marL="269999" rtl="0" algn="l">
              <a:lnSpc>
                <a:spcPct val="130000"/>
              </a:lnSpc>
              <a:spcBef>
                <a:spcPts val="1000"/>
              </a:spcBef>
              <a:spcAft>
                <a:spcPts val="700"/>
              </a:spcAft>
              <a:buClr>
                <a:schemeClr val="dk2"/>
              </a:buClr>
              <a:buSzPts val="900"/>
              <a:buFont typeface="Google Sans"/>
              <a:buChar char="●"/>
            </a:pPr>
            <a:r>
              <a:rPr lang="en" sz="1400">
                <a:solidFill>
                  <a:schemeClr val="dk1"/>
                </a:solidFill>
                <a:latin typeface="Google Sans"/>
                <a:ea typeface="Google Sans"/>
                <a:cs typeface="Google Sans"/>
                <a:sym typeface="Google Sans"/>
              </a:rPr>
              <a:t>Lab: ReAct agent with IBM Granite (30 min)</a:t>
            </a:r>
          </a:p>
        </p:txBody>
      </p:sp>
      <p:sp>
        <p:nvSpPr>
          <p:cNvPr id="650" name="Google Shape;650;p65"/>
          <p:cNvSpPr txBox="1"/>
          <p:nvPr/>
        </p:nvSpPr>
        <p:spPr>
          <a:xfrm>
            <a:off x="3244525" y="1551826"/>
            <a:ext cx="2450100" cy="226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700"/>
              </a:spcAft>
              <a:buNone/>
            </a:pPr>
            <a:r>
              <a:rPr lang="en" sz="1800">
                <a:solidFill>
                  <a:schemeClr val="dk2"/>
                </a:solidFill>
                <a:latin typeface="Google Sans SemiBold"/>
                <a:ea typeface="Google Sans SemiBold"/>
                <a:cs typeface="Google Sans SemiBold"/>
                <a:sym typeface="Google Sans SemiBold"/>
              </a:rPr>
              <a:t>watsonx.ai + agents</a:t>
            </a:r>
          </a:p>
        </p:txBody>
      </p:sp>
      <p:sp>
        <p:nvSpPr>
          <p:cNvPr id="651" name="Google Shape;651;p65"/>
          <p:cNvSpPr txBox="1"/>
          <p:nvPr/>
        </p:nvSpPr>
        <p:spPr>
          <a:xfrm>
            <a:off x="6118850" y="2011680"/>
            <a:ext cx="2450100" cy="20565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0"/>
              </a:spcAft>
              <a:buNone/>
            </a:pPr>
            <a:r>
              <a:rPr lang="en" sz="1500">
                <a:solidFill>
                  <a:schemeClr val="dk1"/>
                </a:solidFill>
                <a:latin typeface="Google Sans"/>
                <a:ea typeface="Google Sans"/>
                <a:cs typeface="Google Sans"/>
                <a:sym typeface="Google Sans"/>
              </a:rPr>
              <a:t>Get to know Orchestrate (6 min) and multi-agent guide (7 min)</a:t>
            </a:r>
          </a:p>
          <a:p>
            <a:pPr indent="-207150" lvl="0" marL="269999" rtl="0" algn="l">
              <a:lnSpc>
                <a:spcPct val="130000"/>
              </a:lnSpc>
              <a:spcBef>
                <a:spcPts val="1000"/>
              </a:spcBef>
              <a:spcAft>
                <a:spcPts val="700"/>
              </a:spcAft>
              <a:buClr>
                <a:schemeClr val="dk2"/>
              </a:buClr>
              <a:buSzPts val="900"/>
              <a:buFont typeface="Google Sans"/>
              <a:buChar char="●"/>
            </a:pPr>
            <a:r>
              <a:rPr lang="en" sz="1400">
                <a:solidFill>
                  <a:schemeClr val="dk1"/>
                </a:solidFill>
                <a:latin typeface="Google Sans"/>
                <a:ea typeface="Google Sans"/>
                <a:cs typeface="Google Sans"/>
                <a:sym typeface="Google Sans"/>
              </a:rPr>
              <a:t>ADK guide for Python agents (optional)</a:t>
            </a:r>
          </a:p>
        </p:txBody>
      </p:sp>
      <p:sp>
        <p:nvSpPr>
          <p:cNvPr id="652" name="Google Shape;652;p65"/>
          <p:cNvSpPr txBox="1"/>
          <p:nvPr/>
        </p:nvSpPr>
        <p:spPr>
          <a:xfrm>
            <a:off x="6118850" y="1551826"/>
            <a:ext cx="2450100" cy="226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700"/>
              </a:spcAft>
              <a:buNone/>
            </a:pPr>
            <a:r>
              <a:rPr lang="en" sz="1800">
                <a:solidFill>
                  <a:schemeClr val="dk2"/>
                </a:solidFill>
                <a:latin typeface="Google Sans SemiBold"/>
                <a:ea typeface="Google Sans SemiBold"/>
                <a:cs typeface="Google Sans SemiBold"/>
                <a:sym typeface="Google Sans SemiBold"/>
              </a:rPr>
              <a:t>watsonx Orchestrate</a:t>
            </a:r>
          </a:p>
        </p:txBody>
      </p:sp>
      <p:sp>
        <p:nvSpPr>
          <p:cNvPr id="653" name="Google Shape;653;p65"/>
          <p:cNvSpPr txBox="1"/>
          <p:nvPr/>
        </p:nvSpPr>
        <p:spPr>
          <a:xfrm>
            <a:off x="369825" y="360735"/>
            <a:ext cx="6879000" cy="6483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b="1" lang="en" sz="2800">
                <a:solidFill>
                  <a:schemeClr val="dk2"/>
                </a:solidFill>
                <a:latin typeface="Google Sans"/>
                <a:ea typeface="Google Sans"/>
                <a:cs typeface="Google Sans"/>
                <a:sym typeface="Google Sans"/>
              </a:rPr>
              <a:t>Step 4: Learn fast on the Education tab</a:t>
            </a:r>
          </a:p>
        </p:txBody>
      </p:sp>
      <p:sp>
        <p:nvSpPr>
          <p:cNvPr id="654" name="Google Shape;654;p65"/>
          <p:cNvSpPr/>
          <p:nvPr/>
        </p:nvSpPr>
        <p:spPr>
          <a:xfrm>
            <a:off x="335650" y="4786175"/>
            <a:ext cx="1092600" cy="2262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55" name="Google Shape;655;p65" title="compass_locationLogo.png"/>
          <p:cNvPicPr preferRelativeResize="0"/>
          <p:nvPr/>
        </p:nvPicPr>
        <p:blipFill>
          <a:blip r:embed="rId3">
            <a:alphaModFix/>
          </a:blip>
          <a:stretch>
            <a:fillRect/>
          </a:stretch>
        </p:blipFill>
        <p:spPr>
          <a:xfrm>
            <a:off x="311747" y="4681275"/>
            <a:ext cx="1423650" cy="368125"/>
          </a:xfrm>
          <a:prstGeom prst="rect">
            <a:avLst/>
          </a:prstGeom>
          <a:noFill/>
          <a:ln>
            <a:noFill/>
          </a:ln>
        </p:spPr>
      </p:pic>
      <p:sp>
        <p:nvSpPr>
          <p:cNvPr id="656" name="Google Shape;656;p65"/>
          <p:cNvSpPr/>
          <p:nvPr/>
        </p:nvSpPr>
        <p:spPr>
          <a:xfrm>
            <a:off x="7552500" y="105200"/>
            <a:ext cx="1299900" cy="2553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7" name="TextBox 656"/>
          <p:cNvSpPr txBox="1"/>
          <p:nvPr/>
        </p:nvSpPr>
        <p:spPr>
          <a:xfrm>
            <a:off x="365760" y="4069080"/>
            <a:ext cx="4572000" cy="274320"/>
          </a:xfrm>
          <a:prstGeom prst="rect">
            <a:avLst/>
          </a:prstGeom>
          <a:noFill/>
        </p:spPr>
        <p:txBody>
          <a:bodyPr wrap="square" lIns="0" rIns="0" tIns="0" bIns="0">
            <a:spAutoFit/>
          </a:bodyPr>
          <a:lstStyle/>
          <a:p>
            <a:pPr algn="l"/>
            <a:r>
              <a:rPr sz="1400" b="1">
                <a:solidFill>
                  <a:srgbClr val="2480F0"/>
                </a:solidFill>
                <a:latin typeface="Google Sans"/>
              </a:rPr>
              <a:t>ibm.biz/a2tech360  →  Education tab</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48"/>
          <p:cNvSpPr/>
          <p:nvPr/>
        </p:nvSpPr>
        <p:spPr>
          <a:xfrm rot="5400000">
            <a:off x="1907800" y="-1922600"/>
            <a:ext cx="4486200" cy="8316300"/>
          </a:xfrm>
          <a:prstGeom prst="round1Rect">
            <a:avLst>
              <a:gd fmla="val 7834"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48"/>
          <p:cNvSpPr txBox="1"/>
          <p:nvPr/>
        </p:nvSpPr>
        <p:spPr>
          <a:xfrm>
            <a:off x="6463218" y="180000"/>
            <a:ext cx="1585200" cy="10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700">
                <a:solidFill>
                  <a:srgbClr val="B7B7B7"/>
                </a:solidFill>
                <a:latin typeface="Google Sans"/>
                <a:ea typeface="Google Sans"/>
                <a:cs typeface="Google Sans"/>
                <a:sym typeface="Google Sans"/>
              </a:rPr>
              <a:t/>
            </a:r>
            <a:endParaRPr sz="700">
              <a:solidFill>
                <a:srgbClr val="B7B7B7"/>
              </a:solidFill>
              <a:latin typeface="Google Sans"/>
              <a:ea typeface="Google Sans"/>
              <a:cs typeface="Google Sans"/>
              <a:sym typeface="Google Sans"/>
            </a:endParaRPr>
          </a:p>
        </p:txBody>
      </p:sp>
      <p:sp>
        <p:nvSpPr>
          <p:cNvPr id="442" name="Google Shape;442;p48"/>
          <p:cNvSpPr txBox="1"/>
          <p:nvPr/>
        </p:nvSpPr>
        <p:spPr>
          <a:xfrm>
            <a:off x="369450" y="1718218"/>
            <a:ext cx="1005000" cy="7305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000"/>
              </a:spcAft>
              <a:buNone/>
            </a:pPr>
            <a:r>
              <a:rPr b="1" lang="en" sz="5600">
                <a:solidFill>
                  <a:srgbClr val="2480EF"/>
                </a:solidFill>
                <a:latin typeface="Google Sans"/>
                <a:ea typeface="Google Sans"/>
                <a:cs typeface="Google Sans"/>
                <a:sym typeface="Google Sans"/>
              </a:rPr>
              <a:t>03</a:t>
            </a:r>
          </a:p>
        </p:txBody>
      </p:sp>
      <p:sp>
        <p:nvSpPr>
          <p:cNvPr id="443" name="Google Shape;443;p48"/>
          <p:cNvSpPr txBox="1"/>
          <p:nvPr/>
        </p:nvSpPr>
        <p:spPr>
          <a:xfrm>
            <a:off x="1663653" y="1715225"/>
            <a:ext cx="4572000" cy="1245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000"/>
              </a:spcAft>
              <a:buNone/>
            </a:pPr>
            <a:r>
              <a:rPr b="1" lang="en" sz="3600">
                <a:solidFill>
                  <a:schemeClr val="dk1"/>
                </a:solidFill>
                <a:latin typeface="Google Sans"/>
                <a:ea typeface="Google Sans"/>
                <a:cs typeface="Google Sans"/>
                <a:sym typeface="Google Sans"/>
              </a:rPr>
              <a:t>Google Cloud </a:t>
            </a:r>
            <a:r>
              <a:rPr b="1" lang="en" sz="3600">
                <a:solidFill>
                  <a:schemeClr val="dk1"/>
                </a:solidFill>
                <a:latin typeface="Google Sans"/>
                <a:ea typeface="Google Sans"/>
                <a:cs typeface="Google Sans"/>
                <a:sym typeface="Google Sans"/>
              </a:rPr>
              <a:t>credits</a:t>
            </a:r>
          </a:p>
        </p:txBody>
      </p:sp>
      <p:pic>
        <p:nvPicPr>
          <p:cNvPr id="444" name="Google Shape;444;p48"/>
          <p:cNvPicPr preferRelativeResize="0"/>
          <p:nvPr/>
        </p:nvPicPr>
        <p:blipFill rotWithShape="1">
          <a:blip r:embed="rId3">
            <a:alphaModFix/>
          </a:blip>
          <a:srcRect b="32898" l="11839" r="11831" t="32898"/>
          <a:stretch/>
        </p:blipFill>
        <p:spPr>
          <a:xfrm>
            <a:off x="416713" y="1160596"/>
            <a:ext cx="2190879" cy="292900"/>
          </a:xfrm>
          <a:prstGeom prst="rect">
            <a:avLst/>
          </a:prstGeom>
          <a:noFill/>
          <a:ln>
            <a:noFill/>
          </a:ln>
        </p:spPr>
      </p:pic>
      <p:pic>
        <p:nvPicPr>
          <p:cNvPr id="445" name="Google Shape;445;p48"/>
          <p:cNvPicPr preferRelativeResize="0"/>
          <p:nvPr/>
        </p:nvPicPr>
        <p:blipFill>
          <a:blip r:embed="rId4">
            <a:alphaModFix/>
          </a:blip>
          <a:stretch>
            <a:fillRect/>
          </a:stretch>
        </p:blipFill>
        <p:spPr>
          <a:xfrm>
            <a:off x="6267133" y="2405316"/>
            <a:ext cx="702408" cy="518574"/>
          </a:xfrm>
          <a:prstGeom prst="rect">
            <a:avLst/>
          </a:prstGeom>
          <a:noFill/>
          <a:ln>
            <a:noFill/>
          </a:ln>
        </p:spPr>
      </p:pic>
      <p:pic>
        <p:nvPicPr>
          <p:cNvPr id="446" name="Google Shape;446;p48"/>
          <p:cNvPicPr preferRelativeResize="0"/>
          <p:nvPr/>
        </p:nvPicPr>
        <p:blipFill rotWithShape="1">
          <a:blip r:embed="rId5">
            <a:alphaModFix/>
          </a:blip>
          <a:srcRect b="22917" l="0" r="0" t="0"/>
          <a:stretch/>
        </p:blipFill>
        <p:spPr>
          <a:xfrm>
            <a:off x="6601025" y="2602400"/>
            <a:ext cx="1487275" cy="2541102"/>
          </a:xfrm>
          <a:prstGeom prst="rect">
            <a:avLst/>
          </a:prstGeom>
          <a:noFill/>
          <a:ln>
            <a:noFill/>
          </a:ln>
        </p:spPr>
      </p:pic>
      <p:sp>
        <p:nvSpPr>
          <p:cNvPr id="447" name="Google Shape;447;p48"/>
          <p:cNvSpPr/>
          <p:nvPr/>
        </p:nvSpPr>
        <p:spPr>
          <a:xfrm>
            <a:off x="6748525" y="106650"/>
            <a:ext cx="1299900" cy="255300"/>
          </a:xfrm>
          <a:prstGeom prst="rect">
            <a:avLst/>
          </a:prstGeom>
          <a:solidFill>
            <a:srgbClr val="FEFDFE"/>
          </a:solidFill>
          <a:ln cap="flat" cmpd="sng" w="9525">
            <a:solidFill>
              <a:srgbClr val="FEFE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8" name="Google Shape;448;p48"/>
          <p:cNvSpPr/>
          <p:nvPr/>
        </p:nvSpPr>
        <p:spPr>
          <a:xfrm>
            <a:off x="327700" y="1054150"/>
            <a:ext cx="2360400" cy="4863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49" name="Google Shape;449;p48" title="compass_locationLogo.png"/>
          <p:cNvPicPr preferRelativeResize="0"/>
          <p:nvPr/>
        </p:nvPicPr>
        <p:blipFill>
          <a:blip r:embed="rId6">
            <a:alphaModFix/>
          </a:blip>
          <a:stretch>
            <a:fillRect/>
          </a:stretch>
        </p:blipFill>
        <p:spPr>
          <a:xfrm>
            <a:off x="369450" y="1043400"/>
            <a:ext cx="1880627" cy="4863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62"/>
          <p:cNvSpPr/>
          <p:nvPr/>
        </p:nvSpPr>
        <p:spPr>
          <a:xfrm rot="-5400000">
            <a:off x="5080875" y="1089975"/>
            <a:ext cx="3601800" cy="4524300"/>
          </a:xfrm>
          <a:prstGeom prst="round1Rect">
            <a:avLst>
              <a:gd fmla="val 6295" name="adj"/>
            </a:avLst>
          </a:prstGeom>
          <a:solidFill>
            <a:srgbClr val="CAE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62"/>
          <p:cNvSpPr/>
          <p:nvPr/>
        </p:nvSpPr>
        <p:spPr>
          <a:xfrm>
            <a:off x="369825" y="4114800"/>
            <a:ext cx="2377440" cy="323100"/>
          </a:xfrm>
          <a:prstGeom prst="roundRect">
            <a:avLst>
              <a:gd fmla="val 13957" name="adj"/>
            </a:avLst>
          </a:prstGeom>
          <a:solidFill>
            <a:srgbClr val="2480EF"/>
          </a:solidFill>
          <a:ln>
            <a:noFill/>
          </a:ln>
        </p:spPr>
        <p:txBody>
          <a:bodyPr anchorCtr="0" anchor="ctr" bIns="0" lIns="91425" spcFirstLastPara="1" rIns="91425" wrap="square" tIns="137150">
            <a:noAutofit/>
          </a:bodyPr>
          <a:lstStyle/>
          <a:p>
            <a:pPr indent="0" lvl="0" marL="0" rtl="0" algn="ctr">
              <a:lnSpc>
                <a:spcPct val="115000"/>
              </a:lnSpc>
              <a:spcBef>
                <a:spcPts val="0"/>
              </a:spcBef>
              <a:spcAft>
                <a:spcPts val="1000"/>
              </a:spcAft>
              <a:buNone/>
            </a:pPr>
            <a:r>
              <a:rPr b="1" lang="en" sz="1100">
                <a:solidFill>
                  <a:srgbClr val="FFFFFF"/>
                </a:solidFill>
                <a:latin typeface="Google Sans"/>
                <a:ea typeface="Google Sans"/>
                <a:cs typeface="Google Sans"/>
                <a:sym typeface="Google Sans"/>
              </a:rPr>
              <a:t>Video walkthrough in repo</a:t>
            </a:r>
          </a:p>
        </p:txBody>
      </p:sp>
      <p:sp>
        <p:nvSpPr>
          <p:cNvPr id="613" name="Google Shape;613;p62"/>
          <p:cNvSpPr txBox="1"/>
          <p:nvPr/>
        </p:nvSpPr>
        <p:spPr>
          <a:xfrm>
            <a:off x="369450" y="1188720"/>
            <a:ext cx="4206240" cy="265176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600"/>
              </a:spcBef>
              <a:spcAft>
                <a:spcPts val="200"/>
              </a:spcAft>
              <a:buNone/>
            </a:pPr>
            <a:r>
              <a:rPr lang="en" sz="1500">
                <a:solidFill>
                  <a:schemeClr val="dk1"/>
                </a:solidFill>
                <a:latin typeface="Google Sans SemiBold"/>
                <a:ea typeface="Google Sans SemiBold"/>
                <a:cs typeface="Google Sans SemiBold"/>
                <a:sym typeface="Google Sans SemiBold"/>
              </a:rPr>
              <a:t>Claim them now: vouchers expire when the event ends.</a:t>
            </a:r>
          </a:p>
          <a:p>
            <a:pPr indent="0" lvl="0" marL="0" rtl="0" algn="l">
              <a:lnSpc>
                <a:spcPct val="130000"/>
              </a:lnSpc>
              <a:spcBef>
                <a:spcPts val="600"/>
              </a:spcBef>
              <a:spcAft>
                <a:spcPts val="200"/>
              </a:spcAft>
              <a:buNone/>
            </a:pPr>
            <a:r>
              <a:rPr lang="en" sz="1300">
                <a:solidFill>
                  <a:srgbClr val="5F6368"/>
                </a:solidFill>
                <a:latin typeface="Google Sans"/>
                <a:ea typeface="Google Sans"/>
                <a:cs typeface="Google Sans"/>
                <a:sym typeface="Google Sans"/>
              </a:rPr>
              <a:t>1. Join the Google Group with a personal @gmail.com.</a:t>
            </a:r>
          </a:p>
          <a:p>
            <a:pPr indent="0" lvl="0" marL="0" rtl="0" algn="l">
              <a:lnSpc>
                <a:spcPct val="130000"/>
              </a:lnSpc>
              <a:spcBef>
                <a:spcPts val="600"/>
              </a:spcBef>
              <a:spcAft>
                <a:spcPts val="200"/>
              </a:spcAft>
              <a:buNone/>
            </a:pPr>
            <a:r>
              <a:rPr lang="en" sz="1300">
                <a:solidFill>
                  <a:srgbClr val="5F6368"/>
                </a:solidFill>
                <a:latin typeface="Google Sans"/>
                <a:ea typeface="Google Sans"/>
                <a:cs typeface="Google Sans"/>
                <a:sym typeface="Google Sans"/>
              </a:rPr>
              <a:t>2. Open the credits link, sign in, claim your badge.</a:t>
            </a:r>
          </a:p>
          <a:p>
            <a:pPr indent="0" lvl="0" marL="0" rtl="0" algn="l">
              <a:lnSpc>
                <a:spcPct val="130000"/>
              </a:lnSpc>
              <a:spcBef>
                <a:spcPts val="600"/>
              </a:spcBef>
              <a:spcAft>
                <a:spcPts val="200"/>
              </a:spcAft>
              <a:buNone/>
            </a:pPr>
            <a:r>
              <a:rPr lang="en" sz="1300">
                <a:solidFill>
                  <a:srgbClr val="5F6368"/>
                </a:solidFill>
                <a:latin typeface="Google Sans"/>
                <a:ea typeface="Google Sans"/>
                <a:cs typeface="Google Sans"/>
                <a:sym typeface="Google Sans"/>
              </a:rPr>
              <a:t>3. Verify on your phone, then wait 2–5 minutes.</a:t>
            </a:r>
          </a:p>
          <a:p>
            <a:pPr indent="0" lvl="0" marL="0" rtl="0" algn="l">
              <a:lnSpc>
                <a:spcPct val="130000"/>
              </a:lnSpc>
              <a:spcBef>
                <a:spcPts val="600"/>
              </a:spcBef>
              <a:spcAft>
                <a:spcPts val="200"/>
              </a:spcAft>
              <a:buNone/>
            </a:pPr>
            <a:r>
              <a:rPr lang="en" sz="1300">
                <a:solidFill>
                  <a:srgbClr val="5F6368"/>
                </a:solidFill>
                <a:latin typeface="Google Sans"/>
                <a:ea typeface="Google Sans"/>
                <a:cs typeface="Google Sans"/>
                <a:sym typeface="Google Sans"/>
              </a:rPr>
              <a:t>4. Create a Cloud project on the credits billing account.</a:t>
            </a:r>
          </a:p>
        </p:txBody>
      </p:sp>
      <p:sp>
        <p:nvSpPr>
          <p:cNvPr id="614" name="Google Shape;614;p62"/>
          <p:cNvSpPr txBox="1"/>
          <p:nvPr/>
        </p:nvSpPr>
        <p:spPr>
          <a:xfrm>
            <a:off x="5349240" y="3429000"/>
            <a:ext cx="2011680" cy="73152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 sz="1000">
                <a:solidFill>
                  <a:schemeClr val="dk1"/>
                </a:solidFill>
                <a:latin typeface="Google Sans SemiBold"/>
                <a:ea typeface="Google Sans SemiBold"/>
                <a:cs typeface="Google Sans SemiBold"/>
                <a:sym typeface="Google Sans SemiBold"/>
              </a:rPr>
              <a:t>Stuck? CRED-101: use a personal Gmail. CRED-103: refresh or use mobile data.</a:t>
            </a:r>
          </a:p>
        </p:txBody>
      </p:sp>
      <p:sp>
        <p:nvSpPr>
          <p:cNvPr id="615" name="Google Shape;615;p62"/>
          <p:cNvSpPr txBox="1"/>
          <p:nvPr/>
        </p:nvSpPr>
        <p:spPr>
          <a:xfrm>
            <a:off x="369825" y="360735"/>
            <a:ext cx="6879000" cy="6483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b="1" lang="en" sz="2800">
                <a:solidFill>
                  <a:schemeClr val="dk2"/>
                </a:solidFill>
                <a:latin typeface="Google Sans"/>
                <a:ea typeface="Google Sans"/>
                <a:cs typeface="Google Sans"/>
                <a:sym typeface="Google Sans"/>
              </a:rPr>
              <a:t>Claim $25 in Google Cloud credits</a:t>
            </a:r>
          </a:p>
        </p:txBody>
      </p:sp>
      <p:pic>
        <p:nvPicPr>
          <p:cNvPr id="616" name="Google Shape;616;p62"/>
          <p:cNvPicPr preferRelativeResize="0"/>
          <p:nvPr/>
        </p:nvPicPr>
        <p:blipFill rotWithShape="1">
          <a:blip r:embed="rId3">
            <a:alphaModFix/>
          </a:blip>
          <a:srcRect b="7936" l="0" r="8784" t="0"/>
          <a:stretch/>
        </p:blipFill>
        <p:spPr>
          <a:xfrm>
            <a:off x="7346675" y="3749400"/>
            <a:ext cx="1797325" cy="1394100"/>
          </a:xfrm>
          <a:prstGeom prst="rect">
            <a:avLst/>
          </a:prstGeom>
          <a:noFill/>
          <a:ln>
            <a:noFill/>
          </a:ln>
        </p:spPr>
      </p:pic>
      <p:sp>
        <p:nvSpPr>
          <p:cNvPr id="617" name="Google Shape;617;p62"/>
          <p:cNvSpPr/>
          <p:nvPr/>
        </p:nvSpPr>
        <p:spPr>
          <a:xfrm>
            <a:off x="335650" y="4786175"/>
            <a:ext cx="1092600" cy="2262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18" name="Google Shape;618;p62" title="compass_locationLogo.png"/>
          <p:cNvPicPr preferRelativeResize="0"/>
          <p:nvPr/>
        </p:nvPicPr>
        <p:blipFill>
          <a:blip r:embed="rId4">
            <a:alphaModFix/>
          </a:blip>
          <a:stretch>
            <a:fillRect/>
          </a:stretch>
        </p:blipFill>
        <p:spPr>
          <a:xfrm>
            <a:off x="311747" y="4681275"/>
            <a:ext cx="1423650" cy="368125"/>
          </a:xfrm>
          <a:prstGeom prst="rect">
            <a:avLst/>
          </a:prstGeom>
          <a:noFill/>
          <a:ln>
            <a:noFill/>
          </a:ln>
        </p:spPr>
      </p:pic>
      <p:sp>
        <p:nvSpPr>
          <p:cNvPr id="619" name="Google Shape;619;p62"/>
          <p:cNvSpPr/>
          <p:nvPr/>
        </p:nvSpPr>
        <p:spPr>
          <a:xfrm>
            <a:off x="7552500" y="105200"/>
            <a:ext cx="1299900" cy="2553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20" name="Picture 619" descr="google-group.png"/>
          <p:cNvPicPr>
            <a:picLocks noChangeAspect="1"/>
          </p:cNvPicPr>
          <p:nvPr/>
        </p:nvPicPr>
        <p:blipFill>
          <a:blip r:embed="rId5"/>
          <a:stretch>
            <a:fillRect/>
          </a:stretch>
        </p:blipFill>
        <p:spPr>
          <a:xfrm>
            <a:off x="5440680" y="1234440"/>
            <a:ext cx="1325880" cy="1325880"/>
          </a:xfrm>
          <a:prstGeom prst="rect">
            <a:avLst/>
          </a:prstGeom>
        </p:spPr>
      </p:pic>
      <p:pic>
        <p:nvPicPr>
          <p:cNvPr id="621" name="Picture 620" descr="google-credits.png"/>
          <p:cNvPicPr>
            <a:picLocks noChangeAspect="1"/>
          </p:cNvPicPr>
          <p:nvPr/>
        </p:nvPicPr>
        <p:blipFill>
          <a:blip r:embed="rId6"/>
          <a:stretch>
            <a:fillRect/>
          </a:stretch>
        </p:blipFill>
        <p:spPr>
          <a:xfrm>
            <a:off x="6995160" y="1234440"/>
            <a:ext cx="1325880" cy="1325880"/>
          </a:xfrm>
          <a:prstGeom prst="rect">
            <a:avLst/>
          </a:prstGeom>
        </p:spPr>
      </p:pic>
      <p:sp>
        <p:nvSpPr>
          <p:cNvPr id="622" name="TextBox 621"/>
          <p:cNvSpPr txBox="1"/>
          <p:nvPr/>
        </p:nvSpPr>
        <p:spPr>
          <a:xfrm>
            <a:off x="5303520" y="2606040"/>
            <a:ext cx="1600200" cy="640080"/>
          </a:xfrm>
          <a:prstGeom prst="rect">
            <a:avLst/>
          </a:prstGeom>
          <a:noFill/>
        </p:spPr>
        <p:txBody>
          <a:bodyPr wrap="square" lIns="0" rIns="0" tIns="0" bIns="0">
            <a:spAutoFit/>
          </a:bodyPr>
          <a:lstStyle/>
          <a:p>
            <a:pPr algn="ctr"/>
            <a:r>
              <a:rPr sz="900" b="1">
                <a:solidFill>
                  <a:srgbClr val="202124"/>
                </a:solidFill>
                <a:latin typeface="Google Sans"/>
              </a:rPr>
              <a:t>1. Join the group</a:t>
            </a:r>
          </a:p>
          <a:p>
            <a:pPr algn="ctr"/>
            <a:r>
              <a:rPr sz="900" b="1">
                <a:solidFill>
                  <a:srgbClr val="202124"/>
                </a:solidFill>
                <a:latin typeface="Google Sans"/>
              </a:rPr>
              <a:t>groups.google.com/g/</a:t>
            </a:r>
          </a:p>
          <a:p>
            <a:pPr algn="ctr"/>
            <a:r>
              <a:rPr sz="900" b="1">
                <a:solidFill>
                  <a:srgbClr val="202124"/>
                </a:solidFill>
                <a:latin typeface="Google Sans"/>
              </a:rPr>
              <a:t>a2tech360-hackathon</a:t>
            </a:r>
          </a:p>
        </p:txBody>
      </p:sp>
      <p:sp>
        <p:nvSpPr>
          <p:cNvPr id="623" name="TextBox 622"/>
          <p:cNvSpPr txBox="1"/>
          <p:nvPr/>
        </p:nvSpPr>
        <p:spPr>
          <a:xfrm>
            <a:off x="6903720" y="2606040"/>
            <a:ext cx="1600200" cy="640080"/>
          </a:xfrm>
          <a:prstGeom prst="rect">
            <a:avLst/>
          </a:prstGeom>
          <a:noFill/>
        </p:spPr>
        <p:txBody>
          <a:bodyPr wrap="square" lIns="0" rIns="0" tIns="0" bIns="0">
            <a:spAutoFit/>
          </a:bodyPr>
          <a:lstStyle/>
          <a:p>
            <a:pPr algn="ctr"/>
            <a:r>
              <a:rPr sz="900" b="1">
                <a:solidFill>
                  <a:srgbClr val="202124"/>
                </a:solidFill>
                <a:latin typeface="Google Sans"/>
              </a:rPr>
              <a:t>2. Claim credits</a:t>
            </a:r>
          </a:p>
          <a:p>
            <a:pPr algn="ctr"/>
            <a:r>
              <a:rPr sz="900" b="1">
                <a:solidFill>
                  <a:srgbClr val="202124"/>
                </a:solidFill>
                <a:latin typeface="Google Sans"/>
              </a:rPr>
              <a:t>g.dev/credits/</a:t>
            </a:r>
          </a:p>
          <a:p>
            <a:pPr algn="ctr"/>
            <a:r>
              <a:rPr sz="900" b="1">
                <a:solidFill>
                  <a:srgbClr val="202124"/>
                </a:solidFill>
                <a:latin typeface="Google Sans"/>
              </a:rPr>
              <a:t>a2tech360-hackathon-2</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49"/>
          <p:cNvSpPr/>
          <p:nvPr/>
        </p:nvSpPr>
        <p:spPr>
          <a:xfrm rot="5400000">
            <a:off x="1907800" y="-1922600"/>
            <a:ext cx="4486200" cy="8316300"/>
          </a:xfrm>
          <a:prstGeom prst="round1Rect">
            <a:avLst>
              <a:gd fmla="val 7834"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49"/>
          <p:cNvSpPr txBox="1"/>
          <p:nvPr/>
        </p:nvSpPr>
        <p:spPr>
          <a:xfrm>
            <a:off x="6463218" y="180000"/>
            <a:ext cx="1585200" cy="10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700">
                <a:solidFill>
                  <a:srgbClr val="B7B7B7"/>
                </a:solidFill>
                <a:latin typeface="Google Sans"/>
                <a:ea typeface="Google Sans"/>
                <a:cs typeface="Google Sans"/>
                <a:sym typeface="Google Sans"/>
              </a:rPr>
              <a:t/>
            </a:r>
            <a:endParaRPr sz="700">
              <a:solidFill>
                <a:srgbClr val="B7B7B7"/>
              </a:solidFill>
              <a:latin typeface="Google Sans"/>
              <a:ea typeface="Google Sans"/>
              <a:cs typeface="Google Sans"/>
              <a:sym typeface="Google Sans"/>
            </a:endParaRPr>
          </a:p>
        </p:txBody>
      </p:sp>
      <p:sp>
        <p:nvSpPr>
          <p:cNvPr id="456" name="Google Shape;456;p49"/>
          <p:cNvSpPr txBox="1"/>
          <p:nvPr/>
        </p:nvSpPr>
        <p:spPr>
          <a:xfrm>
            <a:off x="369450" y="1718218"/>
            <a:ext cx="1005000" cy="7305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000"/>
              </a:spcAft>
              <a:buNone/>
            </a:pPr>
            <a:r>
              <a:rPr b="1" lang="en" sz="5600">
                <a:solidFill>
                  <a:srgbClr val="2480EF"/>
                </a:solidFill>
                <a:latin typeface="Google Sans"/>
                <a:ea typeface="Google Sans"/>
                <a:cs typeface="Google Sans"/>
                <a:sym typeface="Google Sans"/>
              </a:rPr>
              <a:t>04</a:t>
            </a:r>
          </a:p>
        </p:txBody>
      </p:sp>
      <p:sp>
        <p:nvSpPr>
          <p:cNvPr id="457" name="Google Shape;457;p49"/>
          <p:cNvSpPr txBox="1"/>
          <p:nvPr/>
        </p:nvSpPr>
        <p:spPr>
          <a:xfrm>
            <a:off x="1663653" y="1715225"/>
            <a:ext cx="4480560" cy="1245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000"/>
              </a:spcAft>
              <a:buNone/>
            </a:pPr>
            <a:r>
              <a:rPr b="1" lang="en" sz="3600">
                <a:solidFill>
                  <a:schemeClr val="dk1"/>
                </a:solidFill>
                <a:latin typeface="Google Sans"/>
                <a:ea typeface="Google Sans"/>
                <a:cs typeface="Google Sans"/>
                <a:sym typeface="Google Sans"/>
              </a:rPr>
              <a:t>GitHub + Baz </a:t>
            </a:r>
            <a:r>
              <a:rPr b="1" lang="en" sz="3600">
                <a:solidFill>
                  <a:schemeClr val="dk1"/>
                </a:solidFill>
                <a:latin typeface="Google Sans"/>
                <a:ea typeface="Google Sans"/>
                <a:cs typeface="Google Sans"/>
                <a:sym typeface="Google Sans"/>
              </a:rPr>
              <a:t>code review</a:t>
            </a:r>
          </a:p>
        </p:txBody>
      </p:sp>
      <p:pic>
        <p:nvPicPr>
          <p:cNvPr id="458" name="Google Shape;458;p49"/>
          <p:cNvPicPr preferRelativeResize="0"/>
          <p:nvPr/>
        </p:nvPicPr>
        <p:blipFill rotWithShape="1">
          <a:blip r:embed="rId3">
            <a:alphaModFix/>
          </a:blip>
          <a:srcRect b="32898" l="11839" r="11831" t="32898"/>
          <a:stretch/>
        </p:blipFill>
        <p:spPr>
          <a:xfrm>
            <a:off x="416713" y="1160596"/>
            <a:ext cx="2190879" cy="292900"/>
          </a:xfrm>
          <a:prstGeom prst="rect">
            <a:avLst/>
          </a:prstGeom>
          <a:noFill/>
          <a:ln>
            <a:noFill/>
          </a:ln>
        </p:spPr>
      </p:pic>
      <p:pic>
        <p:nvPicPr>
          <p:cNvPr id="459" name="Google Shape;459;p49"/>
          <p:cNvPicPr preferRelativeResize="0"/>
          <p:nvPr/>
        </p:nvPicPr>
        <p:blipFill>
          <a:blip r:embed="rId4">
            <a:alphaModFix/>
          </a:blip>
          <a:stretch>
            <a:fillRect/>
          </a:stretch>
        </p:blipFill>
        <p:spPr>
          <a:xfrm>
            <a:off x="6529595" y="1979169"/>
            <a:ext cx="2083700" cy="2885356"/>
          </a:xfrm>
          <a:prstGeom prst="rect">
            <a:avLst/>
          </a:prstGeom>
          <a:noFill/>
          <a:ln>
            <a:noFill/>
          </a:ln>
        </p:spPr>
      </p:pic>
      <p:sp>
        <p:nvSpPr>
          <p:cNvPr id="460" name="Google Shape;460;p49"/>
          <p:cNvSpPr/>
          <p:nvPr/>
        </p:nvSpPr>
        <p:spPr>
          <a:xfrm>
            <a:off x="6748525" y="106650"/>
            <a:ext cx="1299900" cy="255300"/>
          </a:xfrm>
          <a:prstGeom prst="rect">
            <a:avLst/>
          </a:prstGeom>
          <a:solidFill>
            <a:srgbClr val="FEFDFE"/>
          </a:solidFill>
          <a:ln cap="flat" cmpd="sng" w="9525">
            <a:solidFill>
              <a:srgbClr val="FEFE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1" name="Google Shape;461;p49"/>
          <p:cNvSpPr/>
          <p:nvPr/>
        </p:nvSpPr>
        <p:spPr>
          <a:xfrm>
            <a:off x="369438" y="1030225"/>
            <a:ext cx="2360400" cy="4863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62" name="Google Shape;462;p49" title="compass_locationLogo.png"/>
          <p:cNvPicPr preferRelativeResize="0"/>
          <p:nvPr/>
        </p:nvPicPr>
        <p:blipFill>
          <a:blip r:embed="rId5">
            <a:alphaModFix/>
          </a:blip>
          <a:stretch>
            <a:fillRect/>
          </a:stretch>
        </p:blipFill>
        <p:spPr>
          <a:xfrm>
            <a:off x="369450" y="1043400"/>
            <a:ext cx="1880627" cy="4863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62"/>
          <p:cNvSpPr/>
          <p:nvPr/>
        </p:nvSpPr>
        <p:spPr>
          <a:xfrm rot="-5400000">
            <a:off x="5080875" y="1089975"/>
            <a:ext cx="3601800" cy="4524300"/>
          </a:xfrm>
          <a:prstGeom prst="round1Rect">
            <a:avLst>
              <a:gd fmla="val 6295" name="adj"/>
            </a:avLst>
          </a:prstGeom>
          <a:solidFill>
            <a:srgbClr val="CAE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62"/>
          <p:cNvSpPr/>
          <p:nvPr/>
        </p:nvSpPr>
        <p:spPr>
          <a:xfrm>
            <a:off x="369825" y="4114800"/>
            <a:ext cx="2377440" cy="323100"/>
          </a:xfrm>
          <a:prstGeom prst="roundRect">
            <a:avLst>
              <a:gd fmla="val 13957" name="adj"/>
            </a:avLst>
          </a:prstGeom>
          <a:solidFill>
            <a:srgbClr val="2480EF"/>
          </a:solidFill>
          <a:ln>
            <a:noFill/>
          </a:ln>
        </p:spPr>
        <p:txBody>
          <a:bodyPr anchorCtr="0" anchor="ctr" bIns="0" lIns="91425" spcFirstLastPara="1" rIns="91425" wrap="square" tIns="137150">
            <a:noAutofit/>
          </a:bodyPr>
          <a:lstStyle/>
          <a:p>
            <a:pPr indent="0" lvl="0" marL="0" rtl="0" algn="ctr">
              <a:lnSpc>
                <a:spcPct val="115000"/>
              </a:lnSpc>
              <a:spcBef>
                <a:spcPts val="0"/>
              </a:spcBef>
              <a:spcAft>
                <a:spcPts val="1000"/>
              </a:spcAft>
              <a:buNone/>
            </a:pPr>
            <a:r>
              <a:rPr b="1" lang="en" sz="1100">
                <a:solidFill>
                  <a:srgbClr val="FFFFFF"/>
                </a:solidFill>
                <a:latin typeface="Google Sans"/>
                <a:ea typeface="Google Sans"/>
                <a:cs typeface="Google Sans"/>
                <a:sym typeface="Google Sans"/>
              </a:rPr>
              <a:t>Also star jaseci-labs/jac</a:t>
            </a:r>
          </a:p>
        </p:txBody>
      </p:sp>
      <p:sp>
        <p:nvSpPr>
          <p:cNvPr id="613" name="Google Shape;613;p62"/>
          <p:cNvSpPr txBox="1"/>
          <p:nvPr/>
        </p:nvSpPr>
        <p:spPr>
          <a:xfrm>
            <a:off x="369450" y="1188720"/>
            <a:ext cx="4206240" cy="265176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600"/>
              </a:spcBef>
              <a:spcAft>
                <a:spcPts val="200"/>
              </a:spcAft>
              <a:buNone/>
            </a:pPr>
            <a:r>
              <a:rPr lang="en" sz="1500">
                <a:solidFill>
                  <a:schemeClr val="dk1"/>
                </a:solidFill>
                <a:latin typeface="Google Sans SemiBold"/>
                <a:ea typeface="Google Sans SemiBold"/>
                <a:cs typeface="Google Sans SemiBold"/>
                <a:sym typeface="Google Sans SemiBold"/>
              </a:rPr>
              <a:t>Use the starter kit for guides, then build in a team repo in the A2Tech360 org.</a:t>
            </a:r>
          </a:p>
          <a:p>
            <a:pPr indent="0" lvl="0" marL="0" rtl="0" algn="l">
              <a:lnSpc>
                <a:spcPct val="130000"/>
              </a:lnSpc>
              <a:spcBef>
                <a:spcPts val="600"/>
              </a:spcBef>
              <a:spcAft>
                <a:spcPts val="200"/>
              </a:spcAft>
              <a:buNone/>
            </a:pPr>
            <a:r>
              <a:rPr lang="en" sz="1300">
                <a:solidFill>
                  <a:srgbClr val="5F6368"/>
                </a:solidFill>
                <a:latin typeface="Google Sans"/>
                <a:ea typeface="Google Sans"/>
                <a:cs typeface="Google Sans"/>
                <a:sym typeface="Google Sans"/>
              </a:rPr>
              <a:t>1. Open the starter kit and star it.</a:t>
            </a:r>
          </a:p>
          <a:p>
            <a:pPr indent="0" lvl="0" marL="0" rtl="0" algn="l">
              <a:lnSpc>
                <a:spcPct val="130000"/>
              </a:lnSpc>
              <a:spcBef>
                <a:spcPts val="600"/>
              </a:spcBef>
              <a:spcAft>
                <a:spcPts val="200"/>
              </a:spcAft>
              <a:buNone/>
            </a:pPr>
            <a:r>
              <a:rPr lang="en" sz="1300">
                <a:solidFill>
                  <a:srgbClr val="5F6368"/>
                </a:solidFill>
                <a:latin typeface="Google Sans"/>
                <a:ea typeface="Google Sans"/>
                <a:cs typeface="Google Sans"/>
                <a:sym typeface="Google Sans"/>
              </a:rPr>
              <a:t>2. Create your team repo in the A2Tech360 org.</a:t>
            </a:r>
          </a:p>
          <a:p>
            <a:pPr indent="0" lvl="0" marL="0" rtl="0" algn="l">
              <a:lnSpc>
                <a:spcPct val="130000"/>
              </a:lnSpc>
              <a:spcBef>
                <a:spcPts val="600"/>
              </a:spcBef>
              <a:spcAft>
                <a:spcPts val="200"/>
              </a:spcAft>
              <a:buNone/>
            </a:pPr>
            <a:r>
              <a:rPr lang="en" sz="1300">
                <a:solidFill>
                  <a:srgbClr val="5F6368"/>
                </a:solidFill>
                <a:latin typeface="Google Sans"/>
                <a:ea typeface="Google Sans"/>
                <a:cs typeface="Google Sans"/>
                <a:sym typeface="Google Sans"/>
              </a:rPr>
              <a:t>3. Make it public and add your teammates.</a:t>
            </a:r>
          </a:p>
          <a:p>
            <a:pPr indent="0" lvl="0" marL="0" rtl="0" algn="l">
              <a:lnSpc>
                <a:spcPct val="130000"/>
              </a:lnSpc>
              <a:spcBef>
                <a:spcPts val="600"/>
              </a:spcBef>
              <a:spcAft>
                <a:spcPts val="200"/>
              </a:spcAft>
              <a:buNone/>
            </a:pPr>
            <a:r>
              <a:rPr lang="en" sz="1300">
                <a:solidFill>
                  <a:srgbClr val="5F6368"/>
                </a:solidFill>
                <a:latin typeface="Google Sans"/>
                <a:ea typeface="Google Sans"/>
                <a:cs typeface="Google Sans"/>
                <a:sym typeface="Google Sans"/>
              </a:rPr>
              <a:t>4. Open pull requests; Baz reviews them automatically.</a:t>
            </a:r>
          </a:p>
        </p:txBody>
      </p:sp>
      <p:sp>
        <p:nvSpPr>
          <p:cNvPr id="614" name="Google Shape;614;p62"/>
          <p:cNvSpPr txBox="1"/>
          <p:nvPr/>
        </p:nvSpPr>
        <p:spPr>
          <a:xfrm>
            <a:off x="5394960" y="1234440"/>
            <a:ext cx="3017520" cy="32004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 sz="1400">
                <a:solidFill>
                  <a:schemeClr val="dk1"/>
                </a:solidFill>
                <a:latin typeface="Google Sans SemiBold"/>
                <a:ea typeface="Google Sans SemiBold"/>
                <a:cs typeface="Google Sans SemiBold"/>
                <a:sym typeface="Google Sans SemiBold"/>
              </a:rPr>
              <a:t>Starter kit</a:t>
            </a:r>
          </a:p>
        </p:txBody>
      </p:sp>
      <p:sp>
        <p:nvSpPr>
          <p:cNvPr id="615" name="Google Shape;615;p62"/>
          <p:cNvSpPr txBox="1"/>
          <p:nvPr/>
        </p:nvSpPr>
        <p:spPr>
          <a:xfrm>
            <a:off x="369825" y="360735"/>
            <a:ext cx="6879000" cy="6483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b="1" lang="en" sz="3000">
                <a:solidFill>
                  <a:schemeClr val="dk2"/>
                </a:solidFill>
                <a:latin typeface="Google Sans"/>
                <a:ea typeface="Google Sans"/>
                <a:cs typeface="Google Sans"/>
                <a:sym typeface="Google Sans"/>
              </a:rPr>
              <a:t>Get set up on GitHub</a:t>
            </a:r>
          </a:p>
        </p:txBody>
      </p:sp>
      <p:pic>
        <p:nvPicPr>
          <p:cNvPr id="616" name="Google Shape;616;p62"/>
          <p:cNvPicPr preferRelativeResize="0"/>
          <p:nvPr/>
        </p:nvPicPr>
        <p:blipFill rotWithShape="1">
          <a:blip r:embed="rId3">
            <a:alphaModFix/>
          </a:blip>
          <a:srcRect b="7936" l="0" r="8784" t="0"/>
          <a:stretch/>
        </p:blipFill>
        <p:spPr>
          <a:xfrm>
            <a:off x="7346675" y="3749400"/>
            <a:ext cx="1797325" cy="1394100"/>
          </a:xfrm>
          <a:prstGeom prst="rect">
            <a:avLst/>
          </a:prstGeom>
          <a:noFill/>
          <a:ln>
            <a:noFill/>
          </a:ln>
        </p:spPr>
      </p:pic>
      <p:sp>
        <p:nvSpPr>
          <p:cNvPr id="617" name="Google Shape;617;p62"/>
          <p:cNvSpPr/>
          <p:nvPr/>
        </p:nvSpPr>
        <p:spPr>
          <a:xfrm>
            <a:off x="335650" y="4786175"/>
            <a:ext cx="1092600" cy="2262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18" name="Google Shape;618;p62" title="compass_locationLogo.png"/>
          <p:cNvPicPr preferRelativeResize="0"/>
          <p:nvPr/>
        </p:nvPicPr>
        <p:blipFill>
          <a:blip r:embed="rId4">
            <a:alphaModFix/>
          </a:blip>
          <a:stretch>
            <a:fillRect/>
          </a:stretch>
        </p:blipFill>
        <p:spPr>
          <a:xfrm>
            <a:off x="311747" y="4681275"/>
            <a:ext cx="1423650" cy="368125"/>
          </a:xfrm>
          <a:prstGeom prst="rect">
            <a:avLst/>
          </a:prstGeom>
          <a:noFill/>
          <a:ln>
            <a:noFill/>
          </a:ln>
        </p:spPr>
      </p:pic>
      <p:sp>
        <p:nvSpPr>
          <p:cNvPr id="619" name="Google Shape;619;p62"/>
          <p:cNvSpPr/>
          <p:nvPr/>
        </p:nvSpPr>
        <p:spPr>
          <a:xfrm>
            <a:off x="7552500" y="105200"/>
            <a:ext cx="1299900" cy="2553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20" name="Picture 619" descr="repo.png"/>
          <p:cNvPicPr>
            <a:picLocks noChangeAspect="1"/>
          </p:cNvPicPr>
          <p:nvPr/>
        </p:nvPicPr>
        <p:blipFill>
          <a:blip r:embed="rId2"/>
          <a:stretch>
            <a:fillRect/>
          </a:stretch>
        </p:blipFill>
        <p:spPr>
          <a:xfrm>
            <a:off x="6080760" y="1645920"/>
            <a:ext cx="1645920" cy="1645920"/>
          </a:xfrm>
          <a:prstGeom prst="rect">
            <a:avLst/>
          </a:prstGeom>
        </p:spPr>
      </p:pic>
      <p:sp>
        <p:nvSpPr>
          <p:cNvPr id="621" name="TextBox 620"/>
          <p:cNvSpPr txBox="1"/>
          <p:nvPr/>
        </p:nvSpPr>
        <p:spPr>
          <a:xfrm>
            <a:off x="5577840" y="3337560"/>
            <a:ext cx="2651760" cy="457200"/>
          </a:xfrm>
          <a:prstGeom prst="rect">
            <a:avLst/>
          </a:prstGeom>
          <a:noFill/>
        </p:spPr>
        <p:txBody>
          <a:bodyPr wrap="square" lIns="0" rIns="0" tIns="0" bIns="0">
            <a:spAutoFit/>
          </a:bodyPr>
          <a:lstStyle/>
          <a:p>
            <a:pPr algn="ctr"/>
            <a:r>
              <a:rPr sz="1200" b="1">
                <a:solidFill>
                  <a:srgbClr val="202124"/>
                </a:solidFill>
                <a:latin typeface="Google Sans"/>
              </a:rPr>
              <a:t>github.com/A2Tech360/</a:t>
            </a:r>
          </a:p>
          <a:p>
            <a:pPr algn="ctr"/>
            <a:r>
              <a:rPr sz="1200" b="1">
                <a:solidFill>
                  <a:srgbClr val="202124"/>
                </a:solidFill>
                <a:latin typeface="Google Sans"/>
              </a:rPr>
              <a:t>a2tech360-hackathon</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61"/>
          <p:cNvSpPr/>
          <p:nvPr/>
        </p:nvSpPr>
        <p:spPr>
          <a:xfrm>
            <a:off x="369825" y="3703320"/>
            <a:ext cx="3017520" cy="323100"/>
          </a:xfrm>
          <a:prstGeom prst="roundRect">
            <a:avLst>
              <a:gd fmla="val 13957" name="adj"/>
            </a:avLst>
          </a:prstGeom>
          <a:solidFill>
            <a:schemeClr val="lt2"/>
          </a:solidFill>
          <a:ln>
            <a:noFill/>
          </a:ln>
        </p:spPr>
        <p:txBody>
          <a:bodyPr anchorCtr="0" anchor="ctr" bIns="0" lIns="91425" spcFirstLastPara="1" rIns="91425" wrap="square" tIns="137150">
            <a:noAutofit/>
          </a:bodyPr>
          <a:lstStyle/>
          <a:p>
            <a:pPr indent="0" lvl="0" marL="0" rtl="0" algn="ctr">
              <a:lnSpc>
                <a:spcPct val="115000"/>
              </a:lnSpc>
              <a:spcBef>
                <a:spcPts val="0"/>
              </a:spcBef>
              <a:spcAft>
                <a:spcPts val="1000"/>
              </a:spcAft>
              <a:buNone/>
            </a:pPr>
            <a:r>
              <a:rPr b="1" lang="en" sz="1050">
                <a:solidFill>
                  <a:srgbClr val="FFFFFF"/>
                </a:solidFill>
                <a:latin typeface="Google Sans"/>
                <a:ea typeface="Google Sans"/>
                <a:cs typeface="Google Sans"/>
                <a:sym typeface="Google Sans"/>
              </a:rPr>
              <a:t>Guide: docs/baz-code-review.md</a:t>
            </a:r>
          </a:p>
        </p:txBody>
      </p:sp>
      <p:sp>
        <p:nvSpPr>
          <p:cNvPr id="601" name="Google Shape;601;p61"/>
          <p:cNvSpPr txBox="1"/>
          <p:nvPr/>
        </p:nvSpPr>
        <p:spPr>
          <a:xfrm>
            <a:off x="369450" y="1551350"/>
            <a:ext cx="3749039" cy="192024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0"/>
              </a:spcAft>
              <a:buNone/>
            </a:pPr>
            <a:r>
              <a:rPr lang="en" sz="1600">
                <a:solidFill>
                  <a:schemeClr val="dk1"/>
                </a:solidFill>
                <a:latin typeface="Google Sans SemiBold"/>
                <a:ea typeface="Google Sans SemiBold"/>
                <a:cs typeface="Google Sans SemiBold"/>
                <a:sym typeface="Google Sans SemiBold"/>
              </a:rPr>
              <a:t>Baz is installed on the A2Tech360 GitHub org. Every pull request gets an AI code review.</a:t>
            </a:r>
          </a:p>
          <a:p>
            <a:pPr indent="0" lvl="0" marL="0" rtl="0" algn="l">
              <a:lnSpc>
                <a:spcPct val="130000"/>
              </a:lnSpc>
              <a:spcBef>
                <a:spcPts val="1000"/>
              </a:spcBef>
              <a:spcAft>
                <a:spcPts val="1000"/>
              </a:spcAft>
              <a:buNone/>
            </a:pPr>
            <a:r>
              <a:rPr lang="en" sz="1300">
                <a:solidFill>
                  <a:srgbClr val="5F6368"/>
                </a:solidFill>
                <a:latin typeface="Google Sans"/>
                <a:ea typeface="Google Sans"/>
                <a:cs typeface="Google Sans"/>
                <a:sym typeface="Google Sans"/>
              </a:rPr>
              <a:t>Required for Local Impact projects. Fewer demo-breaking bugs, and a clean history for judges.</a:t>
            </a:r>
          </a:p>
        </p:txBody>
      </p:sp>
      <p:sp>
        <p:nvSpPr>
          <p:cNvPr id="602" name="Google Shape;602;p61"/>
          <p:cNvSpPr txBox="1"/>
          <p:nvPr/>
        </p:nvSpPr>
        <p:spPr>
          <a:xfrm>
            <a:off x="4572000" y="1551350"/>
            <a:ext cx="3931920" cy="2833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0"/>
              </a:spcAft>
              <a:buClr>
                <a:schemeClr val="lt2"/>
              </a:buClr>
              <a:buSzPts val="900"/>
              <a:buFont typeface="Google Sans"/>
              <a:buNone/>
            </a:pPr>
            <a:r>
              <a:rPr lang="en" sz="1400" b="1">
                <a:solidFill>
                  <a:srgbClr val="5F6368"/>
                </a:solidFill>
                <a:latin typeface="Google Sans"/>
                <a:ea typeface="Google Sans"/>
                <a:cs typeface="Google Sans"/>
                <a:sym typeface="Google Sans"/>
              </a:rPr>
              <a:t>1. Branch: </a:t>
            </a:r>
            <a:r>
              <a:rPr lang="en" sz="1400">
                <a:solidFill>
                  <a:srgbClr val="5F6368"/>
                </a:solidFill>
                <a:latin typeface="Google Sans"/>
                <a:ea typeface="Google Sans"/>
                <a:cs typeface="Google Sans"/>
                <a:sym typeface="Google Sans"/>
              </a:rPr>
              <a:t>git checkout -b feature/idea</a:t>
            </a:r>
          </a:p>
          <a:p>
            <a:pPr indent="0" lvl="0" marL="0" rtl="0" algn="l">
              <a:lnSpc>
                <a:spcPct val="130000"/>
              </a:lnSpc>
              <a:spcBef>
                <a:spcPts val="0"/>
              </a:spcBef>
              <a:spcAft>
                <a:spcPts val="0"/>
              </a:spcAft>
              <a:buClr>
                <a:schemeClr val="lt2"/>
              </a:buClr>
              <a:buSzPts val="900"/>
              <a:buFont typeface="Google Sans"/>
              <a:buNone/>
            </a:pPr>
            <a:r>
              <a:rPr lang="en" sz="1400" b="1">
                <a:solidFill>
                  <a:srgbClr val="5F6368"/>
                </a:solidFill>
                <a:latin typeface="Google Sans"/>
                <a:ea typeface="Google Sans"/>
                <a:cs typeface="Google Sans"/>
                <a:sym typeface="Google Sans"/>
              </a:rPr>
              <a:t>2. Commit </a:t>
            </a:r>
            <a:r>
              <a:rPr lang="en" sz="1400">
                <a:solidFill>
                  <a:srgbClr val="5F6368"/>
                </a:solidFill>
                <a:latin typeface="Google Sans"/>
                <a:ea typeface="Google Sans"/>
                <a:cs typeface="Google Sans"/>
                <a:sym typeface="Google Sans"/>
              </a:rPr>
              <a:t>and push your work</a:t>
            </a:r>
          </a:p>
          <a:p>
            <a:pPr indent="0" lvl="0" marL="0" rtl="0" algn="l">
              <a:lnSpc>
                <a:spcPct val="130000"/>
              </a:lnSpc>
              <a:spcBef>
                <a:spcPts val="0"/>
              </a:spcBef>
              <a:spcAft>
                <a:spcPts val="0"/>
              </a:spcAft>
              <a:buClr>
                <a:schemeClr val="lt2"/>
              </a:buClr>
              <a:buSzPts val="900"/>
              <a:buFont typeface="Google Sans"/>
              <a:buNone/>
            </a:pPr>
            <a:r>
              <a:rPr lang="en" sz="1400" b="1">
                <a:solidFill>
                  <a:srgbClr val="5F6368"/>
                </a:solidFill>
                <a:latin typeface="Google Sans"/>
                <a:ea typeface="Google Sans"/>
                <a:cs typeface="Google Sans"/>
                <a:sym typeface="Google Sans"/>
              </a:rPr>
              <a:t>3. Open a PR </a:t>
            </a:r>
            <a:r>
              <a:rPr lang="en" sz="1400">
                <a:solidFill>
                  <a:srgbClr val="5F6368"/>
                </a:solidFill>
                <a:latin typeface="Google Sans"/>
                <a:ea typeface="Google Sans"/>
                <a:cs typeface="Google Sans"/>
                <a:sym typeface="Google Sans"/>
              </a:rPr>
              <a:t>into main</a:t>
            </a:r>
          </a:p>
          <a:p>
            <a:pPr indent="0" lvl="0" marL="0" rtl="0" algn="l">
              <a:lnSpc>
                <a:spcPct val="130000"/>
              </a:lnSpc>
              <a:spcBef>
                <a:spcPts val="0"/>
              </a:spcBef>
              <a:spcAft>
                <a:spcPts val="0"/>
              </a:spcAft>
              <a:buClr>
                <a:schemeClr val="lt2"/>
              </a:buClr>
              <a:buSzPts val="900"/>
              <a:buFont typeface="Google Sans"/>
              <a:buNone/>
            </a:pPr>
            <a:r>
              <a:rPr lang="en" sz="1400" b="1">
                <a:solidFill>
                  <a:srgbClr val="5F6368"/>
                </a:solidFill>
                <a:latin typeface="Google Sans"/>
                <a:ea typeface="Google Sans"/>
                <a:cs typeface="Google Sans"/>
                <a:sym typeface="Google Sans"/>
              </a:rPr>
              <a:t>4. Read Baz’s review, </a:t>
            </a:r>
            <a:r>
              <a:rPr lang="en" sz="1400">
                <a:solidFill>
                  <a:srgbClr val="5F6368"/>
                </a:solidFill>
                <a:latin typeface="Google Sans"/>
                <a:ea typeface="Google Sans"/>
                <a:cs typeface="Google Sans"/>
                <a:sym typeface="Google Sans"/>
              </a:rPr>
              <a:t>fix, push again</a:t>
            </a:r>
          </a:p>
          <a:p>
            <a:pPr indent="0" lvl="0" marL="0" rtl="0" algn="l">
              <a:lnSpc>
                <a:spcPct val="130000"/>
              </a:lnSpc>
              <a:spcBef>
                <a:spcPts val="0"/>
              </a:spcBef>
              <a:spcAft>
                <a:spcPts val="0"/>
              </a:spcAft>
              <a:buClr>
                <a:schemeClr val="lt2"/>
              </a:buClr>
              <a:buSzPts val="900"/>
              <a:buFont typeface="Google Sans"/>
              <a:buNone/>
            </a:pPr>
            <a:r>
              <a:rPr lang="en" sz="1400" b="1">
                <a:solidFill>
                  <a:srgbClr val="5F6368"/>
                </a:solidFill>
                <a:latin typeface="Google Sans"/>
                <a:ea typeface="Google Sans"/>
                <a:cs typeface="Google Sans"/>
                <a:sym typeface="Google Sans"/>
              </a:rPr>
              <a:t>5. Merge small PRs </a:t>
            </a:r>
            <a:r>
              <a:rPr lang="en" sz="1400">
                <a:solidFill>
                  <a:srgbClr val="5F6368"/>
                </a:solidFill>
                <a:latin typeface="Google Sans"/>
                <a:ea typeface="Google Sans"/>
                <a:cs typeface="Google Sans"/>
                <a:sym typeface="Google Sans"/>
              </a:rPr>
              <a:t>often</a:t>
            </a:r>
          </a:p>
        </p:txBody>
      </p:sp>
      <p:sp>
        <p:nvSpPr>
          <p:cNvPr id="603" name="Google Shape;603;p61"/>
          <p:cNvSpPr txBox="1"/>
          <p:nvPr/>
        </p:nvSpPr>
        <p:spPr>
          <a:xfrm>
            <a:off x="369825" y="360735"/>
            <a:ext cx="6879000" cy="6483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b="1" lang="en" sz="3400">
                <a:solidFill>
                  <a:schemeClr val="lt2"/>
                </a:solidFill>
                <a:latin typeface="Google Sans"/>
                <a:ea typeface="Google Sans"/>
                <a:cs typeface="Google Sans"/>
                <a:sym typeface="Google Sans"/>
              </a:rPr>
              <a:t>Baz AI code review</a:t>
            </a:r>
          </a:p>
        </p:txBody>
      </p:sp>
      <p:sp>
        <p:nvSpPr>
          <p:cNvPr id="604" name="Google Shape;604;p61"/>
          <p:cNvSpPr/>
          <p:nvPr/>
        </p:nvSpPr>
        <p:spPr>
          <a:xfrm>
            <a:off x="335650" y="4786175"/>
            <a:ext cx="1092600" cy="2262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05" name="Google Shape;605;p61" title="compass_locationLogo.png"/>
          <p:cNvPicPr preferRelativeResize="0"/>
          <p:nvPr/>
        </p:nvPicPr>
        <p:blipFill>
          <a:blip r:embed="rId3">
            <a:alphaModFix/>
          </a:blip>
          <a:stretch>
            <a:fillRect/>
          </a:stretch>
        </p:blipFill>
        <p:spPr>
          <a:xfrm>
            <a:off x="311747" y="4681275"/>
            <a:ext cx="1423650" cy="368125"/>
          </a:xfrm>
          <a:prstGeom prst="rect">
            <a:avLst/>
          </a:prstGeom>
          <a:noFill/>
          <a:ln>
            <a:noFill/>
          </a:ln>
        </p:spPr>
      </p:pic>
      <p:sp>
        <p:nvSpPr>
          <p:cNvPr id="606" name="Google Shape;606;p61"/>
          <p:cNvSpPr/>
          <p:nvPr/>
        </p:nvSpPr>
        <p:spPr>
          <a:xfrm>
            <a:off x="7552500" y="105200"/>
            <a:ext cx="1299900" cy="2553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63"/>
          <p:cNvSpPr/>
          <p:nvPr/>
        </p:nvSpPr>
        <p:spPr>
          <a:xfrm rot="5400000">
            <a:off x="-346775" y="332050"/>
            <a:ext cx="4628100" cy="3948900"/>
          </a:xfrm>
          <a:prstGeom prst="round1Rect">
            <a:avLst>
              <a:gd fmla="val 6295"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63"/>
          <p:cNvSpPr txBox="1"/>
          <p:nvPr/>
        </p:nvSpPr>
        <p:spPr>
          <a:xfrm>
            <a:off x="369825" y="646701"/>
            <a:ext cx="3085500" cy="6483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None/>
            </a:pPr>
            <a:r>
              <a:rPr b="1" lang="en" sz="3200">
                <a:solidFill>
                  <a:srgbClr val="E4C472"/>
                </a:solidFill>
                <a:latin typeface="Google Sans"/>
                <a:ea typeface="Google Sans"/>
                <a:cs typeface="Google Sans"/>
                <a:sym typeface="Google Sans"/>
              </a:rPr>
              <a:t>What to submit</a:t>
            </a:r>
          </a:p>
        </p:txBody>
      </p:sp>
      <p:sp>
        <p:nvSpPr>
          <p:cNvPr id="626" name="Google Shape;626;p63"/>
          <p:cNvSpPr txBox="1"/>
          <p:nvPr/>
        </p:nvSpPr>
        <p:spPr>
          <a:xfrm>
            <a:off x="369450" y="1551350"/>
            <a:ext cx="2834640" cy="201168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800"/>
              </a:spcBef>
              <a:spcAft>
                <a:spcPts val="0"/>
              </a:spcAft>
              <a:buNone/>
            </a:pPr>
            <a:r>
              <a:rPr lang="en" sz="1800">
                <a:solidFill>
                  <a:schemeClr val="lt1"/>
                </a:solidFill>
                <a:latin typeface="Google Sans SemiBold"/>
                <a:ea typeface="Google Sans SemiBold"/>
                <a:cs typeface="Google Sans SemiBold"/>
                <a:sym typeface="Google Sans SemiBold"/>
              </a:rPr>
              <a:t>5-minute presentations</a:t>
            </a:r>
          </a:p>
          <a:p>
            <a:pPr indent="0" lvl="0" marL="0" rtl="0" algn="l">
              <a:lnSpc>
                <a:spcPct val="130000"/>
              </a:lnSpc>
              <a:spcBef>
                <a:spcPts val="800"/>
              </a:spcBef>
              <a:spcAft>
                <a:spcPts val="0"/>
              </a:spcAft>
              <a:buNone/>
            </a:pPr>
            <a:r>
              <a:rPr lang="en" sz="1500">
                <a:solidFill>
                  <a:schemeClr val="lt1"/>
                </a:solidFill>
                <a:latin typeface="Google Sans SemiBold"/>
                <a:ea typeface="Google Sans SemiBold"/>
                <a:cs typeface="Google Sans SemiBold"/>
                <a:sym typeface="Google Sans SemiBold"/>
              </a:rPr>
              <a:t>3–4 min presentation</a:t>
            </a:r>
          </a:p>
          <a:p>
            <a:pPr indent="0" lvl="0" marL="0" rtl="0" algn="l">
              <a:lnSpc>
                <a:spcPct val="130000"/>
              </a:lnSpc>
              <a:spcBef>
                <a:spcPts val="800"/>
              </a:spcBef>
              <a:spcAft>
                <a:spcPts val="0"/>
              </a:spcAft>
              <a:buNone/>
            </a:pPr>
            <a:r>
              <a:rPr lang="en" sz="1500">
                <a:solidFill>
                  <a:schemeClr val="lt1"/>
                </a:solidFill>
                <a:latin typeface="Google Sans SemiBold"/>
                <a:ea typeface="Google Sans SemiBold"/>
                <a:cs typeface="Google Sans SemiBold"/>
                <a:sym typeface="Google Sans SemiBold"/>
              </a:rPr>
              <a:t>1–2 min video demo</a:t>
            </a:r>
          </a:p>
        </p:txBody>
      </p:sp>
      <p:sp>
        <p:nvSpPr>
          <p:cNvPr id="627" name="Google Shape;627;p63"/>
          <p:cNvSpPr txBox="1"/>
          <p:nvPr/>
        </p:nvSpPr>
        <p:spPr>
          <a:xfrm>
            <a:off x="4615875" y="1005840"/>
            <a:ext cx="4114800" cy="347472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800"/>
              </a:spcBef>
              <a:spcAft>
                <a:spcPts val="0"/>
              </a:spcAft>
              <a:buNone/>
            </a:pPr>
            <a:r>
              <a:rPr lang="en" sz="1500" b="1">
                <a:solidFill>
                  <a:schemeClr val="dk1"/>
                </a:solidFill>
                <a:latin typeface="Google Sans"/>
                <a:ea typeface="Google Sans"/>
                <a:cs typeface="Google Sans"/>
                <a:sym typeface="Google Sans"/>
              </a:rPr>
              <a:t>Local Impact teams submit at ibm.biz/a2tech360</a:t>
            </a:r>
          </a:p>
          <a:p>
            <a:pPr indent="0" lvl="0" marL="0" rtl="0" algn="l">
              <a:lnSpc>
                <a:spcPct val="130000"/>
              </a:lnSpc>
              <a:spcBef>
                <a:spcPts val="800"/>
              </a:spcBef>
              <a:spcAft>
                <a:spcPts val="0"/>
              </a:spcAft>
              <a:buClr>
                <a:schemeClr val="lt2"/>
              </a:buClr>
              <a:buSzPts val="900"/>
              <a:buFont typeface="Google Sans"/>
              <a:buNone/>
            </a:pPr>
            <a:r>
              <a:rPr lang="en" sz="1500">
                <a:solidFill>
                  <a:schemeClr val="dk1"/>
                </a:solidFill>
                <a:latin typeface="Google Sans"/>
                <a:ea typeface="Google Sans"/>
                <a:cs typeface="Google Sans"/>
                <a:sym typeface="Google Sans"/>
              </a:rPr>
              <a:t>1. Written problem and solution statements</a:t>
            </a:r>
          </a:p>
          <a:p>
            <a:pPr indent="0" lvl="0" marL="0" rtl="0" algn="l">
              <a:lnSpc>
                <a:spcPct val="130000"/>
              </a:lnSpc>
              <a:spcBef>
                <a:spcPts val="800"/>
              </a:spcBef>
              <a:spcAft>
                <a:spcPts val="0"/>
              </a:spcAft>
              <a:buClr>
                <a:schemeClr val="lt2"/>
              </a:buClr>
              <a:buSzPts val="900"/>
              <a:buFont typeface="Google Sans"/>
              <a:buNone/>
            </a:pPr>
            <a:r>
              <a:rPr lang="en" sz="1500">
                <a:solidFill>
                  <a:schemeClr val="dk1"/>
                </a:solidFill>
                <a:latin typeface="Google Sans"/>
                <a:ea typeface="Google Sans"/>
                <a:cs typeface="Google Sans"/>
                <a:sym typeface="Google Sans"/>
              </a:rPr>
              <a:t>2. How you used IBM and/or Google technologies</a:t>
            </a:r>
          </a:p>
          <a:p>
            <a:pPr indent="0" lvl="0" marL="0" rtl="0" algn="l">
              <a:lnSpc>
                <a:spcPct val="130000"/>
              </a:lnSpc>
              <a:spcBef>
                <a:spcPts val="800"/>
              </a:spcBef>
              <a:spcAft>
                <a:spcPts val="0"/>
              </a:spcAft>
              <a:buClr>
                <a:schemeClr val="lt2"/>
              </a:buClr>
              <a:buSzPts val="900"/>
              <a:buFont typeface="Google Sans"/>
              <a:buNone/>
            </a:pPr>
            <a:r>
              <a:rPr lang="en" sz="1500">
                <a:solidFill>
                  <a:schemeClr val="dk1"/>
                </a:solidFill>
                <a:latin typeface="Google Sans"/>
                <a:ea typeface="Google Sans"/>
                <a:cs typeface="Google Sans"/>
                <a:sym typeface="Google Sans"/>
              </a:rPr>
              <a:t>3. GitHub repo URL (A2Tech360 org preferred)</a:t>
            </a:r>
          </a:p>
          <a:p>
            <a:pPr indent="0" lvl="0" marL="0" rtl="0" algn="l">
              <a:lnSpc>
                <a:spcPct val="130000"/>
              </a:lnSpc>
              <a:spcBef>
                <a:spcPts val="800"/>
              </a:spcBef>
              <a:spcAft>
                <a:spcPts val="0"/>
              </a:spcAft>
              <a:buClr>
                <a:schemeClr val="lt2"/>
              </a:buClr>
              <a:buSzPts val="900"/>
              <a:buFont typeface="Google Sans"/>
              <a:buNone/>
            </a:pPr>
            <a:r>
              <a:rPr lang="en" sz="1500">
                <a:solidFill>
                  <a:schemeClr val="dk1"/>
                </a:solidFill>
                <a:latin typeface="Google Sans"/>
                <a:ea typeface="Google Sans"/>
                <a:cs typeface="Google Sans"/>
                <a:sym typeface="Google Sans"/>
              </a:rPr>
              <a:t>4. URL to a 1-minute recorded demo video</a:t>
            </a:r>
          </a:p>
          <a:p>
            <a:pPr indent="0" lvl="0" marL="0" rtl="0" algn="l">
              <a:lnSpc>
                <a:spcPct val="130000"/>
              </a:lnSpc>
              <a:spcBef>
                <a:spcPts val="800"/>
              </a:spcBef>
              <a:spcAft>
                <a:spcPts val="0"/>
              </a:spcAft>
              <a:buNone/>
            </a:pPr>
            <a:r>
              <a:rPr lang="en" sz="1500" b="1">
                <a:solidFill>
                  <a:schemeClr val="dk1"/>
                </a:solidFill>
                <a:latin typeface="Google Sans"/>
                <a:ea typeface="Google Sans"/>
                <a:cs typeface="Google Sans"/>
                <a:sym typeface="Google Sans"/>
              </a:rPr>
              <a:t>Everyone also submits on Devpost</a:t>
            </a:r>
          </a:p>
        </p:txBody>
      </p:sp>
      <p:pic>
        <p:nvPicPr>
          <p:cNvPr id="628" name="Google Shape;628;p63"/>
          <p:cNvPicPr preferRelativeResize="0"/>
          <p:nvPr/>
        </p:nvPicPr>
        <p:blipFill>
          <a:blip r:embed="rId3">
            <a:alphaModFix/>
          </a:blip>
          <a:stretch>
            <a:fillRect/>
          </a:stretch>
        </p:blipFill>
        <p:spPr>
          <a:xfrm>
            <a:off x="2913925" y="3814536"/>
            <a:ext cx="702408" cy="518574"/>
          </a:xfrm>
          <a:prstGeom prst="rect">
            <a:avLst/>
          </a:prstGeom>
          <a:noFill/>
          <a:ln>
            <a:noFill/>
          </a:ln>
        </p:spPr>
      </p:pic>
      <p:sp>
        <p:nvSpPr>
          <p:cNvPr id="629" name="Google Shape;629;p63"/>
          <p:cNvSpPr/>
          <p:nvPr/>
        </p:nvSpPr>
        <p:spPr>
          <a:xfrm>
            <a:off x="335650" y="4786175"/>
            <a:ext cx="1092600" cy="2262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30" name="Google Shape;630;p63" title="compass_locationLogo.png"/>
          <p:cNvPicPr preferRelativeResize="0"/>
          <p:nvPr/>
        </p:nvPicPr>
        <p:blipFill>
          <a:blip r:embed="rId4">
            <a:alphaModFix/>
          </a:blip>
          <a:stretch>
            <a:fillRect/>
          </a:stretch>
        </p:blipFill>
        <p:spPr>
          <a:xfrm>
            <a:off x="311747" y="4681275"/>
            <a:ext cx="1423650" cy="368125"/>
          </a:xfrm>
          <a:prstGeom prst="rect">
            <a:avLst/>
          </a:prstGeom>
          <a:noFill/>
          <a:ln>
            <a:noFill/>
          </a:ln>
        </p:spPr>
      </p:pic>
      <p:sp>
        <p:nvSpPr>
          <p:cNvPr id="631" name="Google Shape;631;p63"/>
          <p:cNvSpPr/>
          <p:nvPr/>
        </p:nvSpPr>
        <p:spPr>
          <a:xfrm>
            <a:off x="7552500" y="105200"/>
            <a:ext cx="1299900" cy="2553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1"/>
          <p:cNvSpPr txBox="1"/>
          <p:nvPr/>
        </p:nvSpPr>
        <p:spPr>
          <a:xfrm>
            <a:off x="369450" y="1691640"/>
            <a:ext cx="6400800" cy="118872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b="1" lang="en" sz="3600">
                <a:solidFill>
                  <a:schemeClr val="lt1"/>
                </a:solidFill>
                <a:latin typeface="Google Sans"/>
                <a:ea typeface="Google Sans"/>
                <a:cs typeface="Google Sans"/>
                <a:sym typeface="Google Sans"/>
              </a:rPr>
              <a:t>Michigan DevFest</a:t>
            </a:r>
          </a:p>
          <a:p>
            <a:pPr indent="0" lvl="0" marL="0" rtl="0" algn="l">
              <a:lnSpc>
                <a:spcPct val="90000"/>
              </a:lnSpc>
              <a:spcBef>
                <a:spcPts val="0"/>
              </a:spcBef>
              <a:spcAft>
                <a:spcPts val="0"/>
              </a:spcAft>
              <a:buNone/>
            </a:pPr>
            <a:r>
              <a:rPr b="1" lang="en" sz="3600">
                <a:solidFill>
                  <a:srgbClr val="E4C472"/>
                </a:solidFill>
                <a:latin typeface="Google Sans"/>
                <a:ea typeface="Google Sans"/>
                <a:cs typeface="Google Sans"/>
                <a:sym typeface="Google Sans"/>
              </a:rPr>
              <a:t>+ AI Hackathon</a:t>
            </a:r>
          </a:p>
        </p:txBody>
      </p:sp>
      <p:pic>
        <p:nvPicPr>
          <p:cNvPr id="354" name="Google Shape;354;p41"/>
          <p:cNvPicPr preferRelativeResize="0"/>
          <p:nvPr/>
        </p:nvPicPr>
        <p:blipFill rotWithShape="1">
          <a:blip r:embed="rId3">
            <a:alphaModFix/>
          </a:blip>
          <a:srcRect b="27595" l="11685" r="11693" t="27595"/>
          <a:stretch/>
        </p:blipFill>
        <p:spPr>
          <a:xfrm>
            <a:off x="416726" y="1115909"/>
            <a:ext cx="2190874" cy="382278"/>
          </a:xfrm>
          <a:prstGeom prst="rect">
            <a:avLst/>
          </a:prstGeom>
          <a:noFill/>
          <a:ln>
            <a:noFill/>
          </a:ln>
        </p:spPr>
      </p:pic>
      <p:pic>
        <p:nvPicPr>
          <p:cNvPr id="355" name="Google Shape;355;p41"/>
          <p:cNvPicPr preferRelativeResize="0"/>
          <p:nvPr/>
        </p:nvPicPr>
        <p:blipFill rotWithShape="1">
          <a:blip r:embed="rId4">
            <a:alphaModFix/>
          </a:blip>
          <a:srcRect b="0" l="0" r="0" t="0"/>
          <a:stretch/>
        </p:blipFill>
        <p:spPr>
          <a:xfrm>
            <a:off x="7439113" y="2473346"/>
            <a:ext cx="1350426" cy="2670156"/>
          </a:xfrm>
          <a:prstGeom prst="rect">
            <a:avLst/>
          </a:prstGeom>
          <a:noFill/>
          <a:ln>
            <a:noFill/>
          </a:ln>
        </p:spPr>
      </p:pic>
      <p:sp>
        <p:nvSpPr>
          <p:cNvPr id="356" name="Google Shape;356;p41"/>
          <p:cNvSpPr txBox="1"/>
          <p:nvPr/>
        </p:nvSpPr>
        <p:spPr>
          <a:xfrm>
            <a:off x="7189550" y="180000"/>
            <a:ext cx="1585200" cy="10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700">
                <a:solidFill>
                  <a:srgbClr val="B7B7B7"/>
                </a:solidFill>
                <a:latin typeface="Google Sans"/>
                <a:ea typeface="Google Sans"/>
                <a:cs typeface="Google Sans"/>
                <a:sym typeface="Google Sans"/>
              </a:rPr>
              <a:t/>
            </a:r>
            <a:endParaRPr sz="700">
              <a:solidFill>
                <a:srgbClr val="B7B7B7"/>
              </a:solidFill>
              <a:latin typeface="Google Sans"/>
              <a:ea typeface="Google Sans"/>
              <a:cs typeface="Google Sans"/>
              <a:sym typeface="Google Sans"/>
            </a:endParaRPr>
          </a:p>
        </p:txBody>
      </p:sp>
      <p:sp>
        <p:nvSpPr>
          <p:cNvPr id="357" name="Google Shape;357;p41"/>
          <p:cNvSpPr txBox="1"/>
          <p:nvPr/>
        </p:nvSpPr>
        <p:spPr>
          <a:xfrm>
            <a:off x="412164" y="2926080"/>
            <a:ext cx="6766560"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000">
                <a:solidFill>
                  <a:schemeClr val="lt1"/>
                </a:solidFill>
                <a:latin typeface="Google Sans Medium"/>
                <a:ea typeface="Google Sans Medium"/>
                <a:cs typeface="Google Sans Medium"/>
                <a:sym typeface="Google Sans Medium"/>
              </a:rPr>
              <a:t>Nov 13–14  ·  Little Caesars HQ, Detroit</a:t>
            </a:r>
          </a:p>
        </p:txBody>
      </p:sp>
      <p:sp>
        <p:nvSpPr>
          <p:cNvPr id="358" name="Google Shape;358;p41"/>
          <p:cNvSpPr/>
          <p:nvPr/>
        </p:nvSpPr>
        <p:spPr>
          <a:xfrm>
            <a:off x="343625" y="1070100"/>
            <a:ext cx="2344500" cy="478500"/>
          </a:xfrm>
          <a:prstGeom prst="rect">
            <a:avLst/>
          </a:prstGeom>
          <a:solidFill>
            <a:srgbClr val="165185"/>
          </a:solidFill>
          <a:ln cap="flat" cmpd="sng" w="9525">
            <a:solidFill>
              <a:srgbClr val="1651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9" name="Google Shape;359;p41"/>
          <p:cNvSpPr/>
          <p:nvPr/>
        </p:nvSpPr>
        <p:spPr>
          <a:xfrm>
            <a:off x="7439125" y="106075"/>
            <a:ext cx="1541700" cy="286200"/>
          </a:xfrm>
          <a:prstGeom prst="rect">
            <a:avLst/>
          </a:prstGeom>
          <a:solidFill>
            <a:srgbClr val="165185"/>
          </a:solidFill>
          <a:ln cap="flat" cmpd="sng" w="9525">
            <a:solidFill>
              <a:srgbClr val="1651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60" name="Google Shape;360;p41" title="compass_locationLogo.png"/>
          <p:cNvPicPr preferRelativeResize="0"/>
          <p:nvPr/>
        </p:nvPicPr>
        <p:blipFill>
          <a:blip r:embed="rId5">
            <a:alphaModFix/>
          </a:blip>
          <a:stretch>
            <a:fillRect/>
          </a:stretch>
        </p:blipFill>
        <p:spPr>
          <a:xfrm>
            <a:off x="423500" y="1063888"/>
            <a:ext cx="1880627" cy="486300"/>
          </a:xfrm>
          <a:prstGeom prst="rect">
            <a:avLst/>
          </a:prstGeom>
          <a:noFill/>
          <a:ln>
            <a:noFill/>
          </a:ln>
        </p:spPr>
      </p:pic>
      <p:sp>
        <p:nvSpPr>
          <p:cNvPr id="361" name="Rounded Rectangle 360"/>
          <p:cNvSpPr/>
          <p:nvPr/>
        </p:nvSpPr>
        <p:spPr>
          <a:xfrm>
            <a:off x="411480" y="3456432"/>
            <a:ext cx="4846320" cy="713232"/>
          </a:xfrm>
          <a:prstGeom prst="roundRect">
            <a:avLst>
              <a:gd name="adj" fmla="val 50000"/>
            </a:avLst>
          </a:prstGeom>
          <a:solidFill>
            <a:srgbClr val="E4C4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tIns="0" bIns="0"/>
          <a:lstStyle/>
          <a:p>
            <a:pPr algn="l"/>
            <a:r>
              <a:rPr sz="2200" b="1">
                <a:solidFill>
                  <a:srgbClr val="20344B"/>
                </a:solidFill>
                <a:latin typeface="Google Sans"/>
              </a:rPr>
              <a:t>Code A2Tech360</a:t>
            </a:r>
          </a:p>
          <a:p>
            <a:pPr algn="l"/>
            <a:r>
              <a:rPr sz="1400" b="0">
                <a:solidFill>
                  <a:srgbClr val="20344B"/>
                </a:solidFill>
                <a:latin typeface="Google Sans"/>
              </a:rPr>
              <a:t>Super early bird pricing  ·  ends Sunday night</a:t>
            </a:r>
          </a:p>
        </p:txBody>
      </p:sp>
      <p:sp>
        <p:nvSpPr>
          <p:cNvPr id="362" name="TextBox 361"/>
          <p:cNvSpPr txBox="1"/>
          <p:nvPr/>
        </p:nvSpPr>
        <p:spPr>
          <a:xfrm>
            <a:off x="411480" y="4315968"/>
            <a:ext cx="5943600" cy="320040"/>
          </a:xfrm>
          <a:prstGeom prst="rect">
            <a:avLst/>
          </a:prstGeom>
          <a:noFill/>
        </p:spPr>
        <p:txBody>
          <a:bodyPr wrap="square" lIns="0" rIns="0" tIns="0" bIns="0">
            <a:spAutoFit/>
          </a:bodyPr>
          <a:lstStyle/>
          <a:p>
            <a:pPr algn="l"/>
            <a:r>
              <a:rPr sz="1800" b="1">
                <a:solidFill>
                  <a:srgbClr val="FFFFFF"/>
                </a:solidFill>
                <a:latin typeface="Google Sans"/>
              </a:rPr>
              <a:t>midevfest.com  ·  Student tickets available</a:t>
            </a:r>
          </a:p>
        </p:txBody>
      </p:sp>
      <p:pic>
        <p:nvPicPr>
          <p:cNvPr id="363" name="Picture 362" descr="midevfest.png"/>
          <p:cNvPicPr>
            <a:picLocks noChangeAspect="1"/>
          </p:cNvPicPr>
          <p:nvPr/>
        </p:nvPicPr>
        <p:blipFill>
          <a:blip r:embed="rId6"/>
          <a:stretch>
            <a:fillRect/>
          </a:stretch>
        </p:blipFill>
        <p:spPr>
          <a:xfrm>
            <a:off x="7315200" y="411480"/>
            <a:ext cx="1417320" cy="1417320"/>
          </a:xfrm>
          <a:prstGeom prst="rect">
            <a:avLst/>
          </a:prstGeom>
        </p:spPr>
      </p:pic>
      <p:sp>
        <p:nvSpPr>
          <p:cNvPr id="364" name="TextBox 363"/>
          <p:cNvSpPr txBox="1"/>
          <p:nvPr/>
        </p:nvSpPr>
        <p:spPr>
          <a:xfrm>
            <a:off x="7040880" y="1874519"/>
            <a:ext cx="1965960" cy="228600"/>
          </a:xfrm>
          <a:prstGeom prst="rect">
            <a:avLst/>
          </a:prstGeom>
          <a:noFill/>
        </p:spPr>
        <p:txBody>
          <a:bodyPr wrap="square" lIns="0" rIns="0" tIns="0" bIns="0">
            <a:spAutoFit/>
          </a:bodyPr>
          <a:lstStyle/>
          <a:p>
            <a:pPr algn="ctr"/>
            <a:r>
              <a:rPr sz="1200" b="1">
                <a:solidFill>
                  <a:srgbClr val="FFFFFF"/>
                </a:solidFill>
                <a:latin typeface="Google Sans"/>
              </a:rPr>
              <a:t>bit.ly/midevfest26</a:t>
            </a: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0"/>
          <p:cNvSpPr txBox="1"/>
          <p:nvPr/>
        </p:nvSpPr>
        <p:spPr>
          <a:xfrm>
            <a:off x="369450" y="1715225"/>
            <a:ext cx="7098600" cy="1245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000"/>
              </a:spcAft>
              <a:buNone/>
            </a:pPr>
            <a:r>
              <a:rPr b="1" lang="en" sz="5000">
                <a:solidFill>
                  <a:schemeClr val="dk1"/>
                </a:solidFill>
                <a:latin typeface="Google Sans"/>
                <a:ea typeface="Google Sans"/>
                <a:cs typeface="Google Sans"/>
                <a:sym typeface="Google Sans"/>
              </a:rPr>
              <a:t>Questions? </a:t>
            </a:r>
            <a:r>
              <a:rPr b="1" lang="en" sz="5000">
                <a:solidFill>
                  <a:srgbClr val="2480EF"/>
                </a:solidFill>
                <a:latin typeface="Google Sans"/>
                <a:ea typeface="Google Sans"/>
                <a:cs typeface="Google Sans"/>
                <a:sym typeface="Google Sans"/>
              </a:rPr>
              <a:t>Let’s build.</a:t>
            </a:r>
          </a:p>
        </p:txBody>
      </p:sp>
      <p:pic>
        <p:nvPicPr>
          <p:cNvPr id="342" name="Google Shape;342;p40"/>
          <p:cNvPicPr preferRelativeResize="0"/>
          <p:nvPr/>
        </p:nvPicPr>
        <p:blipFill rotWithShape="1">
          <a:blip r:embed="rId3">
            <a:alphaModFix/>
          </a:blip>
          <a:srcRect b="32898" l="11839" r="11831" t="32898"/>
          <a:stretch/>
        </p:blipFill>
        <p:spPr>
          <a:xfrm>
            <a:off x="416713" y="1160596"/>
            <a:ext cx="2190879" cy="292900"/>
          </a:xfrm>
          <a:prstGeom prst="rect">
            <a:avLst/>
          </a:prstGeom>
          <a:noFill/>
          <a:ln>
            <a:noFill/>
          </a:ln>
        </p:spPr>
      </p:pic>
      <p:sp>
        <p:nvSpPr>
          <p:cNvPr id="343" name="Google Shape;343;p40"/>
          <p:cNvSpPr txBox="1"/>
          <p:nvPr/>
        </p:nvSpPr>
        <p:spPr>
          <a:xfrm>
            <a:off x="7189550" y="180000"/>
            <a:ext cx="1585200" cy="10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700">
                <a:solidFill>
                  <a:srgbClr val="929292"/>
                </a:solidFill>
                <a:latin typeface="Google Sans"/>
                <a:ea typeface="Google Sans"/>
                <a:cs typeface="Google Sans"/>
                <a:sym typeface="Google Sans"/>
              </a:rPr>
              <a:t/>
            </a:r>
            <a:endParaRPr sz="700">
              <a:solidFill>
                <a:srgbClr val="929292"/>
              </a:solidFill>
              <a:latin typeface="Google Sans"/>
              <a:ea typeface="Google Sans"/>
              <a:cs typeface="Google Sans"/>
              <a:sym typeface="Google Sans"/>
            </a:endParaRPr>
          </a:p>
        </p:txBody>
      </p:sp>
      <p:sp>
        <p:nvSpPr>
          <p:cNvPr id="344" name="Google Shape;344;p40"/>
          <p:cNvSpPr txBox="1"/>
          <p:nvPr/>
        </p:nvSpPr>
        <p:spPr>
          <a:xfrm>
            <a:off x="412164" y="3521415"/>
            <a:ext cx="6583680" cy="21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500">
                <a:solidFill>
                  <a:schemeClr val="dk1"/>
                </a:solidFill>
                <a:latin typeface="Google Sans Medium"/>
                <a:ea typeface="Google Sans Medium"/>
                <a:cs typeface="Google Sans Medium"/>
                <a:sym typeface="Google Sans Medium"/>
              </a:rPr>
              <a:t>Discord #ask-an-organizer  ·  github.com/A2Tech360/a2tech360-hackathon</a:t>
            </a:r>
          </a:p>
        </p:txBody>
      </p:sp>
      <p:pic>
        <p:nvPicPr>
          <p:cNvPr id="345" name="Google Shape;345;p40"/>
          <p:cNvPicPr preferRelativeResize="0"/>
          <p:nvPr/>
        </p:nvPicPr>
        <p:blipFill rotWithShape="1">
          <a:blip r:embed="rId4">
            <a:alphaModFix/>
          </a:blip>
          <a:srcRect b="7936" l="0" r="8784" t="0"/>
          <a:stretch/>
        </p:blipFill>
        <p:spPr>
          <a:xfrm>
            <a:off x="6953125" y="3444142"/>
            <a:ext cx="2190874" cy="1699357"/>
          </a:xfrm>
          <a:prstGeom prst="rect">
            <a:avLst/>
          </a:prstGeom>
          <a:noFill/>
          <a:ln>
            <a:noFill/>
          </a:ln>
        </p:spPr>
      </p:pic>
      <p:sp>
        <p:nvSpPr>
          <p:cNvPr id="346" name="Google Shape;346;p40"/>
          <p:cNvSpPr/>
          <p:nvPr/>
        </p:nvSpPr>
        <p:spPr>
          <a:xfrm>
            <a:off x="359575" y="1094025"/>
            <a:ext cx="2280600" cy="414600"/>
          </a:xfrm>
          <a:prstGeom prst="rect">
            <a:avLst/>
          </a:prstGeom>
          <a:solidFill>
            <a:srgbClr val="CAE6FE"/>
          </a:solidFill>
          <a:ln cap="flat" cmpd="sng" w="9525">
            <a:solidFill>
              <a:srgbClr val="CAE6F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7" name="Google Shape;347;p40"/>
          <p:cNvSpPr/>
          <p:nvPr/>
        </p:nvSpPr>
        <p:spPr>
          <a:xfrm>
            <a:off x="7592375" y="105200"/>
            <a:ext cx="1220100" cy="247200"/>
          </a:xfrm>
          <a:prstGeom prst="rect">
            <a:avLst/>
          </a:prstGeom>
          <a:solidFill>
            <a:srgbClr val="CAE6FE"/>
          </a:solidFill>
          <a:ln cap="flat" cmpd="sng" w="9525">
            <a:solidFill>
              <a:srgbClr val="CAE6F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48" name="Google Shape;348;p40" title="compass_locationLogo.png"/>
          <p:cNvPicPr preferRelativeResize="0"/>
          <p:nvPr/>
        </p:nvPicPr>
        <p:blipFill>
          <a:blip r:embed="rId5">
            <a:alphaModFix/>
          </a:blip>
          <a:stretch>
            <a:fillRect/>
          </a:stretch>
        </p:blipFill>
        <p:spPr>
          <a:xfrm>
            <a:off x="423500" y="1063888"/>
            <a:ext cx="1880627" cy="4863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TM - IWD 2025">
  <a:themeElements>
    <a:clrScheme name="Simple Light">
      <a:dk1>
        <a:srgbClr val="202124"/>
      </a:dk1>
      <a:lt1>
        <a:srgbClr val="FFFFFF"/>
      </a:lt1>
      <a:dk2>
        <a:srgbClr val="2480F0"/>
      </a:dk2>
      <a:lt2>
        <a:srgbClr val="00947B"/>
      </a:lt2>
      <a:accent1>
        <a:srgbClr val="CAE6FF"/>
      </a:accent1>
      <a:accent2>
        <a:srgbClr val="D1ECE3"/>
      </a:accent2>
      <a:accent3>
        <a:srgbClr val="165185"/>
      </a:accent3>
      <a:accent4>
        <a:srgbClr val="0F7C67"/>
      </a:accent4>
      <a:accent5>
        <a:srgbClr val="20344B"/>
      </a:accent5>
      <a:accent6>
        <a:srgbClr val="1A3E38"/>
      </a:accent6>
      <a:hlink>
        <a:srgbClr val="4285F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