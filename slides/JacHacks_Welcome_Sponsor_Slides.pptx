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Google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3" Type="http://schemas.openxmlformats.org/officeDocument/2006/relationships/font" Target="fonts/GoogleSans-regular.fntdata"/><Relationship Id="rId14" Type="http://schemas.openxmlformats.org/officeDocument/2006/relationships/font" Target="fonts/GoogleSans-bold.fntdata"/><Relationship Id="rId15" Type="http://schemas.openxmlformats.org/officeDocument/2006/relationships/font" Target="fonts/GoogleSans-italic.fntdata"/><Relationship Id="rId16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c38f3ee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c38f3ee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LOCAL IMPACT TRACK (about 30 seconds)</a:t>
            </a:r>
          </a:p>
          <a:p/>
          <a:p>
            <a:r>
              <a:t>The Local Impact track, sponsored by Compass Detroit: build something that makes life measurably better for people in Ann Arbor and Washtenaw County. The only requirement is that a specific person in this county could use what you build on Monday morning.</a:t>
            </a:r>
          </a:p>
          <a:p/>
          <a:p>
            <a:r>
              <a:t>The one rule: talk to someone who has the problem. Judges will ask who you built it for, and "everyone" is the wrong answer.</a:t>
            </a:r>
          </a:p>
          <a:p/>
          <a:p>
            <a:r>
              <a:t>Prizes: Local Impact Grand Prize, plus a Community Favorite that every participant votes on.</a:t>
            </a:r>
          </a:p>
          <a:p/>
          <a:p>
            <a:r>
              <a:t>Everyone submits on Devpost. Local Impact teams also submit on the IBM hackathon platform (ibm.biz/a2tech360): written problem and solution statements, how you used IBM and/or Google technologies, your GitHub repo URL (preferably in the A2Tech360 GitHub org), and a URL to a 1-minute recorded demo video. Presentations are 5 minutes: 3 to 4 minutes presenting plus 1 to 2 minutes of video demo.</a:t>
            </a:r>
          </a:p>
          <a:p/>
          <a:p>
            <a:r>
              <a:t>Jenna Ritten from Compass Detroit is leading the Local Impact sponsor workshop at 3:00 PM today with IBM, Google, and Baz. It covers the track, IBM setup and education, Google Cloud credits, and GitHub with Baz code review. Everyone is welcome, whatever track you pick.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aee66ee9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baee66ee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REGISTER WITH IBM (about 30 seconds)</a:t>
            </a:r>
          </a:p>
          <a:p/>
          <a:p>
            <a:r>
              <a:t>Scan the code or go to ibm.biz/a2tech360. Sign in with an IBMid using your university or company email.</a:t>
            </a:r>
          </a:p>
          <a:p/>
          <a:p>
            <a:r>
              <a:t>That's where you get your team's IBM Cloud account with watsonx and IBM Bob, IBM's education and labs, and where you form your team. Do it now; it takes two minutes.</a:t>
            </a:r>
          </a:p>
          <a:p/>
          <a:p>
            <a:r>
              <a:t>The Official Rules and the Hackathon Guide are in the starter kit.</a:t>
            </a:r>
          </a:p>
          <a:p/>
          <a:p>
            <a:r>
              <a:t>More detail at the Local Impact sponsor workshop at 3:00 PM.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bc38f3ee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bc38f3ee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GOOGLE CLOUD CREDITS (about 45 seconds)</a:t>
            </a:r>
          </a:p>
          <a:p/>
          <a:p>
            <a:r>
              <a:t>Thanks to Google Developer Groups: every hacker can claim $25 in Google Cloud credits. They must be claimed during the event; they can't be saved for later.</a:t>
            </a:r>
          </a:p>
          <a:p/>
          <a:p>
            <a:r>
              <a:t>1. Join the Google Group first: groups.google.com/g/a2tech360-hackathon (a2tech360-hackathon@googlegroups.com)</a:t>
            </a:r>
          </a:p>
          <a:p>
            <a:r>
              <a:t>2. Then claim at g.dev/credits/a2tech360-hackathon-2</a:t>
            </a:r>
          </a:p>
          <a:p/>
          <a:p>
            <a:r>
              <a:t>Use a personal Gmail account, not school or work, and have your phone ready for verification. Takes 10 to 15 minutes. Note: these credits don't work with AI Studio billing; use Vertex AI.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baee66ee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baee66ee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STARTER KIT + BAZ (about 30 seconds)</a:t>
            </a:r>
          </a:p>
          <a:p/>
          <a:p>
            <a:r>
              <a:t>The A2Tech360 Hackathon Starter Kit has everything you need: github.com/A2Tech360/a2tech360-hackathon. It has the schedule, IBM, Google, and Baz setup guides, Jac and Jaseci resources from the JacHacks team, the Local Impact track brief, the submission checklist, and the Discord link.</a:t>
            </a:r>
          </a:p>
          <a:p/>
          <a:p>
            <a:r>
              <a:t>Baz, an AI code reviewer, is installed on the A2Tech360 GitHub org. Create your team repo in the A2Tech360 org and Baz reviews every pull request automatically. No setup needed.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baee66ee9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baee66ee9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MICHIGAN DEVFEST + AI HACKATHON (about 20 seconds)</a:t>
            </a:r>
          </a:p>
          <a:p/>
          <a:p>
            <a:r>
              <a:t>Keep building after this weekend: Michigan DevFest + AI Hackathon 2026 is November 13 and 14 at Little Caesars HQ in Detroit. AI Hackathon on Friday, DevFest sessions on Saturday.</a:t>
            </a:r>
          </a:p>
          <a:p/>
          <a:p>
            <a:r>
              <a:t>Exclusive for JacHacks participants: super early bird pricing with code A2Tech360. It ends Sunday night. Student tickets are available.</a:t>
            </a:r>
          </a:p>
          <a:p>
            <a:r>
              <a:t>Discount link (code applied): https://gdg.community.dev/events/details/google-gdg-detroit-presents-michigan-devfest-ai-hackathon-2026/?code=A2Tech360</a:t>
            </a:r>
          </a:p>
          <a:p>
            <a:r>
              <a:t>Website: midevfest.com</a:t>
            </a:r>
          </a:p>
          <a:p>
            <a:r>
              <a:t>Tickets: bit.ly/midevfest26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Title">
  <p:cSld name="CUSTOM_1">
    <p:bg>
      <p:bgPr>
        <a:solidFill>
          <a:schemeClr val="dk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/>
        </p:nvSpPr>
        <p:spPr>
          <a:xfrm>
            <a:off x="370900" y="180000"/>
            <a:ext cx="20451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International Women’s Day</a:t>
            </a:r>
            <a:endParaRPr sz="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4" name="Google Shape;54;p14"/>
          <p:cNvSpPr txBox="1"/>
          <p:nvPr/>
        </p:nvSpPr>
        <p:spPr>
          <a:xfrm>
            <a:off x="3873150" y="180001"/>
            <a:ext cx="13977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Women Techmakers</a:t>
            </a:r>
            <a:endParaRPr sz="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4"/>
          <p:cNvSpPr txBox="1"/>
          <p:nvPr/>
        </p:nvSpPr>
        <p:spPr>
          <a:xfrm>
            <a:off x="8241000" y="180000"/>
            <a:ext cx="5337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2025</a:t>
            </a:r>
            <a:endParaRPr sz="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Subtitle">
  <p:cSld name="CUSTOM_1_2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/>
        </p:nvSpPr>
        <p:spPr>
          <a:xfrm>
            <a:off x="370900" y="180000"/>
            <a:ext cx="20451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International Women’s Day</a:t>
            </a:r>
            <a:endParaRPr sz="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5"/>
          <p:cNvSpPr txBox="1"/>
          <p:nvPr/>
        </p:nvSpPr>
        <p:spPr>
          <a:xfrm>
            <a:off x="3873150" y="180001"/>
            <a:ext cx="13977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Women Techmakers</a:t>
            </a:r>
            <a:endParaRPr sz="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8241000" y="180000"/>
            <a:ext cx="5337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2025</a:t>
            </a:r>
            <a:endParaRPr sz="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lue">
  <p:cSld name="CUSTOM_1_1">
    <p:bg>
      <p:bgPr>
        <a:solidFill>
          <a:srgbClr val="CAE6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6"/>
          <p:cNvPicPr preferRelativeResize="0"/>
          <p:nvPr/>
        </p:nvPicPr>
        <p:blipFill rotWithShape="1">
          <a:blip r:embed="rId2">
            <a:alphaModFix/>
          </a:blip>
          <a:srcRect b="32898" l="11839" r="11831" t="32898"/>
          <a:stretch/>
        </p:blipFill>
        <p:spPr>
          <a:xfrm>
            <a:off x="369450" y="4845850"/>
            <a:ext cx="1033175" cy="13812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6"/>
          <p:cNvSpPr txBox="1"/>
          <p:nvPr/>
        </p:nvSpPr>
        <p:spPr>
          <a:xfrm>
            <a:off x="7189550" y="180000"/>
            <a:ext cx="15852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29292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and Confidential</a:t>
            </a:r>
            <a:endParaRPr sz="700">
              <a:solidFill>
                <a:srgbClr val="92929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lue - Blank">
  <p:cSld name="CUSTOM_1_1_4">
    <p:bg>
      <p:bgPr>
        <a:solidFill>
          <a:srgbClr val="CAE6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">
  <p:cSld name="CUSTOM_1_1_3">
    <p:bg>
      <p:bgPr>
        <a:solidFill>
          <a:srgbClr val="165185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/>
        </p:nvSpPr>
        <p:spPr>
          <a:xfrm>
            <a:off x="7189550" y="180000"/>
            <a:ext cx="15852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7B7B7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and Confidential</a:t>
            </a:r>
            <a:endParaRPr sz="700">
              <a:solidFill>
                <a:srgbClr val="B7B7B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66" name="Google Shape;66;p18"/>
          <p:cNvPicPr preferRelativeResize="0"/>
          <p:nvPr/>
        </p:nvPicPr>
        <p:blipFill rotWithShape="1">
          <a:blip r:embed="rId2">
            <a:alphaModFix/>
          </a:blip>
          <a:srcRect b="27595" l="11685" r="11693" t="27595"/>
          <a:stretch/>
        </p:blipFill>
        <p:spPr>
          <a:xfrm>
            <a:off x="369450" y="4824775"/>
            <a:ext cx="1033175" cy="18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- Blank">
  <p:cSld name="CUSTOM_1_1_3_2">
    <p:bg>
      <p:bgPr>
        <a:solidFill>
          <a:srgbClr val="165185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lue">
  <p:cSld name="CUSTOM_1_1_3_1">
    <p:bg>
      <p:bgPr>
        <a:solidFill>
          <a:srgbClr val="20344B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/>
        </p:nvSpPr>
        <p:spPr>
          <a:xfrm>
            <a:off x="7189550" y="180000"/>
            <a:ext cx="15852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29292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and Confidential</a:t>
            </a:r>
            <a:endParaRPr sz="700">
              <a:solidFill>
                <a:srgbClr val="92929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70" name="Google Shape;70;p20"/>
          <p:cNvPicPr preferRelativeResize="0"/>
          <p:nvPr/>
        </p:nvPicPr>
        <p:blipFill rotWithShape="1">
          <a:blip r:embed="rId2">
            <a:alphaModFix/>
          </a:blip>
          <a:srcRect b="27595" l="11685" r="11693" t="27595"/>
          <a:stretch/>
        </p:blipFill>
        <p:spPr>
          <a:xfrm>
            <a:off x="369450" y="4824775"/>
            <a:ext cx="1033175" cy="18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lue - Blank">
  <p:cSld name="CUSTOM_1_1_3_1_2">
    <p:bg>
      <p:bgPr>
        <a:solidFill>
          <a:srgbClr val="20344B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Green">
  <p:cSld name="CUSTOM_1_1_3_1_1">
    <p:bg>
      <p:bgPr>
        <a:solidFill>
          <a:srgbClr val="D1ECE3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2"/>
          <p:cNvPicPr preferRelativeResize="0"/>
          <p:nvPr/>
        </p:nvPicPr>
        <p:blipFill rotWithShape="1">
          <a:blip r:embed="rId2">
            <a:alphaModFix/>
          </a:blip>
          <a:srcRect b="32898" l="11839" r="11831" t="32898"/>
          <a:stretch/>
        </p:blipFill>
        <p:spPr>
          <a:xfrm>
            <a:off x="369450" y="4845850"/>
            <a:ext cx="1033175" cy="138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2"/>
          <p:cNvSpPr txBox="1"/>
          <p:nvPr/>
        </p:nvSpPr>
        <p:spPr>
          <a:xfrm>
            <a:off x="7189550" y="180000"/>
            <a:ext cx="15852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29292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and Confidential</a:t>
            </a:r>
            <a:endParaRPr sz="700">
              <a:solidFill>
                <a:srgbClr val="92929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Green - Blank">
  <p:cSld name="CUSTOM_1_1_3_1_1_2">
    <p:bg>
      <p:bgPr>
        <a:solidFill>
          <a:srgbClr val="D1ECE3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">
  <p:cSld name="CUSTOM_1_1_3_1_1_1">
    <p:bg>
      <p:bgPr>
        <a:solidFill>
          <a:srgbClr val="0F7C67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24"/>
          <p:cNvPicPr preferRelativeResize="0"/>
          <p:nvPr/>
        </p:nvPicPr>
        <p:blipFill rotWithShape="1">
          <a:blip r:embed="rId2">
            <a:alphaModFix/>
          </a:blip>
          <a:srcRect b="27595" l="11685" r="11693" t="27595"/>
          <a:stretch/>
        </p:blipFill>
        <p:spPr>
          <a:xfrm>
            <a:off x="369450" y="4824775"/>
            <a:ext cx="1033175" cy="18027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4"/>
          <p:cNvSpPr txBox="1"/>
          <p:nvPr/>
        </p:nvSpPr>
        <p:spPr>
          <a:xfrm>
            <a:off x="7189550" y="180000"/>
            <a:ext cx="15852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7B7B7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and Confidential</a:t>
            </a:r>
            <a:endParaRPr sz="700">
              <a:solidFill>
                <a:srgbClr val="B7B7B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- Blank">
  <p:cSld name="CUSTOM_1_1_3_1_1_1_2">
    <p:bg>
      <p:bgPr>
        <a:solidFill>
          <a:srgbClr val="0F7C67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Green">
  <p:cSld name="CUSTOM_1_1_3_1_1_1_1">
    <p:bg>
      <p:bgPr>
        <a:solidFill>
          <a:srgbClr val="1A3E38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/>
          <p:nvPr/>
        </p:nvSpPr>
        <p:spPr>
          <a:xfrm>
            <a:off x="7189550" y="180000"/>
            <a:ext cx="15852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29292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and Confidential</a:t>
            </a:r>
            <a:endParaRPr sz="700">
              <a:solidFill>
                <a:srgbClr val="92929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2" name="Google Shape;82;p26"/>
          <p:cNvPicPr preferRelativeResize="0"/>
          <p:nvPr/>
        </p:nvPicPr>
        <p:blipFill rotWithShape="1">
          <a:blip r:embed="rId2">
            <a:alphaModFix/>
          </a:blip>
          <a:srcRect b="27595" l="11685" r="11693" t="27595"/>
          <a:stretch/>
        </p:blipFill>
        <p:spPr>
          <a:xfrm>
            <a:off x="369450" y="4824775"/>
            <a:ext cx="1033175" cy="18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Green - Blank">
  <p:cSld name="CUSTOM_1_1_3_1_1_1_1_1">
    <p:bg>
      <p:bgPr>
        <a:solidFill>
          <a:srgbClr val="1A3E3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>
  <p:cSld name="CUSTOM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/>
          <p:nvPr/>
        </p:nvSpPr>
        <p:spPr>
          <a:xfrm>
            <a:off x="7189550" y="180000"/>
            <a:ext cx="15852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7B7B7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and Confidential</a:t>
            </a:r>
            <a:endParaRPr sz="700">
              <a:solidFill>
                <a:srgbClr val="B7B7B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6" name="Google Shape;86;p28"/>
          <p:cNvPicPr preferRelativeResize="0"/>
          <p:nvPr/>
        </p:nvPicPr>
        <p:blipFill rotWithShape="1">
          <a:blip r:embed="rId2">
            <a:alphaModFix/>
          </a:blip>
          <a:srcRect b="32898" l="11839" r="11831" t="32898"/>
          <a:stretch/>
        </p:blipFill>
        <p:spPr>
          <a:xfrm>
            <a:off x="369450" y="4845850"/>
            <a:ext cx="1033175" cy="138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2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340659" y="471194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0"/>
          <p:cNvPicPr preferRelativeResize="0"/>
          <p:nvPr/>
        </p:nvPicPr>
        <p:blipFill rotWithShape="1">
          <a:blip r:embed="rId3">
            <a:alphaModFix/>
          </a:blip>
          <a:srcRect b="28627" l="9196" r="7352" t="28627"/>
          <a:stretch/>
        </p:blipFill>
        <p:spPr>
          <a:xfrm>
            <a:off x="370900" y="1298550"/>
            <a:ext cx="2062103" cy="3008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0"/>
          <p:cNvSpPr txBox="1"/>
          <p:nvPr/>
        </p:nvSpPr>
        <p:spPr>
          <a:xfrm>
            <a:off x="370900" y="1828800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Local Impact Track</a:t>
            </a:r>
            <a:endParaRPr sz="7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3000" b="0">
                <a:solidFill>
                  <a:srgbClr val="CAE6FF"/>
                </a:solidFill>
                <a:latin typeface="Google Sans"/>
              </a:rPr>
              <a:t>Build something a real person in Ann Arbor or Washtenaw County can use on Monday.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3000" b="1">
                <a:solidFill>
                  <a:srgbClr val="FFFFFF"/>
                </a:solidFill>
                <a:latin typeface="Google Sans"/>
              </a:rPr>
              <a:t>Sponsor workshop: 3:00 PM today</a:t>
            </a:r>
          </a:p>
        </p:txBody>
      </p:sp>
      <p:sp>
        <p:nvSpPr>
          <p:cNvPr id="94" name="Google Shape;94;p30"/>
          <p:cNvSpPr/>
          <p:nvPr/>
        </p:nvSpPr>
        <p:spPr>
          <a:xfrm>
            <a:off x="271875" y="113175"/>
            <a:ext cx="8596500" cy="239100"/>
          </a:xfrm>
          <a:prstGeom prst="rect">
            <a:avLst/>
          </a:prstGeom>
          <a:solidFill>
            <a:srgbClr val="2480F0"/>
          </a:solidFill>
          <a:ln cap="flat" cmpd="sng" w="9525">
            <a:solidFill>
              <a:srgbClr val="248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0"/>
          <p:cNvSpPr/>
          <p:nvPr/>
        </p:nvSpPr>
        <p:spPr>
          <a:xfrm>
            <a:off x="319725" y="1229600"/>
            <a:ext cx="2153100" cy="414600"/>
          </a:xfrm>
          <a:prstGeom prst="rect">
            <a:avLst/>
          </a:prstGeom>
          <a:solidFill>
            <a:srgbClr val="2480F0"/>
          </a:solidFill>
          <a:ln cap="flat" cmpd="sng" w="9525">
            <a:solidFill>
              <a:srgbClr val="248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30" title="compass_location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500" y="1063903"/>
            <a:ext cx="2244143" cy="5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1"/>
          <p:cNvPicPr preferRelativeResize="0"/>
          <p:nvPr/>
        </p:nvPicPr>
        <p:blipFill rotWithShape="1">
          <a:blip r:embed="rId3">
            <a:alphaModFix/>
          </a:blip>
          <a:srcRect b="28627" l="9196" r="7352" t="28627"/>
          <a:stretch/>
        </p:blipFill>
        <p:spPr>
          <a:xfrm>
            <a:off x="370900" y="1298550"/>
            <a:ext cx="2062103" cy="300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1"/>
          <p:cNvSpPr txBox="1"/>
          <p:nvPr/>
        </p:nvSpPr>
        <p:spPr>
          <a:xfrm>
            <a:off x="370900" y="1828800"/>
            <a:ext cx="58521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Register with IBM</a:t>
            </a:r>
            <a:endParaRPr sz="7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3400" b="1">
                <a:solidFill>
                  <a:srgbClr val="CAE6FF"/>
                </a:solidFill>
                <a:latin typeface="Google Sans"/>
              </a:rPr>
              <a:t>ibm.biz/a2tech360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2000" b="0">
                <a:solidFill>
                  <a:srgbClr val="CAE6FF"/>
                </a:solidFill>
                <a:latin typeface="Google Sans"/>
              </a:rPr>
              <a:t>IBM Cloud, Bob, watsonx, education, and teams</a:t>
            </a:r>
          </a:p>
        </p:txBody>
      </p:sp>
      <p:sp>
        <p:nvSpPr>
          <p:cNvPr id="103" name="Google Shape;103;p31"/>
          <p:cNvSpPr/>
          <p:nvPr/>
        </p:nvSpPr>
        <p:spPr>
          <a:xfrm>
            <a:off x="271875" y="113175"/>
            <a:ext cx="8596500" cy="239100"/>
          </a:xfrm>
          <a:prstGeom prst="rect">
            <a:avLst/>
          </a:prstGeom>
          <a:solidFill>
            <a:srgbClr val="2480F0"/>
          </a:solidFill>
          <a:ln cap="flat" cmpd="sng" w="9525">
            <a:solidFill>
              <a:srgbClr val="248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1"/>
          <p:cNvSpPr/>
          <p:nvPr/>
        </p:nvSpPr>
        <p:spPr>
          <a:xfrm>
            <a:off x="319725" y="1229600"/>
            <a:ext cx="2153100" cy="414600"/>
          </a:xfrm>
          <a:prstGeom prst="rect">
            <a:avLst/>
          </a:prstGeom>
          <a:solidFill>
            <a:srgbClr val="2480F0"/>
          </a:solidFill>
          <a:ln cap="flat" cmpd="sng" w="9525">
            <a:solidFill>
              <a:srgbClr val="248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31" title="compass_location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500" y="1063903"/>
            <a:ext cx="2244143" cy="5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Picture 105" descr="edca1653-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600200"/>
            <a:ext cx="2103120" cy="210312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6263640" y="37764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</a:rPr>
              <a:t>ibm.biz/a2tech360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2"/>
          <p:cNvPicPr preferRelativeResize="0"/>
          <p:nvPr/>
        </p:nvPicPr>
        <p:blipFill rotWithShape="1">
          <a:blip r:embed="rId3">
            <a:alphaModFix/>
          </a:blip>
          <a:srcRect b="28627" l="9196" r="7352" t="28627"/>
          <a:stretch/>
        </p:blipFill>
        <p:spPr>
          <a:xfrm>
            <a:off x="370900" y="1298550"/>
            <a:ext cx="2062103" cy="300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2"/>
          <p:cNvSpPr txBox="1"/>
          <p:nvPr/>
        </p:nvSpPr>
        <p:spPr>
          <a:xfrm>
            <a:off x="370900" y="1828800"/>
            <a:ext cx="46634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Google Cloud credits</a:t>
            </a:r>
            <a:endParaRPr sz="7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2000" b="0">
                <a:solidFill>
                  <a:srgbClr val="CAE6FF"/>
                </a:solidFill>
                <a:latin typeface="Google Sans"/>
              </a:rPr>
              <a:t>$25 each. Claim today: they expire after the event.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2000" b="1">
                <a:solidFill>
                  <a:srgbClr val="FFFFFF"/>
                </a:solidFill>
                <a:latin typeface="Google Sans"/>
              </a:rPr>
              <a:t>Use a personal @gmail.com</a:t>
            </a:r>
          </a:p>
        </p:txBody>
      </p:sp>
      <p:sp>
        <p:nvSpPr>
          <p:cNvPr id="112" name="Google Shape;112;p32"/>
          <p:cNvSpPr/>
          <p:nvPr/>
        </p:nvSpPr>
        <p:spPr>
          <a:xfrm>
            <a:off x="271875" y="113175"/>
            <a:ext cx="8596500" cy="239100"/>
          </a:xfrm>
          <a:prstGeom prst="rect">
            <a:avLst/>
          </a:prstGeom>
          <a:solidFill>
            <a:srgbClr val="2480F0"/>
          </a:solidFill>
          <a:ln cap="flat" cmpd="sng" w="9525">
            <a:solidFill>
              <a:srgbClr val="248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2"/>
          <p:cNvSpPr/>
          <p:nvPr/>
        </p:nvSpPr>
        <p:spPr>
          <a:xfrm>
            <a:off x="319725" y="1229600"/>
            <a:ext cx="2153100" cy="414600"/>
          </a:xfrm>
          <a:prstGeom prst="rect">
            <a:avLst/>
          </a:prstGeom>
          <a:solidFill>
            <a:srgbClr val="2480F0"/>
          </a:solidFill>
          <a:ln cap="flat" cmpd="sng" w="9525">
            <a:solidFill>
              <a:srgbClr val="248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32" title="compass_location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500" y="1063903"/>
            <a:ext cx="2244143" cy="5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Picture 114" descr="google-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600200"/>
            <a:ext cx="1508760" cy="1508760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4983480" y="3182112"/>
            <a:ext cx="205740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oogle Sans"/>
              </a:rPr>
              <a:t>1. Join the group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Google Sans"/>
              </a:rPr>
              <a:t>groups.google.com/g/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Google Sans"/>
              </a:rPr>
              <a:t>a2tech360-hackathon</a:t>
            </a:r>
          </a:p>
        </p:txBody>
      </p:sp>
      <p:pic>
        <p:nvPicPr>
          <p:cNvPr id="117" name="Picture 116" descr="google-credi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1600200"/>
            <a:ext cx="1508760" cy="1508760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7086600" y="3182112"/>
            <a:ext cx="205740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oogle Sans"/>
              </a:rPr>
              <a:t>2. Claim credits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Google Sans"/>
              </a:rPr>
              <a:t>g.dev/credits/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Google Sans"/>
              </a:rPr>
              <a:t>a2tech360-hackathon-2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33"/>
          <p:cNvPicPr preferRelativeResize="0"/>
          <p:nvPr/>
        </p:nvPicPr>
        <p:blipFill rotWithShape="1">
          <a:blip r:embed="rId3">
            <a:alphaModFix/>
          </a:blip>
          <a:srcRect b="28627" l="9196" r="7352" t="28627"/>
          <a:stretch/>
        </p:blipFill>
        <p:spPr>
          <a:xfrm>
            <a:off x="370900" y="1298550"/>
            <a:ext cx="2062103" cy="300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3"/>
          <p:cNvSpPr txBox="1"/>
          <p:nvPr/>
        </p:nvSpPr>
        <p:spPr>
          <a:xfrm>
            <a:off x="370900" y="1828800"/>
            <a:ext cx="56692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Starter kit</a:t>
            </a:r>
            <a:br/>
            <a:r>
              <a:rPr sz="3800" b="1">
                <a:solidFill>
                  <a:srgbClr val="FFFFFF"/>
                </a:solidFill>
                <a:latin typeface="Google Sans"/>
              </a:rPr>
              <a:t>+ Baz</a:t>
            </a:r>
            <a:endParaRPr sz="2000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700" b="1">
                <a:solidFill>
                  <a:srgbClr val="CAE6FF"/>
                </a:solidFill>
                <a:latin typeface="Google Sans"/>
              </a:rPr>
              <a:t>github.com/A2Tech360/a2tech360-hackathon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800" b="0">
                <a:solidFill>
                  <a:srgbClr val="CAE6FF"/>
                </a:solidFill>
                <a:latin typeface="Google Sans"/>
              </a:rPr>
              <a:t>Schedule, setup guides, Jac resources, and checklist. Baz AI code review on every pull request in the A2Tech360 org.</a:t>
            </a:r>
          </a:p>
        </p:txBody>
      </p:sp>
      <p:sp>
        <p:nvSpPr>
          <p:cNvPr id="121" name="Google Shape;121;p33"/>
          <p:cNvSpPr/>
          <p:nvPr/>
        </p:nvSpPr>
        <p:spPr>
          <a:xfrm>
            <a:off x="271875" y="113175"/>
            <a:ext cx="8596500" cy="239100"/>
          </a:xfrm>
          <a:prstGeom prst="rect">
            <a:avLst/>
          </a:prstGeom>
          <a:solidFill>
            <a:srgbClr val="2480F0"/>
          </a:solidFill>
          <a:ln cap="flat" cmpd="sng" w="9525">
            <a:solidFill>
              <a:srgbClr val="248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3"/>
          <p:cNvSpPr/>
          <p:nvPr/>
        </p:nvSpPr>
        <p:spPr>
          <a:xfrm>
            <a:off x="319725" y="1229600"/>
            <a:ext cx="2153100" cy="414600"/>
          </a:xfrm>
          <a:prstGeom prst="rect">
            <a:avLst/>
          </a:prstGeom>
          <a:solidFill>
            <a:srgbClr val="2480F0"/>
          </a:solidFill>
          <a:ln cap="flat" cmpd="sng" w="9525">
            <a:solidFill>
              <a:srgbClr val="248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33" title="compass_location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500" y="1063903"/>
            <a:ext cx="2244143" cy="5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Picture 123" descr="re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600200"/>
            <a:ext cx="2103120" cy="2103120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6263640" y="3776472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Google Sans"/>
              </a:rPr>
              <a:t>github.com/A2Tech360/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Google Sans"/>
              </a:rPr>
              <a:t>a2tech360-hackathon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34"/>
          <p:cNvPicPr preferRelativeResize="0"/>
          <p:nvPr/>
        </p:nvPicPr>
        <p:blipFill rotWithShape="1">
          <a:blip r:embed="rId3">
            <a:alphaModFix/>
          </a:blip>
          <a:srcRect b="28627" l="9196" r="7352" t="28627"/>
          <a:stretch/>
        </p:blipFill>
        <p:spPr>
          <a:xfrm>
            <a:off x="370900" y="1298550"/>
            <a:ext cx="2062103" cy="300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4"/>
          <p:cNvSpPr txBox="1"/>
          <p:nvPr/>
        </p:nvSpPr>
        <p:spPr>
          <a:xfrm>
            <a:off x="370900" y="1691640"/>
            <a:ext cx="5943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Michigan DevFest</a:t>
            </a:r>
            <a:br/>
            <a:r>
              <a:rPr sz="3600" b="1">
                <a:solidFill>
                  <a:srgbClr val="FFFFFF"/>
                </a:solidFill>
                <a:latin typeface="Google Sans"/>
              </a:rPr>
              <a:t>+ AI Hackathon</a:t>
            </a:r>
            <a:endParaRPr sz="800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000" b="0">
                <a:solidFill>
                  <a:srgbClr val="CAE6FF"/>
                </a:solidFill>
                <a:latin typeface="Google Sans"/>
              </a:rPr>
              <a:t>Nov 13–14  ·  Little Caesars HQ, Detroit</a:t>
            </a:r>
          </a:p>
        </p:txBody>
      </p:sp>
      <p:sp>
        <p:nvSpPr>
          <p:cNvPr id="130" name="Google Shape;130;p34"/>
          <p:cNvSpPr/>
          <p:nvPr/>
        </p:nvSpPr>
        <p:spPr>
          <a:xfrm>
            <a:off x="271875" y="113175"/>
            <a:ext cx="8596500" cy="239100"/>
          </a:xfrm>
          <a:prstGeom prst="rect">
            <a:avLst/>
          </a:prstGeom>
          <a:solidFill>
            <a:srgbClr val="2480F0"/>
          </a:solidFill>
          <a:ln cap="flat" cmpd="sng" w="9525">
            <a:solidFill>
              <a:srgbClr val="248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4"/>
          <p:cNvSpPr/>
          <p:nvPr/>
        </p:nvSpPr>
        <p:spPr>
          <a:xfrm>
            <a:off x="319725" y="1229600"/>
            <a:ext cx="2153100" cy="414600"/>
          </a:xfrm>
          <a:prstGeom prst="rect">
            <a:avLst/>
          </a:prstGeom>
          <a:solidFill>
            <a:srgbClr val="2480F0"/>
          </a:solidFill>
          <a:ln cap="flat" cmpd="sng" w="9525">
            <a:solidFill>
              <a:srgbClr val="248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34" title="compass_location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500" y="1063903"/>
            <a:ext cx="2244143" cy="5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Rounded Rectangle 132"/>
          <p:cNvSpPr/>
          <p:nvPr/>
        </p:nvSpPr>
        <p:spPr>
          <a:xfrm>
            <a:off x="411480" y="3611880"/>
            <a:ext cx="475488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0" bIns="0"/>
          <a:lstStyle/>
          <a:p>
            <a:pPr algn="l"/>
            <a:r>
              <a:rPr sz="2200" b="1">
                <a:solidFill>
                  <a:srgbClr val="2480F0"/>
                </a:solidFill>
                <a:latin typeface="Google Sans"/>
              </a:rPr>
              <a:t>Code A2Tech360</a:t>
            </a:r>
          </a:p>
          <a:p>
            <a:pPr algn="l"/>
            <a:r>
              <a:rPr sz="1400" b="0">
                <a:solidFill>
                  <a:srgbClr val="202124"/>
                </a:solidFill>
                <a:latin typeface="Google Sans"/>
              </a:rPr>
              <a:t>Super early bird pricing  ·  ends Sunday night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1480" y="450799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Google Sans"/>
              </a:rPr>
              <a:t>midevfest.com  ·  Student tickets available</a:t>
            </a:r>
          </a:p>
        </p:txBody>
      </p:sp>
      <p:pic>
        <p:nvPicPr>
          <p:cNvPr id="135" name="Picture 134" descr="midevf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737360"/>
            <a:ext cx="2103120" cy="2103120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6263640" y="391363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</a:rPr>
              <a:t>bit.ly/midevfest26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TM - IWD 2025">
  <a:themeElements>
    <a:clrScheme name="Simple Light">
      <a:dk1>
        <a:srgbClr val="202124"/>
      </a:dk1>
      <a:lt1>
        <a:srgbClr val="FFFFFF"/>
      </a:lt1>
      <a:dk2>
        <a:srgbClr val="2480F0"/>
      </a:dk2>
      <a:lt2>
        <a:srgbClr val="00947B"/>
      </a:lt2>
      <a:accent1>
        <a:srgbClr val="CAE6FF"/>
      </a:accent1>
      <a:accent2>
        <a:srgbClr val="D1ECE3"/>
      </a:accent2>
      <a:accent3>
        <a:srgbClr val="165185"/>
      </a:accent3>
      <a:accent4>
        <a:srgbClr val="0F7C67"/>
      </a:accent4>
      <a:accent5>
        <a:srgbClr val="20344B"/>
      </a:accent5>
      <a:accent6>
        <a:srgbClr val="1A3E38"/>
      </a:accent6>
      <a:hlink>
        <a:srgbClr val="4285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